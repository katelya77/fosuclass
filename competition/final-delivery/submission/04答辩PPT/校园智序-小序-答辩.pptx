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410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F5A4C"/>
          </a:solidFill>
          <a:ln w="12700">
            <a:solidFill>
              <a:srgbClr val="EF5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65471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8B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校园智序·小序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">
            <a:off x="-320040" y="457200"/>
            <a:ext cx="4572000" cy="3474720"/>
          </a:xfrm>
          <a:prstGeom prst="arc">
            <a:avLst/>
          </a:prstGeom>
          <a:solidFill>
            <a:srgbClr val="F8DDD7">
              <a:alpha val="7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412480" y="-182880"/>
            <a:ext cx="4297680" cy="3566160"/>
          </a:xfrm>
          <a:prstGeom prst="arc">
            <a:avLst/>
          </a:prstGeom>
          <a:solidFill>
            <a:srgbClr val="EEE7F5">
              <a:alpha val="73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pic>
        <p:nvPicPr>
          <p:cNvPr id="4" name="Image 0" descr="competition-project\competition\demo-portal\public\branding\platfor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713232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87452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校园智序·小序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94944" y="2697480"/>
            <a:ext cx="7498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让复杂的校园教学安排，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简单到一句话就能问。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3232" y="38862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真实问题 → Multi-Agent 分工 → CampusTools 核验 → 可核查 Widget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685800" y="4709160"/>
            <a:ext cx="2834640" cy="1097280"/>
          </a:xfrm>
          <a:prstGeom prst="roundRect">
            <a:avLst>
              <a:gd name="adj" fmla="val 183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48554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8680" y="5358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前期真实落地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77640" y="4709160"/>
            <a:ext cx="2834640" cy="1097280"/>
          </a:xfrm>
          <a:prstGeom prst="roundRect">
            <a:avLst>
              <a:gd name="adj" fmla="val 183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60520" y="48554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4×13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160520" y="5358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× CampusTools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269480" y="4709160"/>
            <a:ext cx="2834640" cy="1097280"/>
          </a:xfrm>
          <a:prstGeom prst="roundRect">
            <a:avLst>
              <a:gd name="adj" fmla="val 18333"/>
            </a:avLst>
          </a:prstGeom>
          <a:solidFill>
            <a:srgbClr val="F2EEE9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52360" y="48554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37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452360" y="5358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关键结果可核验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040112" y="56692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CUT · 比赛答辩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一个真实问题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课表没有冲突，不代表教学安排没有风险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同一位教师 · 未来四周 · 冲突为 0，但每周有 4 次跨校区赶场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21608" y="1645920"/>
            <a:ext cx="7964424" cy="4462272"/>
          </a:xfrm>
          <a:prstGeom prst="roundRect">
            <a:avLst>
              <a:gd name="adj" fmla="val 4508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7" name="Image 0" descr="competition-project\competition\final-delivery\qa\final-cut\4173-risk-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719072"/>
            <a:ext cx="7818120" cy="43159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993392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37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1700784" y="2048256"/>
            <a:ext cx="777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2468880" y="1993392"/>
            <a:ext cx="960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B76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713232" y="3200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课程冲突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057400" y="3200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跨校区赶场 / 周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" y="4069080"/>
            <a:ext cx="2834640" cy="1143000"/>
          </a:xfrm>
          <a:prstGeom prst="roundRect">
            <a:avLst>
              <a:gd name="adj" fmla="val 15200"/>
            </a:avLst>
          </a:prstGeom>
          <a:solidFill>
            <a:srgbClr val="FBE9DA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22452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一条真实转场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1248" y="4517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10:00 → 10:20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41248" y="49011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B765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校区 A → 校区 B · 仅 20 min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真实落地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前期产品形态已累计服务用户 1000+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真实校园使用反馈，推动作品从“查询工具”演进为可理解、可核验的教学任务智能体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C834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1000+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49808" y="29077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真实用户验证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3566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匿名呈现，不展示学校、学院、姓名、学号、邮箱或真实域名。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087368" y="1709928"/>
            <a:ext cx="7598664" cy="4407408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10" name="Image 0" descr="competition-project\competition\final-delivery\qa\final-cut\4174-native-adp-widget-1440x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783080"/>
            <a:ext cx="7452360" cy="42611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07408" y="5532120"/>
            <a:ext cx="1325880" cy="329184"/>
          </a:xfrm>
          <a:prstGeom prst="roundRect">
            <a:avLst>
              <a:gd name="adj" fmla="val 47222"/>
            </a:avLst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17136" y="5550408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真实运行界面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52160" y="5532120"/>
            <a:ext cx="950976" cy="329184"/>
          </a:xfrm>
          <a:prstGeom prst="roundRect">
            <a:avLst>
              <a:gd name="adj" fmla="val 47222"/>
            </a:avLst>
          </a:prstGeom>
          <a:solidFill>
            <a:srgbClr val="237E68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61888" y="5550408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已匿名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一句话如何变成可核查结果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一条真实对话，完成两次领域协作与确定性核验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用户问“未来四周谁最忙，并检查他的赶场风险？”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955280" y="1664208"/>
            <a:ext cx="3730752" cy="4535424"/>
          </a:xfrm>
          <a:prstGeom prst="roundRect">
            <a:avLst>
              <a:gd name="adj" fmla="val 5392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7" name="Image 0" descr="competition-project\competition\final-delivery\qa\final-cut\4174-native-adp-widget-1440x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1737360"/>
            <a:ext cx="3584448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1078992" cy="987552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" y="20848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</a:t>
            </a:r>
            <a:endParaRPr lang="en-US" sz="1230" dirty="0"/>
          </a:p>
        </p:txBody>
      </p:sp>
      <p:sp>
        <p:nvSpPr>
          <p:cNvPr id="10" name="Text 7"/>
          <p:cNvSpPr/>
          <p:nvPr/>
        </p:nvSpPr>
        <p:spPr>
          <a:xfrm>
            <a:off x="667512" y="245059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1874520" y="1874520"/>
            <a:ext cx="1143000" cy="987552"/>
          </a:xfrm>
          <a:prstGeom prst="roundRect">
            <a:avLst>
              <a:gd name="adj" fmla="val 18519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947672" y="2084832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小序·Main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1947672" y="245059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FFED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理解与协调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3246120" y="1261872"/>
            <a:ext cx="1024128" cy="987552"/>
          </a:xfrm>
          <a:prstGeom prst="roundRect">
            <a:avLst>
              <a:gd name="adj" fmla="val 18519"/>
            </a:avLst>
          </a:prstGeom>
          <a:solidFill>
            <a:srgbClr val="E9DFF4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19272" y="147218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B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</a:t>
            </a:r>
            <a:endParaRPr lang="en-US" sz="1230" dirty="0"/>
          </a:p>
        </p:txBody>
      </p:sp>
      <p:sp>
        <p:nvSpPr>
          <p:cNvPr id="16" name="Text 13"/>
          <p:cNvSpPr/>
          <p:nvPr/>
        </p:nvSpPr>
        <p:spPr>
          <a:xfrm>
            <a:off x="3319272" y="18379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负载排名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4480560" y="1874520"/>
            <a:ext cx="1024128" cy="987552"/>
          </a:xfrm>
          <a:prstGeom prst="roundRect">
            <a:avLst>
              <a:gd name="adj" fmla="val 18519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53712" y="2084832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</a:t>
            </a:r>
            <a:endParaRPr lang="en-US" sz="1230" dirty="0"/>
          </a:p>
        </p:txBody>
      </p:sp>
      <p:sp>
        <p:nvSpPr>
          <p:cNvPr id="19" name="Text 16"/>
          <p:cNvSpPr/>
          <p:nvPr/>
        </p:nvSpPr>
        <p:spPr>
          <a:xfrm>
            <a:off x="4553712" y="24505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FFEDE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继续分工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5715000" y="2487168"/>
            <a:ext cx="1024128" cy="987552"/>
          </a:xfrm>
          <a:prstGeom prst="roundRect">
            <a:avLst>
              <a:gd name="adj" fmla="val 18519"/>
            </a:avLst>
          </a:prstGeom>
          <a:solidFill>
            <a:srgbClr val="FBE9DA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788152" y="269748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B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230" dirty="0"/>
          </a:p>
        </p:txBody>
      </p:sp>
      <p:sp>
        <p:nvSpPr>
          <p:cNvPr id="22" name="Text 19"/>
          <p:cNvSpPr/>
          <p:nvPr/>
        </p:nvSpPr>
        <p:spPr>
          <a:xfrm>
            <a:off x="5788152" y="3063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赶场核验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6931152" y="1874520"/>
            <a:ext cx="932688" cy="987552"/>
          </a:xfrm>
          <a:prstGeom prst="roundRect">
            <a:avLst>
              <a:gd name="adj" fmla="val 19608"/>
            </a:avLst>
          </a:prstGeom>
          <a:solidFill>
            <a:srgbClr val="E5F0EC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004304" y="208483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B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</a:t>
            </a:r>
            <a:endParaRPr lang="en-US" sz="1230" dirty="0"/>
          </a:p>
        </p:txBody>
      </p:sp>
      <p:sp>
        <p:nvSpPr>
          <p:cNvPr id="25" name="Text 22"/>
          <p:cNvSpPr/>
          <p:nvPr/>
        </p:nvSpPr>
        <p:spPr>
          <a:xfrm>
            <a:off x="7004304" y="245059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确定性事实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1636776" y="2368296"/>
            <a:ext cx="352044" cy="0"/>
          </a:xfrm>
          <a:prstGeom prst="line">
            <a:avLst/>
          </a:prstGeom>
          <a:noFill/>
          <a:ln w="22860">
            <a:solidFill>
              <a:srgbClr val="EF5A4C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948940" y="2368296"/>
            <a:ext cx="352044" cy="0"/>
          </a:xfrm>
          <a:prstGeom prst="line">
            <a:avLst/>
          </a:prstGeom>
          <a:noFill/>
          <a:ln w="22860">
            <a:solidFill>
              <a:srgbClr val="EF5A4C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261104" y="1755648"/>
            <a:ext cx="274320" cy="612648"/>
          </a:xfrm>
          <a:prstGeom prst="line">
            <a:avLst/>
          </a:prstGeom>
          <a:noFill/>
          <a:ln w="22860">
            <a:solidFill>
              <a:srgbClr val="EF5A4C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495544" y="2368296"/>
            <a:ext cx="274320" cy="612648"/>
          </a:xfrm>
          <a:prstGeom prst="line">
            <a:avLst/>
          </a:prstGeom>
          <a:noFill/>
          <a:ln w="22860">
            <a:solidFill>
              <a:srgbClr val="EF5A4C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729984" y="2980944"/>
            <a:ext cx="228600" cy="0"/>
          </a:xfrm>
          <a:prstGeom prst="line">
            <a:avLst/>
          </a:prstGeom>
          <a:noFill/>
          <a:ln w="22860">
            <a:solidFill>
              <a:srgbClr val="EF5A4C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845552" y="2359152"/>
            <a:ext cx="201168" cy="0"/>
          </a:xfrm>
          <a:prstGeom prst="line">
            <a:avLst/>
          </a:prstGeom>
          <a:noFill/>
          <a:ln w="27940">
            <a:solidFill>
              <a:srgbClr val="237E6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110728" y="5449824"/>
            <a:ext cx="841248" cy="329184"/>
          </a:xfrm>
          <a:prstGeom prst="roundRect">
            <a:avLst>
              <a:gd name="adj" fmla="val 47222"/>
            </a:avLst>
          </a:prstGeom>
          <a:solidFill>
            <a:srgbClr val="237E68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20456" y="5468112"/>
            <a:ext cx="621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Widget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783080" y="40050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34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→ Child → Main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178308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生成模型负责理解任务；CampusTools 负责动态校园事实。</a:t>
            </a:r>
            <a:endParaRPr lang="en-US" sz="1320" dirty="0"/>
          </a:p>
        </p:txBody>
      </p:sp>
      <p:sp>
        <p:nvSpPr>
          <p:cNvPr id="36" name="Shape 33"/>
          <p:cNvSpPr/>
          <p:nvPr/>
        </p:nvSpPr>
        <p:spPr>
          <a:xfrm>
            <a:off x="1783080" y="5120640"/>
            <a:ext cx="960120" cy="329184"/>
          </a:xfrm>
          <a:prstGeom prst="roundRect">
            <a:avLst>
              <a:gd name="adj" fmla="val 47222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92808" y="5138928"/>
            <a:ext cx="740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SSE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880360" y="5120640"/>
            <a:ext cx="1691640" cy="329184"/>
          </a:xfrm>
          <a:prstGeom prst="roundRect">
            <a:avLst>
              <a:gd name="adj" fmla="val 47222"/>
            </a:avLst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990088" y="5138928"/>
            <a:ext cx="1472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个真实 AgentName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709160" y="5120640"/>
            <a:ext cx="1600200" cy="329184"/>
          </a:xfrm>
          <a:prstGeom prst="roundRect">
            <a:avLst>
              <a:gd name="adj" fmla="val 47222"/>
            </a:avLst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18888" y="5138928"/>
            <a:ext cx="1380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次真实工具调用</a:t>
            </a:r>
            <a:endParaRPr lang="en-US" sz="9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Agent × 13 CampusTools：主协调只编排，不直接调用动态事实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bindings 保证领域 Agent 可以调用所需工具；协作路径始终回到 Main 统一投影结果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2148840" cy="2148840"/>
          </a:xfrm>
          <a:prstGeom prst="roundRect">
            <a:avLst>
              <a:gd name="adj" fmla="val 12766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7" name="Image 0" descr="competition-project\competition\demo-portal\public\branding\coordinator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542032"/>
            <a:ext cx="987552" cy="9875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5844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小序·主协调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96849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FFE9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· 分工 · 汇总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3749040" y="1664208"/>
            <a:ext cx="2011680" cy="1444752"/>
          </a:xfrm>
          <a:prstGeom prst="roundRect">
            <a:avLst>
              <a:gd name="adj" fmla="val 1455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11" name="Image 1" descr="competition-project\competition\demo-portal\public\branding\course-space-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1892808"/>
            <a:ext cx="841248" cy="8412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1993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90872" y="23591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课表 / 教室 / 调课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2816352" y="3401568"/>
            <a:ext cx="932688" cy="0"/>
          </a:xfrm>
          <a:prstGeom prst="line">
            <a:avLst/>
          </a:prstGeom>
          <a:noFill/>
          <a:ln w="21590">
            <a:solidFill>
              <a:srgbClr val="EF5A4C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749040" y="4407408"/>
            <a:ext cx="2011680" cy="1444752"/>
          </a:xfrm>
          <a:prstGeom prst="roundRect">
            <a:avLst>
              <a:gd name="adj" fmla="val 1455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16" name="Image 2" descr="competition-project\competition\demo-portal\public\branding\risk-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056" y="4636008"/>
            <a:ext cx="841248" cy="8412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90872" y="4736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690872" y="51023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 / 赶场 / 约束</a:t>
            </a: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2816352" y="3401568"/>
            <a:ext cx="932688" cy="1728216"/>
          </a:xfrm>
          <a:prstGeom prst="line">
            <a:avLst/>
          </a:prstGeom>
          <a:noFill/>
          <a:ln w="21590">
            <a:solidFill>
              <a:srgbClr val="EF5A4C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629400" y="4407408"/>
            <a:ext cx="2011680" cy="1444752"/>
          </a:xfrm>
          <a:prstGeom prst="roundRect">
            <a:avLst>
              <a:gd name="adj" fmla="val 1455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21" name="Image 3" descr="competition-project\competition\demo-portal\public\branding\campus-insight-ag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4636008"/>
            <a:ext cx="841248" cy="8412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1232" y="47365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71232" y="51023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负载 / 排名 / 下钻</a:t>
            </a:r>
            <a:endParaRPr lang="en-US" sz="880" dirty="0"/>
          </a:p>
        </p:txBody>
      </p:sp>
      <p:sp>
        <p:nvSpPr>
          <p:cNvPr id="24" name="Shape 18"/>
          <p:cNvSpPr/>
          <p:nvPr/>
        </p:nvSpPr>
        <p:spPr>
          <a:xfrm>
            <a:off x="2816352" y="3401568"/>
            <a:ext cx="3813048" cy="1728216"/>
          </a:xfrm>
          <a:prstGeom prst="line">
            <a:avLst/>
          </a:prstGeom>
          <a:noFill/>
          <a:ln w="21590">
            <a:solidFill>
              <a:srgbClr val="EF5A4C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326880" y="2359152"/>
            <a:ext cx="2148840" cy="2468880"/>
          </a:xfrm>
          <a:prstGeom prst="roundRect">
            <a:avLst>
              <a:gd name="adj" fmla="val 11915"/>
            </a:avLst>
          </a:prstGeom>
          <a:solidFill>
            <a:srgbClr val="FFFFFF">
              <a:alpha val="99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26" name="Image 4" descr="competition-project\competition\demo-portal\public\branding\camptools-plug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0" y="2615184"/>
            <a:ext cx="1097280" cy="10972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55480" y="3703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34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CampusTools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555480" y="409651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动态事实 · 确定性计算</a:t>
            </a:r>
            <a:endParaRPr lang="en-US" sz="920" dirty="0"/>
          </a:p>
        </p:txBody>
      </p:sp>
      <p:sp>
        <p:nvSpPr>
          <p:cNvPr id="29" name="Shape 22"/>
          <p:cNvSpPr/>
          <p:nvPr/>
        </p:nvSpPr>
        <p:spPr>
          <a:xfrm>
            <a:off x="5760720" y="2386584"/>
            <a:ext cx="3566160" cy="1207008"/>
          </a:xfrm>
          <a:prstGeom prst="line">
            <a:avLst/>
          </a:prstGeom>
          <a:noFill/>
          <a:ln w="20320">
            <a:solidFill>
              <a:srgbClr val="237E68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5760720" y="5129784"/>
            <a:ext cx="3566160" cy="0"/>
          </a:xfrm>
          <a:prstGeom prst="line">
            <a:avLst/>
          </a:prstGeom>
          <a:noFill/>
          <a:ln w="20320">
            <a:solidFill>
              <a:srgbClr val="237E68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8641080" y="5129784"/>
            <a:ext cx="685800" cy="0"/>
          </a:xfrm>
          <a:prstGeom prst="line">
            <a:avLst/>
          </a:prstGeom>
          <a:noFill/>
          <a:ln w="20320">
            <a:solidFill>
              <a:srgbClr val="237E68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758952" y="4919472"/>
            <a:ext cx="1965960" cy="329184"/>
          </a:xfrm>
          <a:prstGeom prst="roundRect">
            <a:avLst>
              <a:gd name="adj" fmla="val 47222"/>
            </a:avLst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68680" y="4937760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不直连 Tools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9656064" y="5193792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6F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 bindings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 1 · 教学风险发现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没有冲突，不等于没有风险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教师025 · 第1–4周 · 系统核验课程冲突与跨校区赶场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664208"/>
            <a:ext cx="7845552" cy="4498848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7" name="Image 0" descr="competition-project\competition\final-delivery\qa\final-cut\4173-risk-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37360"/>
            <a:ext cx="7699248" cy="4352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68512" y="1847088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42248" y="2029968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51976" y="204825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问一句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573768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教师025未来四周有没有风险？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573768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自然语言任务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668512" y="2798064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842248" y="2980944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EF5A4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51976" y="299923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573768" y="28895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→ CampusTools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73768" y="3172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分工 + 工具核验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668512" y="3749040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842248" y="3931920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237E68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51976" y="395020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得到什么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573768" y="3840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冲突 / 4 赶场 / 20 min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573768" y="41239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 结果卡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 2 · 多人协同规划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三张课表，算出一个共同教学时空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教师005、006、014 · 第1周周四上午 · 同时满足 120 座教室约束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664208"/>
            <a:ext cx="7845552" cy="4498848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7" name="Image 0" descr="competition-project\competition\final-delivery\qa\final-cut\4173-collaboration-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37360"/>
            <a:ext cx="7699248" cy="4352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68512" y="1847088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42248" y="2029968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51976" y="204825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问一句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573768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三位老师什么时候都有空？有没有120座教室？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573768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自然语言任务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668512" y="2798064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842248" y="2980944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EF5A4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51976" y="299923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573768" y="28895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 → 共同空闲 → 容量过滤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73768" y="3172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分工 + 工具核验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668512" y="3749040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842248" y="3931920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51976" y="395020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得到什么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573768" y="3840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63 → 7 → A1-201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573768" y="41239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 结果卡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 3 · What-if 模拟调课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可行，不等于没有提醒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周一5–6节 → 周四7–8节 · 逐项核验约束，模拟不写入真实课表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664208"/>
            <a:ext cx="7845552" cy="4498848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7" name="Image 0" descr="competition-project\competition\final-delivery\qa\final-cut\4173-reschedule-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37360"/>
            <a:ext cx="7699248" cy="4352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68512" y="1847088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42248" y="2029968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51976" y="204825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问一句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573768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移动到周四7–8节，可行吗？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573768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自然语言任务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668512" y="2798064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842248" y="2980944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EF5A4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51976" y="299923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573768" y="28895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PASS + 1 WARNING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73768" y="3172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分工 + 工具核验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668512" y="3749040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842248" y="3931920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B7652D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51976" y="395020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得到什么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573768" y="3840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feasible=true · mutatedData=false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573768" y="41239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 结果卡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 4 · 全局教学洞察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排名负责发现，核验负责判断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先定位未来四周负载 Top1，再下钻同一对象的跨校区赶场风险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664208"/>
            <a:ext cx="7845552" cy="4498848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7" name="Image 0" descr="competition-project\competition\final-delivery\qa\final-cut\4173-insight-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37360"/>
            <a:ext cx="7699248" cy="43525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68512" y="1847088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42248" y="2029968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51976" y="2048256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问一句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573768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未来四周谁最忙？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573768" y="22219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自然语言任务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8668512" y="2798064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842248" y="2980944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EF5A4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51976" y="2999232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573768" y="28895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→ Main → Risk → Tools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573768" y="31729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分工 + 工具核验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8668512" y="3749040"/>
            <a:ext cx="2971800" cy="749808"/>
          </a:xfrm>
          <a:prstGeom prst="roundRect">
            <a:avLst>
              <a:gd name="adj" fmla="val 219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842248" y="3931920"/>
            <a:ext cx="566928" cy="329184"/>
          </a:xfrm>
          <a:prstGeom prst="roundRect">
            <a:avLst>
              <a:gd name="adj" fmla="val 47222"/>
            </a:avLst>
          </a:prstGeom>
          <a:solidFill>
            <a:srgbClr val="237E68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51976" y="3950208"/>
            <a:ext cx="347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得到什么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573768" y="3840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Top1 教师025 · 56 / 112 · 0 / 4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573768" y="41239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 结果卡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为什么结果可信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这不是示意图：官方 Widget SDK 正在渲染真实 ADP 返回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SSE 对话 · 真实 AgentName · 真实 CampusTools 调用 · 真实 Widget.View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1645920"/>
            <a:ext cx="9015984" cy="4590288"/>
          </a:xfrm>
          <a:prstGeom prst="roundRect">
            <a:avLst>
              <a:gd name="adj" fmla="val 4382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pic>
        <p:nvPicPr>
          <p:cNvPr id="7" name="Image 0" descr="competition-project\competition\final-delivery\qa\final-cut\4174-native-adp-widget-1440x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19072"/>
            <a:ext cx="8869680" cy="44439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738360" y="1828800"/>
            <a:ext cx="187452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939528" y="1947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7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939528" y="2212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关键结论已核验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9454896" y="2185416"/>
            <a:ext cx="274320" cy="0"/>
          </a:xfrm>
          <a:prstGeom prst="line">
            <a:avLst/>
          </a:prstGeom>
          <a:noFill/>
          <a:ln w="19050">
            <a:solidFill>
              <a:srgbClr val="237E68"/>
            </a:solidFill>
            <a:prstDash val="solid"/>
            <a:headEnd type="oval"/>
          </a:ln>
        </p:spPr>
      </p:sp>
      <p:sp>
        <p:nvSpPr>
          <p:cNvPr id="12" name="Shape 9"/>
          <p:cNvSpPr/>
          <p:nvPr/>
        </p:nvSpPr>
        <p:spPr>
          <a:xfrm>
            <a:off x="9738360" y="2743200"/>
            <a:ext cx="187452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939528" y="2862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834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dataVersion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39528" y="3127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competition-demo-v3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9454896" y="3099816"/>
            <a:ext cx="274320" cy="0"/>
          </a:xfrm>
          <a:prstGeom prst="line">
            <a:avLst/>
          </a:prstGeom>
          <a:noFill/>
          <a:ln w="19050">
            <a:solidFill>
              <a:srgbClr val="C8342D"/>
            </a:solidFill>
            <a:prstDash val="solid"/>
            <a:headEnd type="oval"/>
          </a:ln>
        </p:spPr>
      </p:sp>
      <p:sp>
        <p:nvSpPr>
          <p:cNvPr id="16" name="Shape 13"/>
          <p:cNvSpPr/>
          <p:nvPr/>
        </p:nvSpPr>
        <p:spPr>
          <a:xfrm>
            <a:off x="9738360" y="3657600"/>
            <a:ext cx="187452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939528" y="3776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F5A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CampusTools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939528" y="4041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确定性事实层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9454896" y="4014216"/>
            <a:ext cx="274320" cy="0"/>
          </a:xfrm>
          <a:prstGeom prst="line">
            <a:avLst/>
          </a:prstGeom>
          <a:noFill/>
          <a:ln w="19050">
            <a:solidFill>
              <a:srgbClr val="EF5A4C"/>
            </a:solidFill>
            <a:prstDash val="solid"/>
            <a:headEnd type="oval"/>
          </a:ln>
        </p:spPr>
      </p:sp>
      <p:sp>
        <p:nvSpPr>
          <p:cNvPr id="20" name="Shape 17"/>
          <p:cNvSpPr/>
          <p:nvPr/>
        </p:nvSpPr>
        <p:spPr>
          <a:xfrm>
            <a:off x="9738360" y="4572000"/>
            <a:ext cx="187452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939528" y="4690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76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939528" y="4956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调用与结果可复核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9454896" y="4928616"/>
            <a:ext cx="274320" cy="0"/>
          </a:xfrm>
          <a:prstGeom prst="line">
            <a:avLst/>
          </a:prstGeom>
          <a:noFill/>
          <a:ln w="19050">
            <a:solidFill>
              <a:srgbClr val="B7652D"/>
            </a:solidFill>
            <a:prstDash val="solid"/>
            <a:headEnd type="oval"/>
          </a:ln>
        </p:spPr>
      </p:sp>
      <p:sp>
        <p:nvSpPr>
          <p:cNvPr id="24" name="Shape 21"/>
          <p:cNvSpPr/>
          <p:nvPr/>
        </p:nvSpPr>
        <p:spPr>
          <a:xfrm>
            <a:off x="9875520" y="5577840"/>
            <a:ext cx="1572768" cy="329184"/>
          </a:xfrm>
          <a:prstGeom prst="roundRect">
            <a:avLst>
              <a:gd name="adj" fmla="val 47222"/>
            </a:avLst>
          </a:prstGeom>
          <a:solidFill>
            <a:srgbClr val="237E68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85248" y="5596128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&lt;adp-widget&gt;</a:t>
            </a:r>
            <a:endParaRPr lang="en-US" sz="9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74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创新、落地、推广价值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12064" y="603504"/>
            <a:ext cx="10927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三条可验证证据，支撑一套可复制的校园任务操作系统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从真实落地、真实协作到真实核验，作品价值不依赖概念口号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228832" y="25603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F6F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2926080" cy="0"/>
          </a:xfrm>
          <a:prstGeom prst="line">
            <a:avLst/>
          </a:prstGeom>
          <a:noFill/>
          <a:ln w="57150">
            <a:solidFill>
              <a:srgbClr val="C8342D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31520" y="22128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3192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真落地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95935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前期产品形态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真实校园验证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0520" y="1856232"/>
            <a:ext cx="2926080" cy="0"/>
          </a:xfrm>
          <a:prstGeom prst="line">
            <a:avLst/>
          </a:prstGeom>
          <a:noFill/>
          <a:ln w="57150">
            <a:solidFill>
              <a:srgbClr val="EF5A4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4160520" y="22128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F5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4×13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160520" y="33192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真协作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60520" y="395935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Agent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CampusTools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1856232"/>
            <a:ext cx="2926080" cy="0"/>
          </a:xfrm>
          <a:prstGeom prst="line">
            <a:avLst/>
          </a:prstGeom>
          <a:noFill/>
          <a:ln w="57150">
            <a:solidFill>
              <a:srgbClr val="237E6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7589520" y="22128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37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589520" y="33192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真结果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589520" y="3959352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确定性计算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/ fail-closed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9784080" cy="512064"/>
          </a:xfrm>
          <a:prstGeom prst="roundRect">
            <a:avLst>
              <a:gd name="adj" fmla="val 35714"/>
            </a:avLst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431536"/>
            <a:ext cx="9372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真场景 25% · 创新实用 25% · 技术完整 20% · 数据算法 15% · 体验展示 15%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1097280" y="5961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可扩展：排课辅助 · 资源调度 · 教学运行治理 · 跨部门协同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">
            <a:off x="-228600" y="320040"/>
            <a:ext cx="5120640" cy="4297680"/>
          </a:xfrm>
          <a:prstGeom prst="arc">
            <a:avLst/>
          </a:prstGeom>
          <a:solidFill>
            <a:srgbClr val="F8DDD7">
              <a:alpha val="74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046720" y="182880"/>
            <a:ext cx="4389120" cy="4389120"/>
          </a:xfrm>
          <a:prstGeom prst="arc">
            <a:avLst/>
          </a:prstGeom>
          <a:solidFill>
            <a:srgbClr val="EEE7F5">
              <a:alpha val="70000"/>
            </a:srgbClr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pic>
        <p:nvPicPr>
          <p:cNvPr id="4" name="Image 0" descr="competition-project\competition\demo-portal\public\branding\platfor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73152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217627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B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校园智序·小序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86384" y="310896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让教学时空，被理解、被核验、被安排。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5528" y="39593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让复杂的校园教学安排，简单到一句话就能问。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705088" y="1097280"/>
            <a:ext cx="2240280" cy="22402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015984" y="1627632"/>
            <a:ext cx="1609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在线体验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015984" y="26517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F6F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提交时加入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36992" y="4069080"/>
            <a:ext cx="3803904" cy="749808"/>
          </a:xfrm>
          <a:prstGeom prst="roundRect">
            <a:avLst>
              <a:gd name="adj" fmla="val 24390"/>
            </a:avLst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  <a:effectLst>
            <a:outerShdw blurRad="38100" dist="50800" dir="2700000" algn="bl" rotWithShape="0">
              <a:srgbClr val="6E4438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0" y="42976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34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最终在线体验地址 · 由提交人加入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" y="5074920"/>
            <a:ext cx="987552" cy="329184"/>
          </a:xfrm>
          <a:prstGeom prst="roundRect">
            <a:avLst>
              <a:gd name="adj" fmla="val 47222"/>
            </a:avLst>
          </a:prstGeom>
          <a:solidFill>
            <a:srgbClr val="C8342D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093208"/>
            <a:ext cx="768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ADP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938528" y="5074920"/>
            <a:ext cx="1298448" cy="329184"/>
          </a:xfrm>
          <a:prstGeom prst="roundRect">
            <a:avLst>
              <a:gd name="adj" fmla="val 47222"/>
            </a:avLst>
          </a:prstGeom>
          <a:solidFill>
            <a:srgbClr val="237E68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48256" y="5093208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WIDGET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383280" y="5074920"/>
            <a:ext cx="1078992" cy="329184"/>
          </a:xfrm>
          <a:prstGeom prst="roundRect">
            <a:avLst>
              <a:gd name="adj" fmla="val 47222"/>
            </a:avLst>
          </a:prstGeom>
          <a:solidFill>
            <a:srgbClr val="FFFDFC"/>
          </a:solidFill>
          <a:ln w="12700">
            <a:solidFill>
              <a:srgbClr val="FFFDF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93008" y="5093208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37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C8B8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宽屏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Microsoft YaHei</vt:lpstr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校园智序·小序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校园智序·小序—答辩</dc:title>
  <dc:subject>比赛答辩 · Evidence-first Final Cut</dc:subject>
  <dc:creator>校园智序·小序</dc:creator>
  <cp:lastModifiedBy>ekice P</cp:lastModifiedBy>
  <cp:revision>2</cp:revision>
  <dcterms:created xsi:type="dcterms:W3CDTF">2026-08-24T15:30:12Z</dcterms:created>
  <dcterms:modified xsi:type="dcterms:W3CDTF">2026-08-24T15:30:30Z</dcterms:modified>
</cp:coreProperties>
</file>