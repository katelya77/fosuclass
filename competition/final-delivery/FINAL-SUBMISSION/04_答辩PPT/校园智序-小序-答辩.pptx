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97521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1E1C"/>
        </a:solidFill>
        <a:effectLst/>
      </p:bgPr>
    </p:bg>
    <p:spTree>
      <p:nvGrpSpPr>
        <p:cNvPr id="1" name=""/>
        <p:cNvGrpSpPr/>
        <p:nvPr/>
      </p:nvGrpSpPr>
      <p:grpSpPr>
        <a:xfrm>
          <a:off x="0" y="0"/>
          <a:ext cx="0" cy="0"/>
          <a:chOff x="0" y="0"/>
          <a:chExt cx="0" cy="0"/>
        </a:xfrm>
      </p:grpSpPr>
      <p:sp>
        <p:nvSpPr>
          <p:cNvPr id="2" name="S00_0001_background-field"/>
          <p:cNvSpPr/>
          <p:nvPr/>
        </p:nvSpPr>
        <p:spPr>
          <a:xfrm>
            <a:off x="7315200" y="-1005840"/>
            <a:ext cx="6217920" cy="6217920"/>
          </a:xfrm>
          <a:prstGeom prst="ellipse">
            <a:avLst/>
          </a:prstGeom>
          <a:solidFill>
            <a:srgbClr val="E65442">
              <a:alpha val="58000"/>
            </a:srgbClr>
          </a:solidFill>
          <a:ln w="12700">
            <a:solidFill>
              <a:srgbClr val="FFFFFF">
                <a:alpha val="0"/>
              </a:srgbClr>
            </a:solidFill>
            <a:prstDash val="solid"/>
          </a:ln>
        </p:spPr>
      </p:sp>
      <p:sp>
        <p:nvSpPr>
          <p:cNvPr id="3" name="S00_0002_background-field"/>
          <p:cNvSpPr/>
          <p:nvPr/>
        </p:nvSpPr>
        <p:spPr>
          <a:xfrm>
            <a:off x="8229600" y="0"/>
            <a:ext cx="4480560" cy="4480560"/>
          </a:xfrm>
          <a:prstGeom prst="ellipse">
            <a:avLst/>
          </a:prstGeom>
          <a:solidFill>
            <a:srgbClr val="B96B2E">
              <a:alpha val="28000"/>
            </a:srgbClr>
          </a:solidFill>
          <a:ln w="12700">
            <a:solidFill>
              <a:srgbClr val="FFFFFF">
                <a:alpha val="0"/>
              </a:srgbClr>
            </a:solidFill>
            <a:prstDash val="solid"/>
          </a:ln>
        </p:spPr>
      </p:sp>
      <p:pic>
        <p:nvPicPr>
          <p:cNvPr id="4" name="S00_0003_logo" descr="competition-project\competition\demo-portal\public\branding\platform-logo.png"/>
          <p:cNvPicPr>
            <a:picLocks noChangeAspect="1"/>
          </p:cNvPicPr>
          <p:nvPr/>
        </p:nvPicPr>
        <p:blipFill>
          <a:blip r:embed="rId3"/>
          <a:stretch>
            <a:fillRect/>
          </a:stretch>
        </p:blipFill>
        <p:spPr>
          <a:xfrm>
            <a:off x="658368" y="585216"/>
            <a:ext cx="914400" cy="914400"/>
          </a:xfrm>
          <a:prstGeom prst="rect">
            <a:avLst/>
          </a:prstGeom>
        </p:spPr>
      </p:pic>
      <p:sp>
        <p:nvSpPr>
          <p:cNvPr id="5" name="S00_0004_text"/>
          <p:cNvSpPr/>
          <p:nvPr/>
        </p:nvSpPr>
        <p:spPr>
          <a:xfrm>
            <a:off x="8394192" y="320040"/>
            <a:ext cx="3383280" cy="5303520"/>
          </a:xfrm>
          <a:prstGeom prst="rect">
            <a:avLst/>
          </a:prstGeom>
          <a:noFill/>
          <a:ln/>
        </p:spPr>
        <p:txBody>
          <a:bodyPr wrap="square" lIns="0" tIns="0" rIns="0" bIns="0" rtlCol="0" anchor="ctr">
            <a:normAutofit/>
          </a:bodyPr>
          <a:lstStyle/>
          <a:p>
            <a:pPr marL="0" indent="0" algn="ctr">
              <a:buNone/>
            </a:pPr>
            <a:r>
              <a:rPr lang="en-US" sz="22000" b="1" dirty="0">
                <a:solidFill>
                  <a:srgbClr val="FFFFFF">
                    <a:alpha val="12000"/>
                  </a:srgbClr>
                </a:solidFill>
                <a:latin typeface="Noto Serif SC" pitchFamily="34" charset="0"/>
                <a:ea typeface="Noto Serif SC" pitchFamily="34" charset="-122"/>
                <a:cs typeface="Noto Serif SC" pitchFamily="34" charset="-120"/>
              </a:rPr>
              <a:t>序</a:t>
            </a:r>
            <a:endParaRPr lang="en-US" sz="22000" dirty="0"/>
          </a:p>
        </p:txBody>
      </p:sp>
      <p:sp>
        <p:nvSpPr>
          <p:cNvPr id="6" name="A01_0005_text"/>
          <p:cNvSpPr/>
          <p:nvPr/>
        </p:nvSpPr>
        <p:spPr>
          <a:xfrm>
            <a:off x="713232" y="1719072"/>
            <a:ext cx="7132320" cy="713232"/>
          </a:xfrm>
          <a:prstGeom prst="rect">
            <a:avLst/>
          </a:prstGeom>
          <a:noFill/>
          <a:ln/>
        </p:spPr>
        <p:txBody>
          <a:bodyPr wrap="square" lIns="0" tIns="0" rIns="0" bIns="0" rtlCol="0" anchor="ctr">
            <a:normAutofit/>
          </a:bodyPr>
          <a:lstStyle/>
          <a:p>
            <a:pPr marL="0" indent="0" algn="l">
              <a:buNone/>
            </a:pPr>
            <a:r>
              <a:rPr lang="en-US" sz="3900" b="1" dirty="0">
                <a:solidFill>
                  <a:srgbClr val="FFFFFF"/>
                </a:solidFill>
                <a:latin typeface="Noto Serif SC" pitchFamily="34" charset="0"/>
                <a:ea typeface="Noto Serif SC" pitchFamily="34" charset="-122"/>
                <a:cs typeface="Noto Serif SC" pitchFamily="34" charset="-120"/>
              </a:rPr>
              <a:t>校园智序·小序</a:t>
            </a:r>
            <a:endParaRPr lang="en-US" sz="3900" dirty="0"/>
          </a:p>
        </p:txBody>
      </p:sp>
      <p:sp>
        <p:nvSpPr>
          <p:cNvPr id="7" name="A02_0006_text"/>
          <p:cNvSpPr/>
          <p:nvPr/>
        </p:nvSpPr>
        <p:spPr>
          <a:xfrm>
            <a:off x="713232" y="2670048"/>
            <a:ext cx="7223760" cy="1170432"/>
          </a:xfrm>
          <a:prstGeom prst="rect">
            <a:avLst/>
          </a:prstGeom>
          <a:noFill/>
          <a:ln/>
        </p:spPr>
        <p:txBody>
          <a:bodyPr wrap="square" lIns="0" tIns="0" rIns="0" bIns="0" rtlCol="0" anchor="t">
            <a:normAutofit/>
          </a:bodyPr>
          <a:lstStyle/>
          <a:p>
            <a:pPr marL="0" indent="0" algn="l">
              <a:buNone/>
            </a:pPr>
            <a:r>
              <a:rPr lang="en-US" sz="2500" b="1" dirty="0">
                <a:solidFill>
                  <a:srgbClr val="FFD9CF"/>
                </a:solidFill>
                <a:latin typeface="Noto Serif SC" pitchFamily="34" charset="0"/>
                <a:ea typeface="Noto Serif SC" pitchFamily="34" charset="-122"/>
                <a:cs typeface="Noto Serif SC" pitchFamily="34" charset="-120"/>
              </a:rPr>
              <a:t>面向学生、教师与教学管理者的</a:t>
            </a:r>
            <a:endParaRPr lang="en-US" sz="2500" dirty="0"/>
          </a:p>
          <a:p>
            <a:pPr marL="0" indent="0" algn="l">
              <a:buNone/>
            </a:pPr>
            <a:r>
              <a:rPr lang="en-US" sz="2500" b="1" dirty="0">
                <a:solidFill>
                  <a:srgbClr val="FFD9CF"/>
                </a:solidFill>
                <a:latin typeface="Noto Serif SC" pitchFamily="34" charset="0"/>
                <a:ea typeface="Noto Serif SC" pitchFamily="34" charset="-122"/>
                <a:cs typeface="Noto Serif SC" pitchFamily="34" charset="-120"/>
              </a:rPr>
              <a:t>校园教学时空资源智能体</a:t>
            </a:r>
            <a:endParaRPr lang="en-US" sz="2500" dirty="0"/>
          </a:p>
        </p:txBody>
      </p:sp>
      <p:sp>
        <p:nvSpPr>
          <p:cNvPr id="8" name="A03_0007_line"/>
          <p:cNvSpPr/>
          <p:nvPr/>
        </p:nvSpPr>
        <p:spPr>
          <a:xfrm>
            <a:off x="731520" y="4261104"/>
            <a:ext cx="4389120" cy="0"/>
          </a:xfrm>
          <a:prstGeom prst="line">
            <a:avLst/>
          </a:prstGeom>
          <a:noFill/>
          <a:ln w="16510">
            <a:solidFill>
              <a:srgbClr val="E89989"/>
            </a:solidFill>
            <a:prstDash val="solid"/>
          </a:ln>
        </p:spPr>
      </p:sp>
      <p:sp>
        <p:nvSpPr>
          <p:cNvPr id="9" name="A03_0008_text"/>
          <p:cNvSpPr/>
          <p:nvPr/>
        </p:nvSpPr>
        <p:spPr>
          <a:xfrm>
            <a:off x="731520" y="4425696"/>
            <a:ext cx="6766560" cy="384048"/>
          </a:xfrm>
          <a:prstGeom prst="rect">
            <a:avLst/>
          </a:prstGeom>
          <a:noFill/>
          <a:ln/>
        </p:spPr>
        <p:txBody>
          <a:bodyPr wrap="square" lIns="0" tIns="0" rIns="0" bIns="0" rtlCol="0" anchor="ctr">
            <a:normAutofit/>
          </a:bodyPr>
          <a:lstStyle/>
          <a:p>
            <a:pPr marL="0" indent="0" algn="l">
              <a:buNone/>
            </a:pPr>
            <a:r>
              <a:rPr lang="en-US" sz="1350" dirty="0">
                <a:solidFill>
                  <a:srgbClr val="F2E8E3"/>
                </a:solidFill>
                <a:latin typeface="MiSans" pitchFamily="34" charset="0"/>
                <a:ea typeface="MiSans" pitchFamily="34" charset="-122"/>
                <a:cs typeface="MiSans" pitchFamily="34" charset="-120"/>
              </a:rPr>
              <a:t>一句自然语言，统一完成课表查询、空间查找、多人协同、调课核验与教学运行分析。</a:t>
            </a:r>
            <a:endParaRPr lang="en-US" sz="1350" dirty="0"/>
          </a:p>
        </p:txBody>
      </p:sp>
      <p:sp>
        <p:nvSpPr>
          <p:cNvPr id="10" name="A04_0009_text"/>
          <p:cNvSpPr/>
          <p:nvPr/>
        </p:nvSpPr>
        <p:spPr>
          <a:xfrm>
            <a:off x="731520" y="5084064"/>
            <a:ext cx="5669280" cy="457200"/>
          </a:xfrm>
          <a:prstGeom prst="rect">
            <a:avLst/>
          </a:prstGeom>
          <a:noFill/>
          <a:ln/>
        </p:spPr>
        <p:txBody>
          <a:bodyPr wrap="square" lIns="0" tIns="0" rIns="0" bIns="0" rtlCol="0" anchor="ctr">
            <a:normAutofit/>
          </a:bodyPr>
          <a:lstStyle/>
          <a:p>
            <a:pPr marL="0" indent="0" algn="l">
              <a:buNone/>
            </a:pPr>
            <a:r>
              <a:rPr lang="en-US" sz="1900" b="1" dirty="0">
                <a:solidFill>
                  <a:srgbClr val="FFFFFF"/>
                </a:solidFill>
                <a:latin typeface="Noto Serif SC" pitchFamily="34" charset="0"/>
                <a:ea typeface="Noto Serif SC" pitchFamily="34" charset="-122"/>
                <a:cs typeface="Noto Serif SC" pitchFamily="34" charset="-120"/>
              </a:rPr>
              <a:t>让教学时空，被理解、被安排。</a:t>
            </a:r>
            <a:endParaRPr lang="en-US" sz="1900" dirty="0"/>
          </a:p>
        </p:txBody>
      </p:sp>
      <p:sp>
        <p:nvSpPr>
          <p:cNvPr id="11" name="S00_0010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D8CDC7"/>
                </a:solidFill>
                <a:latin typeface="MiSans" pitchFamily="34" charset="0"/>
                <a:ea typeface="MiSans" pitchFamily="34" charset="-122"/>
                <a:cs typeface="MiSans" pitchFamily="34" charset="-120"/>
              </a:rPr>
              <a:t>校园智序·小序</a:t>
            </a:r>
            <a:endParaRPr lang="en-US" sz="850" dirty="0"/>
          </a:p>
        </p:txBody>
      </p:sp>
      <p:sp>
        <p:nvSpPr>
          <p:cNvPr id="12" name="S00_0011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D8CDC7"/>
                </a:solidFill>
                <a:latin typeface="MiSans" pitchFamily="34" charset="0"/>
                <a:ea typeface="MiSans" pitchFamily="34" charset="-122"/>
                <a:cs typeface="MiSans" pitchFamily="34" charset="-120"/>
              </a:rPr>
              <a:t>01 / 12</a:t>
            </a:r>
            <a:endParaRPr lang="en-US" sz="8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8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38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38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38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38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7F1"/>
        </a:solidFill>
        <a:effectLst/>
      </p:bgPr>
    </p:bg>
    <p:spTree>
      <p:nvGrpSpPr>
        <p:cNvPr id="1" name=""/>
        <p:cNvGrpSpPr/>
        <p:nvPr/>
      </p:nvGrpSpPr>
      <p:grpSpPr>
        <a:xfrm>
          <a:off x="0" y="0"/>
          <a:ext cx="0" cy="0"/>
          <a:chOff x="0" y="0"/>
          <a:chExt cx="0" cy="0"/>
        </a:xfrm>
      </p:grpSpPr>
      <p:sp>
        <p:nvSpPr>
          <p:cNvPr id="2" name="S00_0012_background-field"/>
          <p:cNvSpPr/>
          <p:nvPr/>
        </p:nvSpPr>
        <p:spPr>
          <a:xfrm>
            <a:off x="-1600200" y="4434840"/>
            <a:ext cx="5303520" cy="3749040"/>
          </a:xfrm>
          <a:prstGeom prst="ellipse">
            <a:avLst/>
          </a:prstGeom>
          <a:solidFill>
            <a:srgbClr val="F6DED8">
              <a:alpha val="38000"/>
            </a:srgbClr>
          </a:solidFill>
          <a:ln w="12700">
            <a:solidFill>
              <a:srgbClr val="FFFFFF">
                <a:alpha val="0"/>
              </a:srgbClr>
            </a:solidFill>
            <a:prstDash val="solid"/>
          </a:ln>
        </p:spPr>
      </p:sp>
      <p:sp>
        <p:nvSpPr>
          <p:cNvPr id="3" name="S00_0013_background-arc"/>
          <p:cNvSpPr/>
          <p:nvPr/>
        </p:nvSpPr>
        <p:spPr>
          <a:xfrm rot="11880000">
            <a:off x="9326880" y="-548640"/>
            <a:ext cx="3291840" cy="2286000"/>
          </a:xfrm>
          <a:prstGeom prst="arc">
            <a:avLst/>
          </a:prstGeom>
          <a:solidFill>
            <a:srgbClr val="FFFFFF">
              <a:alpha val="0"/>
            </a:srgbClr>
          </a:solidFill>
          <a:ln w="13970">
            <a:solidFill>
              <a:srgbClr val="E65442">
                <a:alpha val="30000"/>
              </a:srgbClr>
            </a:solidFill>
            <a:prstDash val="solid"/>
          </a:ln>
        </p:spPr>
      </p:sp>
      <p:sp>
        <p:nvSpPr>
          <p:cNvPr id="4" name="S00_0014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它从哪里来</a:t>
            </a:r>
            <a:endParaRPr lang="en-US" sz="1000" dirty="0"/>
          </a:p>
        </p:txBody>
      </p:sp>
      <p:sp>
        <p:nvSpPr>
          <p:cNvPr id="5" name="S00_0015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从真实使用的课表服务里长出来</a:t>
            </a:r>
            <a:endParaRPr lang="en-US" sz="2700" dirty="0"/>
          </a:p>
        </p:txBody>
      </p:sp>
      <p:sp>
        <p:nvSpPr>
          <p:cNvPr id="6" name="S00_0016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项目源于已经真实投入使用的校园课表服务；真实需求让作品不断生长。</a:t>
            </a:r>
            <a:endParaRPr lang="en-US" sz="1220" dirty="0"/>
          </a:p>
        </p:txBody>
      </p:sp>
      <p:sp>
        <p:nvSpPr>
          <p:cNvPr id="7" name="S00_0017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018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02 / 12</a:t>
            </a:r>
            <a:endParaRPr lang="en-US" sz="850" dirty="0"/>
          </a:p>
        </p:txBody>
      </p:sp>
      <p:sp>
        <p:nvSpPr>
          <p:cNvPr id="9" name="A01_0019_text"/>
          <p:cNvSpPr/>
          <p:nvPr/>
        </p:nvSpPr>
        <p:spPr>
          <a:xfrm>
            <a:off x="603504" y="1700784"/>
            <a:ext cx="3291840" cy="914400"/>
          </a:xfrm>
          <a:prstGeom prst="rect">
            <a:avLst/>
          </a:prstGeom>
          <a:noFill/>
          <a:ln/>
        </p:spPr>
        <p:txBody>
          <a:bodyPr wrap="square" lIns="0" tIns="0" rIns="0" bIns="0" rtlCol="0" anchor="ctr">
            <a:normAutofit/>
          </a:bodyPr>
          <a:lstStyle/>
          <a:p>
            <a:pPr marL="0" indent="0" algn="l">
              <a:buNone/>
            </a:pPr>
            <a:r>
              <a:rPr lang="en-US" sz="6000" b="1" dirty="0">
                <a:solidFill>
                  <a:srgbClr val="B83E32"/>
                </a:solidFill>
                <a:latin typeface="MiSans" pitchFamily="34" charset="0"/>
                <a:ea typeface="MiSans" pitchFamily="34" charset="-122"/>
                <a:cs typeface="MiSans" pitchFamily="34" charset="-120"/>
              </a:rPr>
              <a:t>1500+</a:t>
            </a:r>
            <a:endParaRPr lang="en-US" sz="6000" dirty="0"/>
          </a:p>
        </p:txBody>
      </p:sp>
      <p:sp>
        <p:nvSpPr>
          <p:cNvPr id="10" name="A01_0020_text"/>
          <p:cNvSpPr/>
          <p:nvPr/>
        </p:nvSpPr>
        <p:spPr>
          <a:xfrm>
            <a:off x="658368" y="2633472"/>
            <a:ext cx="3108960" cy="329184"/>
          </a:xfrm>
          <a:prstGeom prst="rect">
            <a:avLst/>
          </a:prstGeom>
          <a:noFill/>
          <a:ln/>
        </p:spPr>
        <p:txBody>
          <a:bodyPr wrap="square" lIns="0" tIns="0" rIns="0" bIns="0" rtlCol="0" anchor="ctr">
            <a:normAutofit/>
          </a:bodyPr>
          <a:lstStyle/>
          <a:p>
            <a:pPr marL="0" indent="0" algn="l">
              <a:buNone/>
            </a:pPr>
            <a:r>
              <a:rPr lang="en-US" sz="1600" b="1" dirty="0">
                <a:solidFill>
                  <a:srgbClr val="211E1C"/>
                </a:solidFill>
                <a:latin typeface="MiSans" pitchFamily="34" charset="0"/>
                <a:ea typeface="MiSans" pitchFamily="34" charset="-122"/>
                <a:cs typeface="MiSans" pitchFamily="34" charset="-120"/>
              </a:rPr>
              <a:t>底层课表服务累计服务用户</a:t>
            </a:r>
            <a:endParaRPr lang="en-US" sz="1600" dirty="0"/>
          </a:p>
        </p:txBody>
      </p:sp>
      <p:sp>
        <p:nvSpPr>
          <p:cNvPr id="11" name="A02_0021_text"/>
          <p:cNvSpPr/>
          <p:nvPr/>
        </p:nvSpPr>
        <p:spPr>
          <a:xfrm>
            <a:off x="676656" y="3200400"/>
            <a:ext cx="3566160" cy="566928"/>
          </a:xfrm>
          <a:prstGeom prst="rect">
            <a:avLst/>
          </a:prstGeom>
          <a:noFill/>
          <a:ln/>
        </p:spPr>
        <p:txBody>
          <a:bodyPr wrap="square" lIns="0" tIns="0" rIns="0" bIns="0" rtlCol="0" anchor="t">
            <a:normAutofit/>
          </a:bodyPr>
          <a:lstStyle/>
          <a:p>
            <a:pPr marL="0" indent="0" algn="l">
              <a:buNone/>
            </a:pPr>
            <a:r>
              <a:rPr lang="en-US" sz="2400" b="1" dirty="0">
                <a:solidFill>
                  <a:srgbClr val="B83E32"/>
                </a:solidFill>
                <a:latin typeface="Noto Serif SC" pitchFamily="34" charset="0"/>
                <a:ea typeface="Noto Serif SC" pitchFamily="34" charset="-122"/>
                <a:cs typeface="Noto Serif SC" pitchFamily="34" charset="-120"/>
              </a:rPr>
              <a:t>查到课表，只是第一步。</a:t>
            </a:r>
            <a:endParaRPr lang="en-US" sz="2400" dirty="0"/>
          </a:p>
        </p:txBody>
      </p:sp>
      <p:sp>
        <p:nvSpPr>
          <p:cNvPr id="12" name="A02_0022_line"/>
          <p:cNvSpPr/>
          <p:nvPr/>
        </p:nvSpPr>
        <p:spPr>
          <a:xfrm>
            <a:off x="713232" y="3877056"/>
            <a:ext cx="3154680" cy="0"/>
          </a:xfrm>
          <a:prstGeom prst="line">
            <a:avLst/>
          </a:prstGeom>
          <a:noFill/>
          <a:ln w="27940">
            <a:solidFill>
              <a:srgbClr val="E65442"/>
            </a:solidFill>
            <a:prstDash val="solid"/>
          </a:ln>
        </p:spPr>
      </p:sp>
      <p:sp>
        <p:nvSpPr>
          <p:cNvPr id="13" name="A03_0023_text"/>
          <p:cNvSpPr/>
          <p:nvPr/>
        </p:nvSpPr>
        <p:spPr>
          <a:xfrm>
            <a:off x="731520" y="4078224"/>
            <a:ext cx="3291840" cy="365760"/>
          </a:xfrm>
          <a:prstGeom prst="rect">
            <a:avLst/>
          </a:prstGeom>
          <a:noFill/>
          <a:ln/>
        </p:spPr>
        <p:txBody>
          <a:bodyPr wrap="square" lIns="0" tIns="0" rIns="0" bIns="0" rtlCol="0" anchor="ctr">
            <a:normAutofit/>
          </a:bodyPr>
          <a:lstStyle/>
          <a:p>
            <a:pPr marL="0" indent="0" algn="l">
              <a:buNone/>
            </a:pPr>
            <a:r>
              <a:rPr lang="en-US" sz="1650" b="1" dirty="0">
                <a:solidFill>
                  <a:srgbClr val="B83E32"/>
                </a:solidFill>
                <a:latin typeface="Noto Serif SC" pitchFamily="34" charset="0"/>
                <a:ea typeface="Noto Serif SC" pitchFamily="34" charset="-122"/>
                <a:cs typeface="Noto Serif SC" pitchFamily="34" charset="-120"/>
              </a:rPr>
              <a:t>谁有空？</a:t>
            </a:r>
            <a:endParaRPr lang="en-US" sz="1650" dirty="0"/>
          </a:p>
        </p:txBody>
      </p:sp>
      <p:sp>
        <p:nvSpPr>
          <p:cNvPr id="14" name="A03_0024_text"/>
          <p:cNvSpPr/>
          <p:nvPr/>
        </p:nvSpPr>
        <p:spPr>
          <a:xfrm>
            <a:off x="731520" y="4498848"/>
            <a:ext cx="3291840" cy="365760"/>
          </a:xfrm>
          <a:prstGeom prst="rect">
            <a:avLst/>
          </a:prstGeom>
          <a:noFill/>
          <a:ln/>
        </p:spPr>
        <p:txBody>
          <a:bodyPr wrap="square" lIns="0" tIns="0" rIns="0" bIns="0" rtlCol="0" anchor="ctr">
            <a:normAutofit/>
          </a:bodyPr>
          <a:lstStyle/>
          <a:p>
            <a:pPr marL="0" indent="0" algn="l">
              <a:buNone/>
            </a:pPr>
            <a:r>
              <a:rPr lang="en-US" sz="1650" b="1" dirty="0">
                <a:solidFill>
                  <a:srgbClr val="B96B2E"/>
                </a:solidFill>
                <a:latin typeface="Noto Serif SC" pitchFamily="34" charset="0"/>
                <a:ea typeface="Noto Serif SC" pitchFamily="34" charset="-122"/>
                <a:cs typeface="Noto Serif SC" pitchFamily="34" charset="-120"/>
              </a:rPr>
              <a:t>哪里有空？</a:t>
            </a:r>
            <a:endParaRPr lang="en-US" sz="1650" dirty="0"/>
          </a:p>
        </p:txBody>
      </p:sp>
      <p:sp>
        <p:nvSpPr>
          <p:cNvPr id="15" name="A03_0025_text"/>
          <p:cNvSpPr/>
          <p:nvPr/>
        </p:nvSpPr>
        <p:spPr>
          <a:xfrm>
            <a:off x="731520" y="4919472"/>
            <a:ext cx="3291840" cy="365760"/>
          </a:xfrm>
          <a:prstGeom prst="rect">
            <a:avLst/>
          </a:prstGeom>
          <a:noFill/>
          <a:ln/>
        </p:spPr>
        <p:txBody>
          <a:bodyPr wrap="square" lIns="0" tIns="0" rIns="0" bIns="0" rtlCol="0" anchor="ctr">
            <a:normAutofit/>
          </a:bodyPr>
          <a:lstStyle/>
          <a:p>
            <a:pPr marL="0" indent="0" algn="l">
              <a:buNone/>
            </a:pPr>
            <a:r>
              <a:rPr lang="en-US" sz="1650" b="1" dirty="0">
                <a:solidFill>
                  <a:srgbClr val="B83E32"/>
                </a:solidFill>
                <a:latin typeface="Noto Serif SC" pitchFamily="34" charset="0"/>
                <a:ea typeface="Noto Serif SC" pitchFamily="34" charset="-122"/>
                <a:cs typeface="Noto Serif SC" pitchFamily="34" charset="-120"/>
              </a:rPr>
              <a:t>会不会赶不及？</a:t>
            </a:r>
            <a:endParaRPr lang="en-US" sz="1650" dirty="0"/>
          </a:p>
        </p:txBody>
      </p:sp>
      <p:sp>
        <p:nvSpPr>
          <p:cNvPr id="16" name="A03_0026_text"/>
          <p:cNvSpPr/>
          <p:nvPr/>
        </p:nvSpPr>
        <p:spPr>
          <a:xfrm>
            <a:off x="731520" y="5340096"/>
            <a:ext cx="3291840" cy="365760"/>
          </a:xfrm>
          <a:prstGeom prst="rect">
            <a:avLst/>
          </a:prstGeom>
          <a:noFill/>
          <a:ln/>
        </p:spPr>
        <p:txBody>
          <a:bodyPr wrap="square" lIns="0" tIns="0" rIns="0" bIns="0" rtlCol="0" anchor="ctr">
            <a:normAutofit/>
          </a:bodyPr>
          <a:lstStyle/>
          <a:p>
            <a:pPr marL="0" indent="0" algn="l">
              <a:buNone/>
            </a:pPr>
            <a:r>
              <a:rPr lang="en-US" sz="1650" b="1" dirty="0">
                <a:solidFill>
                  <a:srgbClr val="B96B2E"/>
                </a:solidFill>
                <a:latin typeface="Noto Serif SC" pitchFamily="34" charset="0"/>
                <a:ea typeface="Noto Serif SC" pitchFamily="34" charset="-122"/>
                <a:cs typeface="Noto Serif SC" pitchFamily="34" charset="-120"/>
              </a:rPr>
              <a:t>能不能调？</a:t>
            </a:r>
            <a:endParaRPr lang="en-US" sz="1650" dirty="0"/>
          </a:p>
        </p:txBody>
      </p:sp>
      <p:sp>
        <p:nvSpPr>
          <p:cNvPr id="17" name="A03_0027_text"/>
          <p:cNvSpPr/>
          <p:nvPr/>
        </p:nvSpPr>
        <p:spPr>
          <a:xfrm>
            <a:off x="731520" y="5760720"/>
            <a:ext cx="3291840" cy="365760"/>
          </a:xfrm>
          <a:prstGeom prst="rect">
            <a:avLst/>
          </a:prstGeom>
          <a:noFill/>
          <a:ln/>
        </p:spPr>
        <p:txBody>
          <a:bodyPr wrap="square" lIns="0" tIns="0" rIns="0" bIns="0" rtlCol="0" anchor="ctr">
            <a:normAutofit/>
          </a:bodyPr>
          <a:lstStyle/>
          <a:p>
            <a:pPr marL="0" indent="0" algn="l">
              <a:buNone/>
            </a:pPr>
            <a:r>
              <a:rPr lang="en-US" sz="1650" b="1" dirty="0">
                <a:solidFill>
                  <a:srgbClr val="B83E32"/>
                </a:solidFill>
                <a:latin typeface="Noto Serif SC" pitchFamily="34" charset="0"/>
                <a:ea typeface="Noto Serif SC" pitchFamily="34" charset="-122"/>
                <a:cs typeface="Noto Serif SC" pitchFamily="34" charset="-120"/>
              </a:rPr>
              <a:t>哪里最忙？</a:t>
            </a:r>
            <a:endParaRPr lang="en-US" sz="1650" dirty="0"/>
          </a:p>
        </p:txBody>
      </p:sp>
      <p:sp>
        <p:nvSpPr>
          <p:cNvPr id="18" name="A04_0028_relation-node"/>
          <p:cNvSpPr/>
          <p:nvPr/>
        </p:nvSpPr>
        <p:spPr>
          <a:xfrm>
            <a:off x="4754880" y="1883664"/>
            <a:ext cx="1097280" cy="1097280"/>
          </a:xfrm>
          <a:prstGeom prst="ellipse">
            <a:avLst/>
          </a:prstGeom>
          <a:solidFill>
            <a:srgbClr val="FBF7F1">
              <a:alpha val="96000"/>
            </a:srgbClr>
          </a:solidFill>
          <a:ln w="19050">
            <a:solidFill>
              <a:srgbClr val="E65442"/>
            </a:solidFill>
            <a:prstDash val="solid"/>
          </a:ln>
        </p:spPr>
      </p:sp>
      <p:sp>
        <p:nvSpPr>
          <p:cNvPr id="19" name="A04_0029_text"/>
          <p:cNvSpPr/>
          <p:nvPr/>
        </p:nvSpPr>
        <p:spPr>
          <a:xfrm>
            <a:off x="4754880" y="2221992"/>
            <a:ext cx="1097280" cy="329184"/>
          </a:xfrm>
          <a:prstGeom prst="rect">
            <a:avLst/>
          </a:prstGeom>
          <a:noFill/>
          <a:ln/>
        </p:spPr>
        <p:txBody>
          <a:bodyPr wrap="square" lIns="0" tIns="0" rIns="0" bIns="0" rtlCol="0" anchor="ctr">
            <a:normAutofit/>
          </a:bodyPr>
          <a:lstStyle/>
          <a:p>
            <a:pPr marL="0" indent="0" algn="ctr">
              <a:buNone/>
            </a:pPr>
            <a:r>
              <a:rPr lang="en-US" sz="1500" b="1" dirty="0">
                <a:solidFill>
                  <a:srgbClr val="E65442"/>
                </a:solidFill>
                <a:latin typeface="MiSans" pitchFamily="34" charset="0"/>
                <a:ea typeface="MiSans" pitchFamily="34" charset="-122"/>
                <a:cs typeface="MiSans" pitchFamily="34" charset="-120"/>
              </a:rPr>
              <a:t>课程</a:t>
            </a:r>
            <a:endParaRPr lang="en-US" sz="1500" dirty="0"/>
          </a:p>
        </p:txBody>
      </p:sp>
      <p:sp>
        <p:nvSpPr>
          <p:cNvPr id="20" name="A04_0030_arrow"/>
          <p:cNvSpPr/>
          <p:nvPr/>
        </p:nvSpPr>
        <p:spPr>
          <a:xfrm>
            <a:off x="5303520" y="2432304"/>
            <a:ext cx="2231136" cy="832104"/>
          </a:xfrm>
          <a:prstGeom prst="line">
            <a:avLst/>
          </a:prstGeom>
          <a:noFill/>
          <a:ln w="12700">
            <a:solidFill>
              <a:srgbClr val="DDD2CA"/>
            </a:solidFill>
            <a:prstDash val="solid"/>
            <a:headEnd type="none"/>
            <a:tailEnd type="triangle"/>
          </a:ln>
        </p:spPr>
      </p:sp>
      <p:sp>
        <p:nvSpPr>
          <p:cNvPr id="21" name="A04_0031_relation-node"/>
          <p:cNvSpPr/>
          <p:nvPr/>
        </p:nvSpPr>
        <p:spPr>
          <a:xfrm>
            <a:off x="7379208" y="1719072"/>
            <a:ext cx="1097280" cy="1097280"/>
          </a:xfrm>
          <a:prstGeom prst="ellipse">
            <a:avLst/>
          </a:prstGeom>
          <a:solidFill>
            <a:srgbClr val="FBF7F1">
              <a:alpha val="96000"/>
            </a:srgbClr>
          </a:solidFill>
          <a:ln w="19050">
            <a:solidFill>
              <a:srgbClr val="B96B2E"/>
            </a:solidFill>
            <a:prstDash val="solid"/>
          </a:ln>
        </p:spPr>
      </p:sp>
      <p:sp>
        <p:nvSpPr>
          <p:cNvPr id="22" name="A04_0032_text"/>
          <p:cNvSpPr/>
          <p:nvPr/>
        </p:nvSpPr>
        <p:spPr>
          <a:xfrm>
            <a:off x="7379208" y="2057400"/>
            <a:ext cx="1097280" cy="329184"/>
          </a:xfrm>
          <a:prstGeom prst="rect">
            <a:avLst/>
          </a:prstGeom>
          <a:noFill/>
          <a:ln/>
        </p:spPr>
        <p:txBody>
          <a:bodyPr wrap="square" lIns="0" tIns="0" rIns="0" bIns="0" rtlCol="0" anchor="ctr">
            <a:normAutofit/>
          </a:bodyPr>
          <a:lstStyle/>
          <a:p>
            <a:pPr marL="0" indent="0" algn="ctr">
              <a:buNone/>
            </a:pPr>
            <a:r>
              <a:rPr lang="en-US" sz="1500" b="1" dirty="0">
                <a:solidFill>
                  <a:srgbClr val="B96B2E"/>
                </a:solidFill>
                <a:latin typeface="MiSans" pitchFamily="34" charset="0"/>
                <a:ea typeface="MiSans" pitchFamily="34" charset="-122"/>
                <a:cs typeface="MiSans" pitchFamily="34" charset="-120"/>
              </a:rPr>
              <a:t>教师</a:t>
            </a:r>
            <a:endParaRPr lang="en-US" sz="1500" dirty="0"/>
          </a:p>
        </p:txBody>
      </p:sp>
      <p:sp>
        <p:nvSpPr>
          <p:cNvPr id="23" name="A04_0033_arrow"/>
          <p:cNvSpPr/>
          <p:nvPr/>
        </p:nvSpPr>
        <p:spPr>
          <a:xfrm flipH="1">
            <a:off x="7534656" y="2267712"/>
            <a:ext cx="393192" cy="996696"/>
          </a:xfrm>
          <a:prstGeom prst="line">
            <a:avLst/>
          </a:prstGeom>
          <a:noFill/>
          <a:ln w="12700">
            <a:solidFill>
              <a:srgbClr val="DDD2CA"/>
            </a:solidFill>
            <a:prstDash val="solid"/>
            <a:headEnd type="none"/>
            <a:tailEnd type="triangle"/>
          </a:ln>
        </p:spPr>
      </p:sp>
      <p:sp>
        <p:nvSpPr>
          <p:cNvPr id="24" name="A04_0034_relation-node"/>
          <p:cNvSpPr/>
          <p:nvPr/>
        </p:nvSpPr>
        <p:spPr>
          <a:xfrm>
            <a:off x="9802368" y="2139696"/>
            <a:ext cx="1097280" cy="1097280"/>
          </a:xfrm>
          <a:prstGeom prst="ellipse">
            <a:avLst/>
          </a:prstGeom>
          <a:solidFill>
            <a:srgbClr val="FBF7F1">
              <a:alpha val="96000"/>
            </a:srgbClr>
          </a:solidFill>
          <a:ln w="19050">
            <a:solidFill>
              <a:srgbClr val="507BA0"/>
            </a:solidFill>
            <a:prstDash val="solid"/>
          </a:ln>
        </p:spPr>
      </p:sp>
      <p:sp>
        <p:nvSpPr>
          <p:cNvPr id="25" name="A04_0035_text"/>
          <p:cNvSpPr/>
          <p:nvPr/>
        </p:nvSpPr>
        <p:spPr>
          <a:xfrm>
            <a:off x="9802368" y="2478024"/>
            <a:ext cx="1097280" cy="329184"/>
          </a:xfrm>
          <a:prstGeom prst="rect">
            <a:avLst/>
          </a:prstGeom>
          <a:noFill/>
          <a:ln/>
        </p:spPr>
        <p:txBody>
          <a:bodyPr wrap="square" lIns="0" tIns="0" rIns="0" bIns="0" rtlCol="0" anchor="ctr">
            <a:normAutofit/>
          </a:bodyPr>
          <a:lstStyle/>
          <a:p>
            <a:pPr marL="0" indent="0" algn="ctr">
              <a:buNone/>
            </a:pPr>
            <a:r>
              <a:rPr lang="en-US" sz="1500" b="1" dirty="0">
                <a:solidFill>
                  <a:srgbClr val="507BA0"/>
                </a:solidFill>
                <a:latin typeface="MiSans" pitchFamily="34" charset="0"/>
                <a:ea typeface="MiSans" pitchFamily="34" charset="-122"/>
                <a:cs typeface="MiSans" pitchFamily="34" charset="-120"/>
              </a:rPr>
              <a:t>班级</a:t>
            </a:r>
            <a:endParaRPr lang="en-US" sz="1500" dirty="0"/>
          </a:p>
        </p:txBody>
      </p:sp>
      <p:sp>
        <p:nvSpPr>
          <p:cNvPr id="26" name="A04_0036_arrow"/>
          <p:cNvSpPr/>
          <p:nvPr/>
        </p:nvSpPr>
        <p:spPr>
          <a:xfrm flipH="1">
            <a:off x="7534656" y="2688336"/>
            <a:ext cx="2816352" cy="576072"/>
          </a:xfrm>
          <a:prstGeom prst="line">
            <a:avLst/>
          </a:prstGeom>
          <a:noFill/>
          <a:ln w="12700">
            <a:solidFill>
              <a:srgbClr val="DDD2CA"/>
            </a:solidFill>
            <a:prstDash val="solid"/>
            <a:headEnd type="none"/>
            <a:tailEnd type="triangle"/>
          </a:ln>
        </p:spPr>
      </p:sp>
      <p:sp>
        <p:nvSpPr>
          <p:cNvPr id="27" name="A04_0037_relation-node"/>
          <p:cNvSpPr/>
          <p:nvPr/>
        </p:nvSpPr>
        <p:spPr>
          <a:xfrm>
            <a:off x="5504688" y="4608576"/>
            <a:ext cx="1097280" cy="1097280"/>
          </a:xfrm>
          <a:prstGeom prst="ellipse">
            <a:avLst/>
          </a:prstGeom>
          <a:solidFill>
            <a:srgbClr val="FBF7F1">
              <a:alpha val="96000"/>
            </a:srgbClr>
          </a:solidFill>
          <a:ln w="19050">
            <a:solidFill>
              <a:srgbClr val="237F69"/>
            </a:solidFill>
            <a:prstDash val="solid"/>
          </a:ln>
        </p:spPr>
      </p:sp>
      <p:sp>
        <p:nvSpPr>
          <p:cNvPr id="28" name="A04_0038_text"/>
          <p:cNvSpPr/>
          <p:nvPr/>
        </p:nvSpPr>
        <p:spPr>
          <a:xfrm>
            <a:off x="5504688" y="4946904"/>
            <a:ext cx="1097280" cy="329184"/>
          </a:xfrm>
          <a:prstGeom prst="rect">
            <a:avLst/>
          </a:prstGeom>
          <a:noFill/>
          <a:ln/>
        </p:spPr>
        <p:txBody>
          <a:bodyPr wrap="square" lIns="0" tIns="0" rIns="0" bIns="0" rtlCol="0" anchor="ctr">
            <a:normAutofit/>
          </a:bodyPr>
          <a:lstStyle/>
          <a:p>
            <a:pPr marL="0" indent="0" algn="ctr">
              <a:buNone/>
            </a:pPr>
            <a:r>
              <a:rPr lang="en-US" sz="1500" b="1" dirty="0">
                <a:solidFill>
                  <a:srgbClr val="237F69"/>
                </a:solidFill>
                <a:latin typeface="MiSans" pitchFamily="34" charset="0"/>
                <a:ea typeface="MiSans" pitchFamily="34" charset="-122"/>
                <a:cs typeface="MiSans" pitchFamily="34" charset="-120"/>
              </a:rPr>
              <a:t>教室</a:t>
            </a:r>
            <a:endParaRPr lang="en-US" sz="1500" dirty="0"/>
          </a:p>
        </p:txBody>
      </p:sp>
      <p:sp>
        <p:nvSpPr>
          <p:cNvPr id="29" name="A04_0039_arrow"/>
          <p:cNvSpPr/>
          <p:nvPr/>
        </p:nvSpPr>
        <p:spPr>
          <a:xfrm flipV="1">
            <a:off x="6053328" y="3264408"/>
            <a:ext cx="1481328" cy="1892808"/>
          </a:xfrm>
          <a:prstGeom prst="line">
            <a:avLst/>
          </a:prstGeom>
          <a:noFill/>
          <a:ln w="12700">
            <a:solidFill>
              <a:srgbClr val="DDD2CA"/>
            </a:solidFill>
            <a:prstDash val="solid"/>
            <a:headEnd type="none"/>
            <a:tailEnd type="triangle"/>
          </a:ln>
        </p:spPr>
      </p:sp>
      <p:sp>
        <p:nvSpPr>
          <p:cNvPr id="30" name="A04_0040_relation-node"/>
          <p:cNvSpPr/>
          <p:nvPr/>
        </p:nvSpPr>
        <p:spPr>
          <a:xfrm>
            <a:off x="8577072" y="4572000"/>
            <a:ext cx="1097280" cy="1097280"/>
          </a:xfrm>
          <a:prstGeom prst="ellipse">
            <a:avLst/>
          </a:prstGeom>
          <a:solidFill>
            <a:srgbClr val="FBF7F1">
              <a:alpha val="96000"/>
            </a:srgbClr>
          </a:solidFill>
          <a:ln w="19050">
            <a:solidFill>
              <a:srgbClr val="B83E32"/>
            </a:solidFill>
            <a:prstDash val="solid"/>
          </a:ln>
        </p:spPr>
      </p:sp>
      <p:sp>
        <p:nvSpPr>
          <p:cNvPr id="31" name="A04_0041_text"/>
          <p:cNvSpPr/>
          <p:nvPr/>
        </p:nvSpPr>
        <p:spPr>
          <a:xfrm>
            <a:off x="8577072" y="4910328"/>
            <a:ext cx="1097280" cy="329184"/>
          </a:xfrm>
          <a:prstGeom prst="rect">
            <a:avLst/>
          </a:prstGeom>
          <a:noFill/>
          <a:ln/>
        </p:spPr>
        <p:txBody>
          <a:bodyPr wrap="square" lIns="0" tIns="0" rIns="0" bIns="0" rtlCol="0" anchor="ctr">
            <a:normAutofit/>
          </a:bodyPr>
          <a:lstStyle/>
          <a:p>
            <a:pPr marL="0" indent="0" algn="ctr">
              <a:buNone/>
            </a:pPr>
            <a:r>
              <a:rPr lang="en-US" sz="1500" b="1" dirty="0">
                <a:solidFill>
                  <a:srgbClr val="B83E32"/>
                </a:solidFill>
                <a:latin typeface="MiSans" pitchFamily="34" charset="0"/>
                <a:ea typeface="MiSans" pitchFamily="34" charset="-122"/>
                <a:cs typeface="MiSans" pitchFamily="34" charset="-120"/>
              </a:rPr>
              <a:t>时间</a:t>
            </a:r>
            <a:endParaRPr lang="en-US" sz="1500" dirty="0"/>
          </a:p>
        </p:txBody>
      </p:sp>
      <p:sp>
        <p:nvSpPr>
          <p:cNvPr id="32" name="A04_0042_arrow"/>
          <p:cNvSpPr/>
          <p:nvPr/>
        </p:nvSpPr>
        <p:spPr>
          <a:xfrm flipH="1" flipV="1">
            <a:off x="7534656" y="3264408"/>
            <a:ext cx="1591056" cy="1856232"/>
          </a:xfrm>
          <a:prstGeom prst="line">
            <a:avLst/>
          </a:prstGeom>
          <a:noFill/>
          <a:ln w="12700">
            <a:solidFill>
              <a:srgbClr val="DDD2CA"/>
            </a:solidFill>
            <a:prstDash val="solid"/>
            <a:headEnd type="none"/>
            <a:tailEnd type="triangle"/>
          </a:ln>
        </p:spPr>
      </p:sp>
      <p:sp>
        <p:nvSpPr>
          <p:cNvPr id="33" name="A05_0043_relation-center"/>
          <p:cNvSpPr/>
          <p:nvPr/>
        </p:nvSpPr>
        <p:spPr>
          <a:xfrm>
            <a:off x="6784848" y="2688336"/>
            <a:ext cx="1499616" cy="1152144"/>
          </a:xfrm>
          <a:prstGeom prst="ellipse">
            <a:avLst/>
          </a:prstGeom>
          <a:solidFill>
            <a:srgbClr val="E65442"/>
          </a:solidFill>
          <a:ln w="12700">
            <a:solidFill>
              <a:srgbClr val="FFFFFF">
                <a:alpha val="0"/>
              </a:srgbClr>
            </a:solidFill>
            <a:prstDash val="solid"/>
          </a:ln>
        </p:spPr>
      </p:sp>
      <p:sp>
        <p:nvSpPr>
          <p:cNvPr id="34" name="A05_0044_text"/>
          <p:cNvSpPr/>
          <p:nvPr/>
        </p:nvSpPr>
        <p:spPr>
          <a:xfrm>
            <a:off x="6821424" y="3081528"/>
            <a:ext cx="1426464"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MiSans" pitchFamily="34" charset="0"/>
                <a:ea typeface="MiSans" pitchFamily="34" charset="-122"/>
                <a:cs typeface="MiSans" pitchFamily="34" charset="-120"/>
              </a:rPr>
              <a:t>教学安排</a:t>
            </a:r>
            <a:endParaRPr lang="en-US" sz="1700" dirty="0"/>
          </a:p>
        </p:txBody>
      </p:sp>
      <p:sp>
        <p:nvSpPr>
          <p:cNvPr id="35" name="A06_0045_text"/>
          <p:cNvSpPr/>
          <p:nvPr/>
        </p:nvSpPr>
        <p:spPr>
          <a:xfrm>
            <a:off x="4956048" y="6053328"/>
            <a:ext cx="6355080" cy="365760"/>
          </a:xfrm>
          <a:prstGeom prst="rect">
            <a:avLst/>
          </a:prstGeom>
          <a:noFill/>
          <a:ln/>
        </p:spPr>
        <p:txBody>
          <a:bodyPr wrap="square" lIns="0" tIns="0" rIns="0" bIns="0" rtlCol="0" anchor="ctr">
            <a:normAutofit/>
          </a:bodyPr>
          <a:lstStyle/>
          <a:p>
            <a:pPr marL="0" indent="0" algn="ctr">
              <a:buNone/>
            </a:pPr>
            <a:r>
              <a:rPr lang="en-US" sz="1550" b="1" dirty="0">
                <a:solidFill>
                  <a:srgbClr val="B83E32"/>
                </a:solidFill>
                <a:latin typeface="Noto Serif SC" pitchFamily="34" charset="0"/>
                <a:ea typeface="Noto Serif SC" pitchFamily="34" charset="-122"/>
                <a:cs typeface="Noto Serif SC" pitchFamily="34" charset="-120"/>
              </a:rPr>
              <a:t>真实需求从“查得到”，长成“算得清、调得动、看得全”。</a:t>
            </a:r>
            <a:endParaRPr lang="en-US" sz="15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380"/>
                                        <p:tgtEl>
                                          <p:spTgt spid="11"/>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38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8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8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8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8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8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38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380"/>
                                        <p:tgtEl>
                                          <p:spTgt spid="19"/>
                                        </p:tgtEl>
                                      </p:cBhvr>
                                    </p:animEffect>
                                  </p:childTnLst>
                                </p:cTn>
                              </p:par>
                              <p:par>
                                <p:cTn id="44" presetID="10" presetClass="entr" presetSubtype="0" fill="hold"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80"/>
                                        <p:tgtEl>
                                          <p:spTgt spid="20"/>
                                        </p:tgtEl>
                                      </p:cBhvr>
                                    </p:animEffect>
                                  </p:childTnLst>
                                </p:cTn>
                              </p:par>
                              <p:par>
                                <p:cTn id="47" presetID="10" presetClass="entr" presetSubtype="0"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8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80"/>
                                        <p:tgtEl>
                                          <p:spTgt spid="22"/>
                                        </p:tgtEl>
                                      </p:cBhvr>
                                    </p:animEffect>
                                  </p:childTnLst>
                                </p:cTn>
                              </p:par>
                              <p:par>
                                <p:cTn id="53" presetID="10"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80"/>
                                        <p:tgtEl>
                                          <p:spTgt spid="23"/>
                                        </p:tgtEl>
                                      </p:cBhvr>
                                    </p:animEffect>
                                  </p:childTnLst>
                                </p:cTn>
                              </p:par>
                              <p:par>
                                <p:cTn id="56" presetID="10" presetClass="entr" presetSubtype="0" fill="hold"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38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380"/>
                                        <p:tgtEl>
                                          <p:spTgt spid="25"/>
                                        </p:tgtEl>
                                      </p:cBhvr>
                                    </p:animEffect>
                                  </p:childTnLst>
                                </p:cTn>
                              </p:par>
                              <p:par>
                                <p:cTn id="62" presetID="10" presetClass="entr" presetSubtype="0" fill="hold"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380"/>
                                        <p:tgtEl>
                                          <p:spTgt spid="26"/>
                                        </p:tgtEl>
                                      </p:cBhvr>
                                    </p:animEffect>
                                  </p:childTnLst>
                                </p:cTn>
                              </p:par>
                              <p:par>
                                <p:cTn id="65" presetID="10" presetClass="entr" presetSubtype="0" fill="hold"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380"/>
                                        <p:tgtEl>
                                          <p:spTgt spid="2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380"/>
                                        <p:tgtEl>
                                          <p:spTgt spid="28"/>
                                        </p:tgtEl>
                                      </p:cBhvr>
                                    </p:animEffect>
                                  </p:childTnLst>
                                </p:cTn>
                              </p:par>
                              <p:par>
                                <p:cTn id="71" presetID="10" presetClass="entr" presetSubtype="0" fill="hold" nodeType="with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380"/>
                                        <p:tgtEl>
                                          <p:spTgt spid="29"/>
                                        </p:tgtEl>
                                      </p:cBhvr>
                                    </p:animEffect>
                                  </p:childTnLst>
                                </p:cTn>
                              </p:par>
                              <p:par>
                                <p:cTn id="74" presetID="10" presetClass="entr" presetSubtype="0" fill="hold"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38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80"/>
                                        <p:tgtEl>
                                          <p:spTgt spid="31"/>
                                        </p:tgtEl>
                                      </p:cBhvr>
                                    </p:animEffect>
                                  </p:childTnLst>
                                </p:cTn>
                              </p:par>
                              <p:par>
                                <p:cTn id="80" presetID="10" presetClass="entr" presetSubtype="0" fill="hold"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380"/>
                                        <p:tgtEl>
                                          <p:spTgt spid="32"/>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380"/>
                                        <p:tgtEl>
                                          <p:spTgt spid="33"/>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4"/>
                                        </p:tgtEl>
                                        <p:attrNameLst>
                                          <p:attrName>style.visibility</p:attrName>
                                        </p:attrNameLst>
                                      </p:cBhvr>
                                      <p:to>
                                        <p:strVal val="visible"/>
                                      </p:to>
                                    </p:set>
                                    <p:animEffect transition="in" filter="fade">
                                      <p:cBhvr>
                                        <p:cTn id="90" dur="380"/>
                                        <p:tgtEl>
                                          <p:spTgt spid="34"/>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8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6" grpId="0" animBg="1"/>
      <p:bldP spid="17" grpId="0" animBg="1"/>
      <p:bldP spid="19" grpId="0" animBg="1"/>
      <p:bldP spid="22" grpId="0" animBg="1"/>
      <p:bldP spid="25" grpId="0" animBg="1"/>
      <p:bldP spid="28" grpId="0" animBg="1"/>
      <p:bldP spid="31" grpId="0" animBg="1"/>
      <p:bldP spid="34"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7F1"/>
        </a:solidFill>
        <a:effectLst/>
      </p:bgPr>
    </p:bg>
    <p:spTree>
      <p:nvGrpSpPr>
        <p:cNvPr id="1" name=""/>
        <p:cNvGrpSpPr/>
        <p:nvPr/>
      </p:nvGrpSpPr>
      <p:grpSpPr>
        <a:xfrm>
          <a:off x="0" y="0"/>
          <a:ext cx="0" cy="0"/>
          <a:chOff x="0" y="0"/>
          <a:chExt cx="0" cy="0"/>
        </a:xfrm>
      </p:grpSpPr>
      <p:sp>
        <p:nvSpPr>
          <p:cNvPr id="2" name="S00_0046_background-field"/>
          <p:cNvSpPr/>
          <p:nvPr/>
        </p:nvSpPr>
        <p:spPr>
          <a:xfrm>
            <a:off x="8641080" y="-1554480"/>
            <a:ext cx="5303520" cy="3749040"/>
          </a:xfrm>
          <a:prstGeom prst="ellipse">
            <a:avLst/>
          </a:prstGeom>
          <a:solidFill>
            <a:srgbClr val="F6E8D8">
              <a:alpha val="38000"/>
            </a:srgbClr>
          </a:solidFill>
          <a:ln w="12700">
            <a:solidFill>
              <a:srgbClr val="FFFFFF">
                <a:alpha val="0"/>
              </a:srgbClr>
            </a:solidFill>
            <a:prstDash val="solid"/>
          </a:ln>
        </p:spPr>
      </p:sp>
      <p:sp>
        <p:nvSpPr>
          <p:cNvPr id="3" name="S00_0047_background-arc"/>
          <p:cNvSpPr/>
          <p:nvPr/>
        </p:nvSpPr>
        <p:spPr>
          <a:xfrm rot="1080000">
            <a:off x="-640080" y="4389120"/>
            <a:ext cx="3291840" cy="2286000"/>
          </a:xfrm>
          <a:prstGeom prst="arc">
            <a:avLst/>
          </a:prstGeom>
          <a:solidFill>
            <a:srgbClr val="FFFFFF">
              <a:alpha val="0"/>
            </a:srgbClr>
          </a:solidFill>
          <a:ln w="13970">
            <a:solidFill>
              <a:srgbClr val="E65442">
                <a:alpha val="30000"/>
              </a:srgbClr>
            </a:solidFill>
            <a:prstDash val="solid"/>
          </a:ln>
        </p:spPr>
      </p:sp>
      <p:sp>
        <p:nvSpPr>
          <p:cNvPr id="4" name="S00_0048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谁在用它</a:t>
            </a:r>
            <a:endParaRPr lang="en-US" sz="1000" dirty="0"/>
          </a:p>
        </p:txBody>
      </p:sp>
      <p:sp>
        <p:nvSpPr>
          <p:cNvPr id="5" name="S00_0049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学生、教师与教学管理者</a:t>
            </a:r>
            <a:endParaRPr lang="en-US" sz="2700" dirty="0"/>
          </a:p>
        </p:txBody>
      </p:sp>
      <p:sp>
        <p:nvSpPr>
          <p:cNvPr id="6" name="S00_0050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同一个系统，回答三类人每天最真实的问题。</a:t>
            </a:r>
            <a:endParaRPr lang="en-US" sz="1220" dirty="0"/>
          </a:p>
        </p:txBody>
      </p:sp>
      <p:sp>
        <p:nvSpPr>
          <p:cNvPr id="7" name="S00_0051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052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03 / 12</a:t>
            </a:r>
            <a:endParaRPr lang="en-US" sz="850" dirty="0"/>
          </a:p>
        </p:txBody>
      </p:sp>
      <p:sp>
        <p:nvSpPr>
          <p:cNvPr id="9" name="A01_0053_text"/>
          <p:cNvSpPr/>
          <p:nvPr/>
        </p:nvSpPr>
        <p:spPr>
          <a:xfrm>
            <a:off x="640080" y="1810512"/>
            <a:ext cx="3108960" cy="566928"/>
          </a:xfrm>
          <a:prstGeom prst="rect">
            <a:avLst/>
          </a:prstGeom>
          <a:noFill/>
          <a:ln/>
        </p:spPr>
        <p:txBody>
          <a:bodyPr wrap="square" lIns="0" tIns="0" rIns="0" bIns="0" rtlCol="0" anchor="ctr">
            <a:normAutofit/>
          </a:bodyPr>
          <a:lstStyle/>
          <a:p>
            <a:pPr marL="0" indent="0" algn="l">
              <a:buNone/>
            </a:pPr>
            <a:r>
              <a:rPr lang="en-US" sz="3000" b="1" dirty="0">
                <a:solidFill>
                  <a:srgbClr val="E65442"/>
                </a:solidFill>
                <a:latin typeface="Noto Serif SC" pitchFamily="34" charset="0"/>
                <a:ea typeface="Noto Serif SC" pitchFamily="34" charset="-122"/>
                <a:cs typeface="Noto Serif SC" pitchFamily="34" charset="-120"/>
              </a:rPr>
              <a:t>学生</a:t>
            </a:r>
            <a:endParaRPr lang="en-US" sz="3000" dirty="0"/>
          </a:p>
        </p:txBody>
      </p:sp>
      <p:sp>
        <p:nvSpPr>
          <p:cNvPr id="10" name="A01_0054_line"/>
          <p:cNvSpPr/>
          <p:nvPr/>
        </p:nvSpPr>
        <p:spPr>
          <a:xfrm>
            <a:off x="658368" y="2487168"/>
            <a:ext cx="786384" cy="0"/>
          </a:xfrm>
          <a:prstGeom prst="line">
            <a:avLst/>
          </a:prstGeom>
          <a:noFill/>
          <a:ln w="40640">
            <a:solidFill>
              <a:srgbClr val="E65442"/>
            </a:solidFill>
            <a:prstDash val="solid"/>
          </a:ln>
        </p:spPr>
      </p:sp>
      <p:sp>
        <p:nvSpPr>
          <p:cNvPr id="11" name="A01_0055_text"/>
          <p:cNvSpPr/>
          <p:nvPr/>
        </p:nvSpPr>
        <p:spPr>
          <a:xfrm>
            <a:off x="640080" y="2724912"/>
            <a:ext cx="3154680" cy="969264"/>
          </a:xfrm>
          <a:prstGeom prst="rect">
            <a:avLst/>
          </a:prstGeom>
          <a:noFill/>
          <a:ln/>
        </p:spPr>
        <p:txBody>
          <a:bodyPr wrap="square" lIns="0" tIns="0" rIns="0" bIns="0" rtlCol="0" anchor="t">
            <a:normAutofit/>
          </a:bodyPr>
          <a:lstStyle/>
          <a:p>
            <a:pPr marL="0" indent="0" algn="l">
              <a:buNone/>
            </a:pPr>
            <a:r>
              <a:rPr lang="en-US" sz="1650" b="1" dirty="0">
                <a:solidFill>
                  <a:srgbClr val="211E1C"/>
                </a:solidFill>
                <a:latin typeface="Noto Serif SC" pitchFamily="34" charset="0"/>
                <a:ea typeface="Noto Serif SC" pitchFamily="34" charset="-122"/>
                <a:cs typeface="Noto Serif SC" pitchFamily="34" charset="-120"/>
              </a:rPr>
              <a:t>“我今天有什么课？</a:t>
            </a:r>
            <a:endParaRPr lang="en-US" sz="1650" dirty="0"/>
          </a:p>
          <a:p>
            <a:pPr marL="0" indent="0" algn="l">
              <a:buNone/>
            </a:pPr>
            <a:r>
              <a:rPr lang="en-US" sz="1650" b="1" dirty="0">
                <a:solidFill>
                  <a:srgbClr val="211E1C"/>
                </a:solidFill>
                <a:latin typeface="Noto Serif SC" pitchFamily="34" charset="0"/>
                <a:ea typeface="Noto Serif SC" pitchFamily="34" charset="-122"/>
                <a:cs typeface="Noto Serif SC" pitchFamily="34" charset="-120"/>
              </a:rPr>
              <a:t>附近哪里有空教室？”</a:t>
            </a:r>
            <a:endParaRPr lang="en-US" sz="1650" dirty="0"/>
          </a:p>
        </p:txBody>
      </p:sp>
      <p:sp>
        <p:nvSpPr>
          <p:cNvPr id="12" name="A01_0056_text"/>
          <p:cNvSpPr/>
          <p:nvPr/>
        </p:nvSpPr>
        <p:spPr>
          <a:xfrm>
            <a:off x="658368" y="39136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一句话查课表</a:t>
            </a:r>
            <a:endParaRPr lang="en-US" sz="1300" dirty="0"/>
          </a:p>
        </p:txBody>
      </p:sp>
      <p:sp>
        <p:nvSpPr>
          <p:cNvPr id="13" name="A01_0057_text"/>
          <p:cNvSpPr/>
          <p:nvPr/>
        </p:nvSpPr>
        <p:spPr>
          <a:xfrm>
            <a:off x="658368" y="43708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连续追问承接上下文</a:t>
            </a:r>
            <a:endParaRPr lang="en-US" sz="1300" dirty="0"/>
          </a:p>
        </p:txBody>
      </p:sp>
      <p:sp>
        <p:nvSpPr>
          <p:cNvPr id="14" name="A01_0058_text"/>
          <p:cNvSpPr/>
          <p:nvPr/>
        </p:nvSpPr>
        <p:spPr>
          <a:xfrm>
            <a:off x="658368" y="48280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找空教室与可用空间</a:t>
            </a:r>
            <a:endParaRPr lang="en-US" sz="1300" dirty="0"/>
          </a:p>
        </p:txBody>
      </p:sp>
      <p:sp>
        <p:nvSpPr>
          <p:cNvPr id="15" name="A01_0059_text"/>
          <p:cNvSpPr/>
          <p:nvPr/>
        </p:nvSpPr>
        <p:spPr>
          <a:xfrm>
            <a:off x="658368" y="52852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今天课程与安排</a:t>
            </a:r>
            <a:endParaRPr lang="en-US" sz="1300" dirty="0"/>
          </a:p>
        </p:txBody>
      </p:sp>
      <p:sp>
        <p:nvSpPr>
          <p:cNvPr id="16" name="A02_0060_text"/>
          <p:cNvSpPr/>
          <p:nvPr/>
        </p:nvSpPr>
        <p:spPr>
          <a:xfrm>
            <a:off x="4498848" y="1810512"/>
            <a:ext cx="3108960" cy="566928"/>
          </a:xfrm>
          <a:prstGeom prst="rect">
            <a:avLst/>
          </a:prstGeom>
          <a:noFill/>
          <a:ln/>
        </p:spPr>
        <p:txBody>
          <a:bodyPr wrap="square" lIns="0" tIns="0" rIns="0" bIns="0" rtlCol="0" anchor="ctr">
            <a:normAutofit/>
          </a:bodyPr>
          <a:lstStyle/>
          <a:p>
            <a:pPr marL="0" indent="0" algn="l">
              <a:buNone/>
            </a:pPr>
            <a:r>
              <a:rPr lang="en-US" sz="3000" b="1" dirty="0">
                <a:solidFill>
                  <a:srgbClr val="237F69"/>
                </a:solidFill>
                <a:latin typeface="Noto Serif SC" pitchFamily="34" charset="0"/>
                <a:ea typeface="Noto Serif SC" pitchFamily="34" charset="-122"/>
                <a:cs typeface="Noto Serif SC" pitchFamily="34" charset="-120"/>
              </a:rPr>
              <a:t>教师</a:t>
            </a:r>
            <a:endParaRPr lang="en-US" sz="3000" dirty="0"/>
          </a:p>
        </p:txBody>
      </p:sp>
      <p:sp>
        <p:nvSpPr>
          <p:cNvPr id="17" name="A02_0061_line"/>
          <p:cNvSpPr/>
          <p:nvPr/>
        </p:nvSpPr>
        <p:spPr>
          <a:xfrm>
            <a:off x="4517136" y="2487168"/>
            <a:ext cx="786384" cy="0"/>
          </a:xfrm>
          <a:prstGeom prst="line">
            <a:avLst/>
          </a:prstGeom>
          <a:noFill/>
          <a:ln w="40640">
            <a:solidFill>
              <a:srgbClr val="237F69"/>
            </a:solidFill>
            <a:prstDash val="solid"/>
          </a:ln>
        </p:spPr>
      </p:sp>
      <p:sp>
        <p:nvSpPr>
          <p:cNvPr id="18" name="A02_0062_text"/>
          <p:cNvSpPr/>
          <p:nvPr/>
        </p:nvSpPr>
        <p:spPr>
          <a:xfrm>
            <a:off x="4498848" y="2724912"/>
            <a:ext cx="3154680" cy="969264"/>
          </a:xfrm>
          <a:prstGeom prst="rect">
            <a:avLst/>
          </a:prstGeom>
          <a:noFill/>
          <a:ln/>
        </p:spPr>
        <p:txBody>
          <a:bodyPr wrap="square" lIns="0" tIns="0" rIns="0" bIns="0" rtlCol="0" anchor="t">
            <a:normAutofit/>
          </a:bodyPr>
          <a:lstStyle/>
          <a:p>
            <a:pPr marL="0" indent="0" algn="l">
              <a:buNone/>
            </a:pPr>
            <a:r>
              <a:rPr lang="en-US" sz="1650" b="1" dirty="0">
                <a:solidFill>
                  <a:srgbClr val="211E1C"/>
                </a:solidFill>
                <a:latin typeface="Noto Serif SC" pitchFamily="34" charset="0"/>
                <a:ea typeface="Noto Serif SC" pitchFamily="34" charset="-122"/>
                <a:cs typeface="Noto Serif SC" pitchFamily="34" charset="-120"/>
              </a:rPr>
              <a:t>“我们什么时候都空？</a:t>
            </a:r>
            <a:endParaRPr lang="en-US" sz="1650" dirty="0"/>
          </a:p>
          <a:p>
            <a:pPr marL="0" indent="0" algn="l">
              <a:buNone/>
            </a:pPr>
            <a:r>
              <a:rPr lang="en-US" sz="1650" b="1" dirty="0">
                <a:solidFill>
                  <a:srgbClr val="211E1C"/>
                </a:solidFill>
                <a:latin typeface="Noto Serif SC" pitchFamily="34" charset="0"/>
                <a:ea typeface="Noto Serif SC" pitchFamily="34" charset="-122"/>
                <a:cs typeface="Noto Serif SC" pitchFamily="34" charset="-120"/>
              </a:rPr>
              <a:t>能不能调整？”</a:t>
            </a:r>
            <a:endParaRPr lang="en-US" sz="1650" dirty="0"/>
          </a:p>
        </p:txBody>
      </p:sp>
      <p:sp>
        <p:nvSpPr>
          <p:cNvPr id="19" name="A02_0063_text"/>
          <p:cNvSpPr/>
          <p:nvPr/>
        </p:nvSpPr>
        <p:spPr>
          <a:xfrm>
            <a:off x="4517136" y="39136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多人共同空闲</a:t>
            </a:r>
            <a:endParaRPr lang="en-US" sz="1300" dirty="0"/>
          </a:p>
        </p:txBody>
      </p:sp>
      <p:sp>
        <p:nvSpPr>
          <p:cNvPr id="20" name="A02_0064_text"/>
          <p:cNvSpPr/>
          <p:nvPr/>
        </p:nvSpPr>
        <p:spPr>
          <a:xfrm>
            <a:off x="4517136" y="43708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教室空间推荐</a:t>
            </a:r>
            <a:endParaRPr lang="en-US" sz="1300" dirty="0"/>
          </a:p>
        </p:txBody>
      </p:sp>
      <p:sp>
        <p:nvSpPr>
          <p:cNvPr id="21" name="A02_0065_text"/>
          <p:cNvSpPr/>
          <p:nvPr/>
        </p:nvSpPr>
        <p:spPr>
          <a:xfrm>
            <a:off x="4517136" y="48280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教学空间转场风险</a:t>
            </a:r>
            <a:endParaRPr lang="en-US" sz="1300" dirty="0"/>
          </a:p>
        </p:txBody>
      </p:sp>
      <p:sp>
        <p:nvSpPr>
          <p:cNvPr id="22" name="A02_0066_text"/>
          <p:cNvSpPr/>
          <p:nvPr/>
        </p:nvSpPr>
        <p:spPr>
          <a:xfrm>
            <a:off x="4517136" y="52852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调课前模拟核验</a:t>
            </a:r>
            <a:endParaRPr lang="en-US" sz="1300" dirty="0"/>
          </a:p>
        </p:txBody>
      </p:sp>
      <p:sp>
        <p:nvSpPr>
          <p:cNvPr id="23" name="A03_0067_text"/>
          <p:cNvSpPr/>
          <p:nvPr/>
        </p:nvSpPr>
        <p:spPr>
          <a:xfrm>
            <a:off x="8357616" y="1810512"/>
            <a:ext cx="3108960" cy="566928"/>
          </a:xfrm>
          <a:prstGeom prst="rect">
            <a:avLst/>
          </a:prstGeom>
          <a:noFill/>
          <a:ln/>
        </p:spPr>
        <p:txBody>
          <a:bodyPr wrap="square" lIns="0" tIns="0" rIns="0" bIns="0" rtlCol="0" anchor="ctr">
            <a:normAutofit/>
          </a:bodyPr>
          <a:lstStyle/>
          <a:p>
            <a:pPr marL="0" indent="0" algn="l">
              <a:buNone/>
            </a:pPr>
            <a:r>
              <a:rPr lang="en-US" sz="3000" b="1" dirty="0">
                <a:solidFill>
                  <a:srgbClr val="507BA0"/>
                </a:solidFill>
                <a:latin typeface="Noto Serif SC" pitchFamily="34" charset="0"/>
                <a:ea typeface="Noto Serif SC" pitchFamily="34" charset="-122"/>
                <a:cs typeface="Noto Serif SC" pitchFamily="34" charset="-120"/>
              </a:rPr>
              <a:t>教学管理者</a:t>
            </a:r>
            <a:endParaRPr lang="en-US" sz="3000" dirty="0"/>
          </a:p>
        </p:txBody>
      </p:sp>
      <p:sp>
        <p:nvSpPr>
          <p:cNvPr id="24" name="A03_0068_line"/>
          <p:cNvSpPr/>
          <p:nvPr/>
        </p:nvSpPr>
        <p:spPr>
          <a:xfrm>
            <a:off x="8375904" y="2487168"/>
            <a:ext cx="786384" cy="0"/>
          </a:xfrm>
          <a:prstGeom prst="line">
            <a:avLst/>
          </a:prstGeom>
          <a:noFill/>
          <a:ln w="40640">
            <a:solidFill>
              <a:srgbClr val="507BA0"/>
            </a:solidFill>
            <a:prstDash val="solid"/>
          </a:ln>
        </p:spPr>
      </p:sp>
      <p:sp>
        <p:nvSpPr>
          <p:cNvPr id="25" name="A03_0069_text"/>
          <p:cNvSpPr/>
          <p:nvPr/>
        </p:nvSpPr>
        <p:spPr>
          <a:xfrm>
            <a:off x="8357616" y="2724912"/>
            <a:ext cx="3154680" cy="969264"/>
          </a:xfrm>
          <a:prstGeom prst="rect">
            <a:avLst/>
          </a:prstGeom>
          <a:noFill/>
          <a:ln/>
        </p:spPr>
        <p:txBody>
          <a:bodyPr wrap="square" lIns="0" tIns="0" rIns="0" bIns="0" rtlCol="0" anchor="t">
            <a:normAutofit/>
          </a:bodyPr>
          <a:lstStyle/>
          <a:p>
            <a:pPr marL="0" indent="0" algn="l">
              <a:buNone/>
            </a:pPr>
            <a:r>
              <a:rPr lang="en-US" sz="1650" b="1" dirty="0">
                <a:solidFill>
                  <a:srgbClr val="211E1C"/>
                </a:solidFill>
                <a:latin typeface="Noto Serif SC" pitchFamily="34" charset="0"/>
                <a:ea typeface="Noto Serif SC" pitchFamily="34" charset="-122"/>
                <a:cs typeface="Noto Serif SC" pitchFamily="34" charset="-120"/>
              </a:rPr>
              <a:t>“谁最忙？</a:t>
            </a:r>
            <a:endParaRPr lang="en-US" sz="1650" dirty="0"/>
          </a:p>
          <a:p>
            <a:pPr marL="0" indent="0" algn="l">
              <a:buNone/>
            </a:pPr>
            <a:r>
              <a:rPr lang="en-US" sz="1650" b="1" dirty="0">
                <a:solidFill>
                  <a:srgbClr val="211E1C"/>
                </a:solidFill>
                <a:latin typeface="Noto Serif SC" pitchFamily="34" charset="0"/>
                <a:ea typeface="Noto Serif SC" pitchFamily="34" charset="-122"/>
                <a:cs typeface="Noto Serif SC" pitchFamily="34" charset="-120"/>
              </a:rPr>
              <a:t>哪里可能有风险？”</a:t>
            </a:r>
            <a:endParaRPr lang="en-US" sz="1650" dirty="0"/>
          </a:p>
        </p:txBody>
      </p:sp>
      <p:sp>
        <p:nvSpPr>
          <p:cNvPr id="26" name="A03_0070_text"/>
          <p:cNvSpPr/>
          <p:nvPr/>
        </p:nvSpPr>
        <p:spPr>
          <a:xfrm>
            <a:off x="8375904" y="39136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全局负载总览</a:t>
            </a:r>
            <a:endParaRPr lang="en-US" sz="1300" dirty="0"/>
          </a:p>
        </p:txBody>
      </p:sp>
      <p:sp>
        <p:nvSpPr>
          <p:cNvPr id="27" name="A03_0071_text"/>
          <p:cNvSpPr/>
          <p:nvPr/>
        </p:nvSpPr>
        <p:spPr>
          <a:xfrm>
            <a:off x="8375904" y="43708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教室资源分布</a:t>
            </a:r>
            <a:endParaRPr lang="en-US" sz="1300" dirty="0"/>
          </a:p>
        </p:txBody>
      </p:sp>
      <p:sp>
        <p:nvSpPr>
          <p:cNvPr id="28" name="A03_0072_text"/>
          <p:cNvSpPr/>
          <p:nvPr/>
        </p:nvSpPr>
        <p:spPr>
          <a:xfrm>
            <a:off x="8375904" y="48280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风险对象定位</a:t>
            </a:r>
            <a:endParaRPr lang="en-US" sz="1300" dirty="0"/>
          </a:p>
        </p:txBody>
      </p:sp>
      <p:sp>
        <p:nvSpPr>
          <p:cNvPr id="29" name="A03_0073_text"/>
          <p:cNvSpPr/>
          <p:nvPr/>
        </p:nvSpPr>
        <p:spPr>
          <a:xfrm>
            <a:off x="8375904" y="5285232"/>
            <a:ext cx="31089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 下钻原因分析</a:t>
            </a:r>
            <a:endParaRPr lang="en-US" sz="1300" dirty="0"/>
          </a:p>
        </p:txBody>
      </p:sp>
      <p:sp>
        <p:nvSpPr>
          <p:cNvPr id="30" name="A04_0074_divider-1"/>
          <p:cNvSpPr/>
          <p:nvPr/>
        </p:nvSpPr>
        <p:spPr>
          <a:xfrm>
            <a:off x="4261104" y="1847088"/>
            <a:ext cx="0" cy="3383280"/>
          </a:xfrm>
          <a:prstGeom prst="line">
            <a:avLst/>
          </a:prstGeom>
          <a:noFill/>
          <a:ln w="12700">
            <a:solidFill>
              <a:srgbClr val="DDD2CA"/>
            </a:solidFill>
            <a:prstDash val="solid"/>
          </a:ln>
        </p:spPr>
      </p:sp>
      <p:sp>
        <p:nvSpPr>
          <p:cNvPr id="31" name="A04_0075_divider-2"/>
          <p:cNvSpPr/>
          <p:nvPr/>
        </p:nvSpPr>
        <p:spPr>
          <a:xfrm>
            <a:off x="8119872" y="1847088"/>
            <a:ext cx="0" cy="3383280"/>
          </a:xfrm>
          <a:prstGeom prst="line">
            <a:avLst/>
          </a:prstGeom>
          <a:noFill/>
          <a:ln w="12700">
            <a:solidFill>
              <a:srgbClr val="DDD2CA"/>
            </a:solidFill>
            <a:prstDash val="solid"/>
          </a:ln>
        </p:spPr>
      </p:sp>
      <p:sp>
        <p:nvSpPr>
          <p:cNvPr id="32" name="A05_0076_text"/>
          <p:cNvSpPr/>
          <p:nvPr/>
        </p:nvSpPr>
        <p:spPr>
          <a:xfrm>
            <a:off x="2084832" y="5742432"/>
            <a:ext cx="8010144" cy="365760"/>
          </a:xfrm>
          <a:prstGeom prst="rect">
            <a:avLst/>
          </a:prstGeom>
          <a:noFill/>
          <a:ln/>
        </p:spPr>
        <p:txBody>
          <a:bodyPr wrap="square" lIns="0" tIns="0" rIns="0" bIns="0" rtlCol="0" anchor="ctr">
            <a:normAutofit/>
          </a:bodyPr>
          <a:lstStyle/>
          <a:p>
            <a:pPr marL="0" indent="0" algn="ctr">
              <a:buNone/>
            </a:pPr>
            <a:r>
              <a:rPr lang="en-US" sz="1600" b="1" dirty="0">
                <a:solidFill>
                  <a:srgbClr val="B83E32"/>
                </a:solidFill>
                <a:latin typeface="Noto Serif SC" pitchFamily="34" charset="0"/>
                <a:ea typeface="Noto Serif SC" pitchFamily="34" charset="-122"/>
                <a:cs typeface="Noto Serif SC" pitchFamily="34" charset="-120"/>
              </a:rPr>
              <a:t>他们不需要学会教务系统的操作，只要把问题说出来。</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8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38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38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8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380"/>
                                        <p:tgtEl>
                                          <p:spTgt spid="1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38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38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38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38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380"/>
                                        <p:tgtEl>
                                          <p:spTgt spid="2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380"/>
                                        <p:tgtEl>
                                          <p:spTgt spid="2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380"/>
                                        <p:tgtEl>
                                          <p:spTgt spid="22"/>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380"/>
                                        <p:tgtEl>
                                          <p:spTgt spid="23"/>
                                        </p:tgtEl>
                                      </p:cBhvr>
                                    </p:animEffect>
                                  </p:childTnLst>
                                </p:cTn>
                              </p:par>
                              <p:par>
                                <p:cTn id="54" presetID="10" presetClass="entr" presetSubtype="0"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380"/>
                                        <p:tgtEl>
                                          <p:spTgt spid="2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380"/>
                                        <p:tgtEl>
                                          <p:spTgt spid="2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38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380"/>
                                        <p:tgtEl>
                                          <p:spTgt spid="2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380"/>
                                        <p:tgtEl>
                                          <p:spTgt spid="2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380"/>
                                        <p:tgtEl>
                                          <p:spTgt spid="29"/>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380"/>
                                        <p:tgtEl>
                                          <p:spTgt spid="30"/>
                                        </p:tgtEl>
                                      </p:cBhvr>
                                    </p:animEffect>
                                  </p:childTnLst>
                                </p:cTn>
                              </p:par>
                              <p:par>
                                <p:cTn id="77" presetID="10" presetClass="entr" presetSubtype="0" fill="hold"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80"/>
                                        <p:tgtEl>
                                          <p:spTgt spid="3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38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7F1"/>
        </a:solidFill>
        <a:effectLst/>
      </p:bgPr>
    </p:bg>
    <p:spTree>
      <p:nvGrpSpPr>
        <p:cNvPr id="1" name=""/>
        <p:cNvGrpSpPr/>
        <p:nvPr/>
      </p:nvGrpSpPr>
      <p:grpSpPr>
        <a:xfrm>
          <a:off x="0" y="0"/>
          <a:ext cx="0" cy="0"/>
          <a:chOff x="0" y="0"/>
          <a:chExt cx="0" cy="0"/>
        </a:xfrm>
      </p:grpSpPr>
      <p:sp>
        <p:nvSpPr>
          <p:cNvPr id="2" name="S00_0077_background-field"/>
          <p:cNvSpPr/>
          <p:nvPr/>
        </p:nvSpPr>
        <p:spPr>
          <a:xfrm>
            <a:off x="-1600200" y="4434840"/>
            <a:ext cx="5303520" cy="3749040"/>
          </a:xfrm>
          <a:prstGeom prst="ellipse">
            <a:avLst/>
          </a:prstGeom>
          <a:solidFill>
            <a:srgbClr val="F6DED8">
              <a:alpha val="38000"/>
            </a:srgbClr>
          </a:solidFill>
          <a:ln w="12700">
            <a:solidFill>
              <a:srgbClr val="FFFFFF">
                <a:alpha val="0"/>
              </a:srgbClr>
            </a:solidFill>
            <a:prstDash val="solid"/>
          </a:ln>
        </p:spPr>
      </p:sp>
      <p:sp>
        <p:nvSpPr>
          <p:cNvPr id="3" name="S00_0078_background-arc"/>
          <p:cNvSpPr/>
          <p:nvPr/>
        </p:nvSpPr>
        <p:spPr>
          <a:xfrm rot="11880000">
            <a:off x="9326880" y="-548640"/>
            <a:ext cx="3291840" cy="2286000"/>
          </a:xfrm>
          <a:prstGeom prst="arc">
            <a:avLst/>
          </a:prstGeom>
          <a:solidFill>
            <a:srgbClr val="FFFFFF">
              <a:alpha val="0"/>
            </a:srgbClr>
          </a:solidFill>
          <a:ln w="13970">
            <a:solidFill>
              <a:srgbClr val="E65442">
                <a:alpha val="30000"/>
              </a:srgbClr>
            </a:solidFill>
            <a:prstDash val="solid"/>
          </a:ln>
        </p:spPr>
      </p:sp>
      <p:sp>
        <p:nvSpPr>
          <p:cNvPr id="4" name="S00_0079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一句话怎样变成结果</a:t>
            </a:r>
            <a:endParaRPr lang="en-US" sz="1000" dirty="0"/>
          </a:p>
        </p:txBody>
      </p:sp>
      <p:sp>
        <p:nvSpPr>
          <p:cNvPr id="5" name="S00_0080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用户只管把问题说出来</a:t>
            </a:r>
            <a:endParaRPr lang="en-US" sz="2700" dirty="0"/>
          </a:p>
        </p:txBody>
      </p:sp>
      <p:sp>
        <p:nvSpPr>
          <p:cNvPr id="6" name="S00_0081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理解、分工、计算、核验与继续追问，由系统接住。</a:t>
            </a:r>
            <a:endParaRPr lang="en-US" sz="1220" dirty="0"/>
          </a:p>
        </p:txBody>
      </p:sp>
      <p:sp>
        <p:nvSpPr>
          <p:cNvPr id="7" name="S00_0082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083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04 / 12</a:t>
            </a:r>
            <a:endParaRPr lang="en-US" sz="850" dirty="0"/>
          </a:p>
        </p:txBody>
      </p:sp>
      <p:sp>
        <p:nvSpPr>
          <p:cNvPr id="9" name="A01_0084_question"/>
          <p:cNvSpPr/>
          <p:nvPr/>
        </p:nvSpPr>
        <p:spPr>
          <a:xfrm>
            <a:off x="676656" y="1847088"/>
            <a:ext cx="3675888" cy="1097280"/>
          </a:xfrm>
          <a:prstGeom prst="roundRect">
            <a:avLst>
              <a:gd name="adj" fmla="val 15000"/>
            </a:avLst>
          </a:prstGeom>
          <a:solidFill>
            <a:srgbClr val="F6DED8">
              <a:alpha val="96000"/>
            </a:srgbClr>
          </a:solidFill>
          <a:ln w="15240">
            <a:solidFill>
              <a:srgbClr val="E65442"/>
            </a:solidFill>
            <a:prstDash val="solid"/>
          </a:ln>
        </p:spPr>
      </p:sp>
      <p:sp>
        <p:nvSpPr>
          <p:cNvPr id="10" name="A01_0085_text"/>
          <p:cNvSpPr/>
          <p:nvPr/>
        </p:nvSpPr>
        <p:spPr>
          <a:xfrm>
            <a:off x="950976" y="2039112"/>
            <a:ext cx="3136392" cy="676656"/>
          </a:xfrm>
          <a:prstGeom prst="rect">
            <a:avLst/>
          </a:prstGeom>
          <a:noFill/>
          <a:ln/>
        </p:spPr>
        <p:txBody>
          <a:bodyPr wrap="square" lIns="0" tIns="0" rIns="0" bIns="0" rtlCol="0" anchor="t">
            <a:normAutofit/>
          </a:bodyPr>
          <a:lstStyle/>
          <a:p>
            <a:pPr marL="0" indent="0" algn="l">
              <a:buNone/>
            </a:pPr>
            <a:r>
              <a:rPr lang="en-US" sz="1600" b="1" dirty="0">
                <a:solidFill>
                  <a:srgbClr val="211E1C"/>
                </a:solidFill>
                <a:latin typeface="Noto Serif SC" pitchFamily="34" charset="0"/>
                <a:ea typeface="Noto Serif SC" pitchFamily="34" charset="-122"/>
                <a:cs typeface="Noto Serif SC" pitchFamily="34" charset="-120"/>
              </a:rPr>
              <a:t>“帮三位老师找共同空闲，</a:t>
            </a:r>
            <a:endParaRPr lang="en-US" sz="1600" dirty="0"/>
          </a:p>
          <a:p>
            <a:pPr marL="0" indent="0" algn="l">
              <a:buNone/>
            </a:pPr>
            <a:r>
              <a:rPr lang="en-US" sz="1600" b="1" dirty="0">
                <a:solidFill>
                  <a:srgbClr val="211E1C"/>
                </a:solidFill>
                <a:latin typeface="Noto Serif SC" pitchFamily="34" charset="0"/>
                <a:ea typeface="Noto Serif SC" pitchFamily="34" charset="-122"/>
                <a:cs typeface="Noto Serif SC" pitchFamily="34" charset="-120"/>
              </a:rPr>
              <a:t>再推荐一间不少于 120 座的教室。”</a:t>
            </a:r>
            <a:endParaRPr lang="en-US" sz="1600" dirty="0"/>
          </a:p>
        </p:txBody>
      </p:sp>
      <p:sp>
        <p:nvSpPr>
          <p:cNvPr id="11" name="A02_0086_text"/>
          <p:cNvSpPr/>
          <p:nvPr/>
        </p:nvSpPr>
        <p:spPr>
          <a:xfrm>
            <a:off x="722376" y="3172968"/>
            <a:ext cx="3310128" cy="384048"/>
          </a:xfrm>
          <a:prstGeom prst="rect">
            <a:avLst/>
          </a:prstGeom>
          <a:noFill/>
          <a:ln/>
        </p:spPr>
        <p:txBody>
          <a:bodyPr wrap="square" lIns="0" tIns="0" rIns="0" bIns="0" rtlCol="0" anchor="ctr">
            <a:normAutofit/>
          </a:bodyPr>
          <a:lstStyle/>
          <a:p>
            <a:pPr marL="0" indent="0" algn="l">
              <a:buNone/>
            </a:pPr>
            <a:r>
              <a:rPr lang="en-US" sz="2000" b="1" dirty="0">
                <a:solidFill>
                  <a:srgbClr val="B83E32"/>
                </a:solidFill>
                <a:latin typeface="MiSans" pitchFamily="34" charset="0"/>
                <a:ea typeface="MiSans" pitchFamily="34" charset="-122"/>
                <a:cs typeface="MiSans" pitchFamily="34" charset="-120"/>
              </a:rPr>
              <a:t>一句人话</a:t>
            </a:r>
            <a:endParaRPr lang="en-US" sz="2000" dirty="0"/>
          </a:p>
        </p:txBody>
      </p:sp>
      <p:sp>
        <p:nvSpPr>
          <p:cNvPr id="12" name="A02_0087_text"/>
          <p:cNvSpPr/>
          <p:nvPr/>
        </p:nvSpPr>
        <p:spPr>
          <a:xfrm>
            <a:off x="731520" y="3639312"/>
            <a:ext cx="3246120" cy="658368"/>
          </a:xfrm>
          <a:prstGeom prst="rect">
            <a:avLst/>
          </a:prstGeom>
          <a:noFill/>
          <a:ln/>
        </p:spPr>
        <p:txBody>
          <a:bodyPr wrap="square" lIns="0" tIns="0" rIns="0" bIns="0" rtlCol="0" anchor="t">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不需要填写复杂表单，也不需要知道背后有哪些智能体和工具。</a:t>
            </a:r>
            <a:endParaRPr lang="en-US" sz="1300" dirty="0"/>
          </a:p>
        </p:txBody>
      </p:sp>
      <p:sp>
        <p:nvSpPr>
          <p:cNvPr id="13" name="A03_0088_text"/>
          <p:cNvSpPr/>
          <p:nvPr/>
        </p:nvSpPr>
        <p:spPr>
          <a:xfrm>
            <a:off x="4910328" y="1847088"/>
            <a:ext cx="658368" cy="320040"/>
          </a:xfrm>
          <a:prstGeom prst="rect">
            <a:avLst/>
          </a:prstGeom>
          <a:noFill/>
          <a:ln/>
        </p:spPr>
        <p:txBody>
          <a:bodyPr wrap="square" lIns="0" tIns="0" rIns="0" bIns="0" rtlCol="0" anchor="ctr">
            <a:normAutofit/>
          </a:bodyPr>
          <a:lstStyle/>
          <a:p>
            <a:pPr marL="0" indent="0" algn="l">
              <a:buNone/>
            </a:pPr>
            <a:r>
              <a:rPr lang="en-US" sz="1100" b="1" dirty="0">
                <a:solidFill>
                  <a:srgbClr val="E65442"/>
                </a:solidFill>
                <a:latin typeface="MiSans" pitchFamily="34" charset="0"/>
                <a:ea typeface="MiSans" pitchFamily="34" charset="-122"/>
                <a:cs typeface="MiSans" pitchFamily="34" charset="-120"/>
              </a:rPr>
              <a:t>01</a:t>
            </a:r>
            <a:endParaRPr lang="en-US" sz="1100" dirty="0"/>
          </a:p>
        </p:txBody>
      </p:sp>
      <p:sp>
        <p:nvSpPr>
          <p:cNvPr id="14" name="A03_0089_line"/>
          <p:cNvSpPr/>
          <p:nvPr/>
        </p:nvSpPr>
        <p:spPr>
          <a:xfrm>
            <a:off x="4910328" y="2276856"/>
            <a:ext cx="1225296" cy="0"/>
          </a:xfrm>
          <a:prstGeom prst="line">
            <a:avLst/>
          </a:prstGeom>
          <a:noFill/>
          <a:ln w="35560">
            <a:solidFill>
              <a:srgbClr val="E65442"/>
            </a:solidFill>
            <a:prstDash val="solid"/>
          </a:ln>
        </p:spPr>
      </p:sp>
      <p:sp>
        <p:nvSpPr>
          <p:cNvPr id="15" name="A03_0090_text"/>
          <p:cNvSpPr/>
          <p:nvPr/>
        </p:nvSpPr>
        <p:spPr>
          <a:xfrm>
            <a:off x="4910328" y="2542032"/>
            <a:ext cx="1298448" cy="438912"/>
          </a:xfrm>
          <a:prstGeom prst="rect">
            <a:avLst/>
          </a:prstGeom>
          <a:noFill/>
          <a:ln/>
        </p:spPr>
        <p:txBody>
          <a:bodyPr wrap="square" lIns="0" tIns="0" rIns="0" bIns="0" rtlCol="0" anchor="ctr">
            <a:normAutofit/>
          </a:bodyPr>
          <a:lstStyle/>
          <a:p>
            <a:pPr marL="0" indent="0" algn="l">
              <a:buNone/>
            </a:pPr>
            <a:r>
              <a:rPr lang="en-US" sz="1700" b="1" dirty="0">
                <a:solidFill>
                  <a:srgbClr val="E65442"/>
                </a:solidFill>
                <a:latin typeface="Noto Serif SC" pitchFamily="34" charset="0"/>
                <a:ea typeface="Noto Serif SC" pitchFamily="34" charset="-122"/>
                <a:cs typeface="Noto Serif SC" pitchFamily="34" charset="-120"/>
              </a:rPr>
              <a:t>听懂问题</a:t>
            </a:r>
            <a:endParaRPr lang="en-US" sz="1700" dirty="0"/>
          </a:p>
        </p:txBody>
      </p:sp>
      <p:sp>
        <p:nvSpPr>
          <p:cNvPr id="16" name="A03_0091_text"/>
          <p:cNvSpPr/>
          <p:nvPr/>
        </p:nvSpPr>
        <p:spPr>
          <a:xfrm>
            <a:off x="4910328" y="3090672"/>
            <a:ext cx="1298448" cy="566928"/>
          </a:xfrm>
          <a:prstGeom prst="rect">
            <a:avLst/>
          </a:prstGeom>
          <a:noFill/>
          <a:ln/>
        </p:spPr>
        <p:txBody>
          <a:bodyPr wrap="square" lIns="0" tIns="0" rIns="0" bIns="0" rtlCol="0" anchor="t">
            <a:normAutofit/>
          </a:bodyPr>
          <a:lstStyle/>
          <a:p>
            <a:pPr marL="0" indent="0" algn="l">
              <a:buNone/>
            </a:pPr>
            <a:r>
              <a:rPr lang="en-US" sz="1120" dirty="0">
                <a:solidFill>
                  <a:srgbClr val="544B46"/>
                </a:solidFill>
                <a:latin typeface="MiSans" pitchFamily="34" charset="0"/>
                <a:ea typeface="MiSans" pitchFamily="34" charset="-122"/>
                <a:cs typeface="MiSans" pitchFamily="34" charset="-120"/>
              </a:rPr>
              <a:t>识别对象和目标</a:t>
            </a:r>
            <a:endParaRPr lang="en-US" sz="1120" dirty="0"/>
          </a:p>
        </p:txBody>
      </p:sp>
      <p:sp>
        <p:nvSpPr>
          <p:cNvPr id="17" name="A03_0092_arrow"/>
          <p:cNvSpPr/>
          <p:nvPr/>
        </p:nvSpPr>
        <p:spPr>
          <a:xfrm>
            <a:off x="6172200" y="2414016"/>
            <a:ext cx="237744" cy="0"/>
          </a:xfrm>
          <a:prstGeom prst="line">
            <a:avLst/>
          </a:prstGeom>
          <a:noFill/>
          <a:ln w="16510">
            <a:solidFill>
              <a:srgbClr val="DDD2CA"/>
            </a:solidFill>
            <a:prstDash val="solid"/>
            <a:headEnd type="none"/>
            <a:tailEnd type="triangle"/>
          </a:ln>
        </p:spPr>
      </p:sp>
      <p:sp>
        <p:nvSpPr>
          <p:cNvPr id="18" name="A04_0093_text"/>
          <p:cNvSpPr/>
          <p:nvPr/>
        </p:nvSpPr>
        <p:spPr>
          <a:xfrm>
            <a:off x="6492240" y="1847088"/>
            <a:ext cx="658368" cy="320040"/>
          </a:xfrm>
          <a:prstGeom prst="rect">
            <a:avLst/>
          </a:prstGeom>
          <a:noFill/>
          <a:ln/>
        </p:spPr>
        <p:txBody>
          <a:bodyPr wrap="square" lIns="0" tIns="0" rIns="0" bIns="0" rtlCol="0" anchor="ctr">
            <a:normAutofit/>
          </a:bodyPr>
          <a:lstStyle/>
          <a:p>
            <a:pPr marL="0" indent="0" algn="l">
              <a:buNone/>
            </a:pPr>
            <a:r>
              <a:rPr lang="en-US" sz="1100" b="1" dirty="0">
                <a:solidFill>
                  <a:srgbClr val="B96B2E"/>
                </a:solidFill>
                <a:latin typeface="MiSans" pitchFamily="34" charset="0"/>
                <a:ea typeface="MiSans" pitchFamily="34" charset="-122"/>
                <a:cs typeface="MiSans" pitchFamily="34" charset="-120"/>
              </a:rPr>
              <a:t>02</a:t>
            </a:r>
            <a:endParaRPr lang="en-US" sz="1100" dirty="0"/>
          </a:p>
        </p:txBody>
      </p:sp>
      <p:sp>
        <p:nvSpPr>
          <p:cNvPr id="19" name="A04_0094_line"/>
          <p:cNvSpPr/>
          <p:nvPr/>
        </p:nvSpPr>
        <p:spPr>
          <a:xfrm>
            <a:off x="6492240" y="2276856"/>
            <a:ext cx="1225296" cy="0"/>
          </a:xfrm>
          <a:prstGeom prst="line">
            <a:avLst/>
          </a:prstGeom>
          <a:noFill/>
          <a:ln w="35560">
            <a:solidFill>
              <a:srgbClr val="B96B2E"/>
            </a:solidFill>
            <a:prstDash val="solid"/>
          </a:ln>
        </p:spPr>
      </p:sp>
      <p:sp>
        <p:nvSpPr>
          <p:cNvPr id="20" name="A04_0095_text"/>
          <p:cNvSpPr/>
          <p:nvPr/>
        </p:nvSpPr>
        <p:spPr>
          <a:xfrm>
            <a:off x="6492240" y="2542032"/>
            <a:ext cx="1298448" cy="438912"/>
          </a:xfrm>
          <a:prstGeom prst="rect">
            <a:avLst/>
          </a:prstGeom>
          <a:noFill/>
          <a:ln/>
        </p:spPr>
        <p:txBody>
          <a:bodyPr wrap="square" lIns="0" tIns="0" rIns="0" bIns="0" rtlCol="0" anchor="ctr">
            <a:normAutofit/>
          </a:bodyPr>
          <a:lstStyle/>
          <a:p>
            <a:pPr marL="0" indent="0" algn="l">
              <a:buNone/>
            </a:pPr>
            <a:r>
              <a:rPr lang="en-US" sz="1700" b="1" dirty="0">
                <a:solidFill>
                  <a:srgbClr val="B96B2E"/>
                </a:solidFill>
                <a:latin typeface="Noto Serif SC" pitchFamily="34" charset="0"/>
                <a:ea typeface="Noto Serif SC" pitchFamily="34" charset="-122"/>
                <a:cs typeface="Noto Serif SC" pitchFamily="34" charset="-120"/>
              </a:rPr>
              <a:t>分给专家</a:t>
            </a:r>
            <a:endParaRPr lang="en-US" sz="1700" dirty="0"/>
          </a:p>
        </p:txBody>
      </p:sp>
      <p:sp>
        <p:nvSpPr>
          <p:cNvPr id="21" name="A04_0096_text"/>
          <p:cNvSpPr/>
          <p:nvPr/>
        </p:nvSpPr>
        <p:spPr>
          <a:xfrm>
            <a:off x="6492240" y="3090672"/>
            <a:ext cx="1298448" cy="566928"/>
          </a:xfrm>
          <a:prstGeom prst="rect">
            <a:avLst/>
          </a:prstGeom>
          <a:noFill/>
          <a:ln/>
        </p:spPr>
        <p:txBody>
          <a:bodyPr wrap="square" lIns="0" tIns="0" rIns="0" bIns="0" rtlCol="0" anchor="t">
            <a:normAutofit/>
          </a:bodyPr>
          <a:lstStyle/>
          <a:p>
            <a:pPr marL="0" indent="0" algn="l">
              <a:buNone/>
            </a:pPr>
            <a:r>
              <a:rPr lang="en-US" sz="1120" dirty="0">
                <a:solidFill>
                  <a:srgbClr val="544B46"/>
                </a:solidFill>
                <a:latin typeface="MiSans" pitchFamily="34" charset="0"/>
                <a:ea typeface="MiSans" pitchFamily="34" charset="-122"/>
                <a:cs typeface="MiSans" pitchFamily="34" charset="-120"/>
              </a:rPr>
              <a:t>不同角色接力</a:t>
            </a:r>
            <a:endParaRPr lang="en-US" sz="1120" dirty="0"/>
          </a:p>
        </p:txBody>
      </p:sp>
      <p:sp>
        <p:nvSpPr>
          <p:cNvPr id="22" name="A04_0097_arrow"/>
          <p:cNvSpPr/>
          <p:nvPr/>
        </p:nvSpPr>
        <p:spPr>
          <a:xfrm>
            <a:off x="7754112" y="2414016"/>
            <a:ext cx="237744" cy="0"/>
          </a:xfrm>
          <a:prstGeom prst="line">
            <a:avLst/>
          </a:prstGeom>
          <a:noFill/>
          <a:ln w="16510">
            <a:solidFill>
              <a:srgbClr val="DDD2CA"/>
            </a:solidFill>
            <a:prstDash val="solid"/>
            <a:headEnd type="none"/>
            <a:tailEnd type="triangle"/>
          </a:ln>
        </p:spPr>
      </p:sp>
      <p:sp>
        <p:nvSpPr>
          <p:cNvPr id="23" name="A05_0098_text"/>
          <p:cNvSpPr/>
          <p:nvPr/>
        </p:nvSpPr>
        <p:spPr>
          <a:xfrm>
            <a:off x="8074152" y="1847088"/>
            <a:ext cx="658368" cy="320040"/>
          </a:xfrm>
          <a:prstGeom prst="rect">
            <a:avLst/>
          </a:prstGeom>
          <a:noFill/>
          <a:ln/>
        </p:spPr>
        <p:txBody>
          <a:bodyPr wrap="square" lIns="0" tIns="0" rIns="0" bIns="0" rtlCol="0" anchor="ctr">
            <a:normAutofit/>
          </a:bodyPr>
          <a:lstStyle/>
          <a:p>
            <a:pPr marL="0" indent="0" algn="l">
              <a:buNone/>
            </a:pPr>
            <a:r>
              <a:rPr lang="en-US" sz="1100" b="1" dirty="0">
                <a:solidFill>
                  <a:srgbClr val="237F69"/>
                </a:solidFill>
                <a:latin typeface="MiSans" pitchFamily="34" charset="0"/>
                <a:ea typeface="MiSans" pitchFamily="34" charset="-122"/>
                <a:cs typeface="MiSans" pitchFamily="34" charset="-120"/>
              </a:rPr>
              <a:t>03</a:t>
            </a:r>
            <a:endParaRPr lang="en-US" sz="1100" dirty="0"/>
          </a:p>
        </p:txBody>
      </p:sp>
      <p:sp>
        <p:nvSpPr>
          <p:cNvPr id="24" name="A05_0099_line"/>
          <p:cNvSpPr/>
          <p:nvPr/>
        </p:nvSpPr>
        <p:spPr>
          <a:xfrm>
            <a:off x="8074152" y="2276856"/>
            <a:ext cx="1225296" cy="0"/>
          </a:xfrm>
          <a:prstGeom prst="line">
            <a:avLst/>
          </a:prstGeom>
          <a:noFill/>
          <a:ln w="35560">
            <a:solidFill>
              <a:srgbClr val="237F69"/>
            </a:solidFill>
            <a:prstDash val="solid"/>
          </a:ln>
        </p:spPr>
      </p:sp>
      <p:sp>
        <p:nvSpPr>
          <p:cNvPr id="25" name="A05_0100_text"/>
          <p:cNvSpPr/>
          <p:nvPr/>
        </p:nvSpPr>
        <p:spPr>
          <a:xfrm>
            <a:off x="8074152" y="2542032"/>
            <a:ext cx="1298448" cy="438912"/>
          </a:xfrm>
          <a:prstGeom prst="rect">
            <a:avLst/>
          </a:prstGeom>
          <a:noFill/>
          <a:ln/>
        </p:spPr>
        <p:txBody>
          <a:bodyPr wrap="square" lIns="0" tIns="0" rIns="0" bIns="0" rtlCol="0" anchor="ctr">
            <a:normAutofit/>
          </a:bodyPr>
          <a:lstStyle/>
          <a:p>
            <a:pPr marL="0" indent="0" algn="l">
              <a:buNone/>
            </a:pPr>
            <a:r>
              <a:rPr lang="en-US" sz="1700" b="1" dirty="0">
                <a:solidFill>
                  <a:srgbClr val="237F69"/>
                </a:solidFill>
                <a:latin typeface="Noto Serif SC" pitchFamily="34" charset="0"/>
                <a:ea typeface="Noto Serif SC" pitchFamily="34" charset="-122"/>
                <a:cs typeface="Noto Serif SC" pitchFamily="34" charset="-120"/>
              </a:rPr>
              <a:t>算清事实</a:t>
            </a:r>
            <a:endParaRPr lang="en-US" sz="1700" dirty="0"/>
          </a:p>
        </p:txBody>
      </p:sp>
      <p:sp>
        <p:nvSpPr>
          <p:cNvPr id="26" name="A05_0101_text"/>
          <p:cNvSpPr/>
          <p:nvPr/>
        </p:nvSpPr>
        <p:spPr>
          <a:xfrm>
            <a:off x="8074152" y="3090672"/>
            <a:ext cx="1298448" cy="566928"/>
          </a:xfrm>
          <a:prstGeom prst="rect">
            <a:avLst/>
          </a:prstGeom>
          <a:noFill/>
          <a:ln/>
        </p:spPr>
        <p:txBody>
          <a:bodyPr wrap="square" lIns="0" tIns="0" rIns="0" bIns="0" rtlCol="0" anchor="t">
            <a:normAutofit/>
          </a:bodyPr>
          <a:lstStyle/>
          <a:p>
            <a:pPr marL="0" indent="0" algn="l">
              <a:buNone/>
            </a:pPr>
            <a:r>
              <a:rPr lang="en-US" sz="1120" dirty="0">
                <a:solidFill>
                  <a:srgbClr val="544B46"/>
                </a:solidFill>
                <a:latin typeface="MiSans" pitchFamily="34" charset="0"/>
                <a:ea typeface="MiSans" pitchFamily="34" charset="-122"/>
                <a:cs typeface="MiSans" pitchFamily="34" charset="-120"/>
              </a:rPr>
              <a:t>工具查询与计算</a:t>
            </a:r>
            <a:endParaRPr lang="en-US" sz="1120" dirty="0"/>
          </a:p>
        </p:txBody>
      </p:sp>
      <p:sp>
        <p:nvSpPr>
          <p:cNvPr id="27" name="A05_0102_arrow"/>
          <p:cNvSpPr/>
          <p:nvPr/>
        </p:nvSpPr>
        <p:spPr>
          <a:xfrm>
            <a:off x="9336024" y="2414016"/>
            <a:ext cx="237744" cy="0"/>
          </a:xfrm>
          <a:prstGeom prst="line">
            <a:avLst/>
          </a:prstGeom>
          <a:noFill/>
          <a:ln w="16510">
            <a:solidFill>
              <a:srgbClr val="DDD2CA"/>
            </a:solidFill>
            <a:prstDash val="solid"/>
            <a:headEnd type="none"/>
            <a:tailEnd type="triangle"/>
          </a:ln>
        </p:spPr>
      </p:sp>
      <p:sp>
        <p:nvSpPr>
          <p:cNvPr id="28" name="A06_0103_text"/>
          <p:cNvSpPr/>
          <p:nvPr/>
        </p:nvSpPr>
        <p:spPr>
          <a:xfrm>
            <a:off x="9656064" y="1847088"/>
            <a:ext cx="658368" cy="320040"/>
          </a:xfrm>
          <a:prstGeom prst="rect">
            <a:avLst/>
          </a:prstGeom>
          <a:noFill/>
          <a:ln/>
        </p:spPr>
        <p:txBody>
          <a:bodyPr wrap="square" lIns="0" tIns="0" rIns="0" bIns="0" rtlCol="0" anchor="ctr">
            <a:normAutofit/>
          </a:bodyPr>
          <a:lstStyle/>
          <a:p>
            <a:pPr marL="0" indent="0" algn="l">
              <a:buNone/>
            </a:pPr>
            <a:r>
              <a:rPr lang="en-US" sz="1100" b="1" dirty="0">
                <a:solidFill>
                  <a:srgbClr val="507BA0"/>
                </a:solidFill>
                <a:latin typeface="MiSans" pitchFamily="34" charset="0"/>
                <a:ea typeface="MiSans" pitchFamily="34" charset="-122"/>
                <a:cs typeface="MiSans" pitchFamily="34" charset="-120"/>
              </a:rPr>
              <a:t>04</a:t>
            </a:r>
            <a:endParaRPr lang="en-US" sz="1100" dirty="0"/>
          </a:p>
        </p:txBody>
      </p:sp>
      <p:sp>
        <p:nvSpPr>
          <p:cNvPr id="29" name="A06_0104_line"/>
          <p:cNvSpPr/>
          <p:nvPr/>
        </p:nvSpPr>
        <p:spPr>
          <a:xfrm>
            <a:off x="9656064" y="2276856"/>
            <a:ext cx="1225296" cy="0"/>
          </a:xfrm>
          <a:prstGeom prst="line">
            <a:avLst/>
          </a:prstGeom>
          <a:noFill/>
          <a:ln w="35560">
            <a:solidFill>
              <a:srgbClr val="507BA0"/>
            </a:solidFill>
            <a:prstDash val="solid"/>
          </a:ln>
        </p:spPr>
      </p:sp>
      <p:sp>
        <p:nvSpPr>
          <p:cNvPr id="30" name="A06_0105_text"/>
          <p:cNvSpPr/>
          <p:nvPr/>
        </p:nvSpPr>
        <p:spPr>
          <a:xfrm>
            <a:off x="9656064" y="2542032"/>
            <a:ext cx="1298448" cy="438912"/>
          </a:xfrm>
          <a:prstGeom prst="rect">
            <a:avLst/>
          </a:prstGeom>
          <a:noFill/>
          <a:ln/>
        </p:spPr>
        <p:txBody>
          <a:bodyPr wrap="square" lIns="0" tIns="0" rIns="0" bIns="0" rtlCol="0" anchor="ctr">
            <a:normAutofit/>
          </a:bodyPr>
          <a:lstStyle/>
          <a:p>
            <a:pPr marL="0" indent="0" algn="l">
              <a:buNone/>
            </a:pPr>
            <a:r>
              <a:rPr lang="en-US" sz="1700" b="1" dirty="0">
                <a:solidFill>
                  <a:srgbClr val="507BA0"/>
                </a:solidFill>
                <a:latin typeface="Noto Serif SC" pitchFamily="34" charset="0"/>
                <a:ea typeface="Noto Serif SC" pitchFamily="34" charset="-122"/>
                <a:cs typeface="Noto Serif SC" pitchFamily="34" charset="-120"/>
              </a:rPr>
              <a:t>核验结论</a:t>
            </a:r>
            <a:endParaRPr lang="en-US" sz="1700" dirty="0"/>
          </a:p>
        </p:txBody>
      </p:sp>
      <p:sp>
        <p:nvSpPr>
          <p:cNvPr id="31" name="A06_0106_text"/>
          <p:cNvSpPr/>
          <p:nvPr/>
        </p:nvSpPr>
        <p:spPr>
          <a:xfrm>
            <a:off x="9656064" y="3090672"/>
            <a:ext cx="1298448" cy="566928"/>
          </a:xfrm>
          <a:prstGeom prst="rect">
            <a:avLst/>
          </a:prstGeom>
          <a:noFill/>
          <a:ln/>
        </p:spPr>
        <p:txBody>
          <a:bodyPr wrap="square" lIns="0" tIns="0" rIns="0" bIns="0" rtlCol="0" anchor="t">
            <a:normAutofit/>
          </a:bodyPr>
          <a:lstStyle/>
          <a:p>
            <a:pPr marL="0" indent="0" algn="l">
              <a:buNone/>
            </a:pPr>
            <a:r>
              <a:rPr lang="en-US" sz="1120" dirty="0">
                <a:solidFill>
                  <a:srgbClr val="544B46"/>
                </a:solidFill>
                <a:latin typeface="MiSans" pitchFamily="34" charset="0"/>
                <a:ea typeface="MiSans" pitchFamily="34" charset="-122"/>
                <a:cs typeface="MiSans" pitchFamily="34" charset="-120"/>
              </a:rPr>
              <a:t>结果可追溯</a:t>
            </a:r>
            <a:endParaRPr lang="en-US" sz="1120" dirty="0"/>
          </a:p>
        </p:txBody>
      </p:sp>
      <p:sp>
        <p:nvSpPr>
          <p:cNvPr id="32" name="A07_0107_line"/>
          <p:cNvSpPr/>
          <p:nvPr/>
        </p:nvSpPr>
        <p:spPr>
          <a:xfrm>
            <a:off x="4882896" y="4224528"/>
            <a:ext cx="6080760" cy="0"/>
          </a:xfrm>
          <a:prstGeom prst="line">
            <a:avLst/>
          </a:prstGeom>
          <a:noFill/>
          <a:ln w="12700">
            <a:solidFill>
              <a:srgbClr val="DDD2CA"/>
            </a:solidFill>
            <a:prstDash val="solid"/>
          </a:ln>
        </p:spPr>
      </p:sp>
      <p:sp>
        <p:nvSpPr>
          <p:cNvPr id="33" name="A07_0108_text"/>
          <p:cNvSpPr/>
          <p:nvPr/>
        </p:nvSpPr>
        <p:spPr>
          <a:xfrm>
            <a:off x="4901184" y="4453128"/>
            <a:ext cx="6108192" cy="457200"/>
          </a:xfrm>
          <a:prstGeom prst="rect">
            <a:avLst/>
          </a:prstGeom>
          <a:noFill/>
          <a:ln/>
        </p:spPr>
        <p:txBody>
          <a:bodyPr wrap="square" lIns="0" tIns="0" rIns="0" bIns="0" rtlCol="0" anchor="ctr">
            <a:normAutofit/>
          </a:bodyPr>
          <a:lstStyle/>
          <a:p>
            <a:pPr marL="0" indent="0" algn="l">
              <a:buNone/>
            </a:pPr>
            <a:r>
              <a:rPr lang="en-US" sz="1400" b="1" dirty="0">
                <a:solidFill>
                  <a:srgbClr val="211E1C"/>
                </a:solidFill>
                <a:latin typeface="MiSans" pitchFamily="34" charset="0"/>
                <a:ea typeface="MiSans" pitchFamily="34" charset="-122"/>
                <a:cs typeface="MiSans" pitchFamily="34" charset="-120"/>
              </a:rPr>
              <a:t>模型负责听懂人话和组织协作；CampusTools 负责把动态校园事实算清楚。</a:t>
            </a:r>
            <a:endParaRPr lang="en-US" sz="1400" dirty="0"/>
          </a:p>
        </p:txBody>
      </p:sp>
      <p:sp>
        <p:nvSpPr>
          <p:cNvPr id="34" name="A08_0109_text"/>
          <p:cNvSpPr/>
          <p:nvPr/>
        </p:nvSpPr>
        <p:spPr>
          <a:xfrm>
            <a:off x="4901184" y="5029200"/>
            <a:ext cx="6080760" cy="384048"/>
          </a:xfrm>
          <a:prstGeom prst="rect">
            <a:avLst/>
          </a:prstGeom>
          <a:noFill/>
          <a:ln/>
        </p:spPr>
        <p:txBody>
          <a:bodyPr wrap="square" lIns="0" tIns="0" rIns="0" bIns="0" rtlCol="0" anchor="ctr">
            <a:normAutofit/>
          </a:bodyPr>
          <a:lstStyle/>
          <a:p>
            <a:pPr marL="0" indent="0" algn="l">
              <a:buNone/>
            </a:pPr>
            <a:r>
              <a:rPr lang="en-US" sz="1300" dirty="0">
                <a:solidFill>
                  <a:srgbClr val="544B46"/>
                </a:solidFill>
                <a:latin typeface="MiSans" pitchFamily="34" charset="0"/>
                <a:ea typeface="MiSans" pitchFamily="34" charset="-122"/>
                <a:cs typeface="MiSans" pitchFamily="34" charset="-120"/>
              </a:rPr>
              <a:t>结果进入统一结果卡，可以继续追问“那看看他的课表”“再查一下风险”。</a:t>
            </a:r>
            <a:endParaRPr lang="en-US" sz="1300" dirty="0"/>
          </a:p>
        </p:txBody>
      </p:sp>
      <p:sp>
        <p:nvSpPr>
          <p:cNvPr id="35" name="A08_0110_text"/>
          <p:cNvSpPr/>
          <p:nvPr/>
        </p:nvSpPr>
        <p:spPr>
          <a:xfrm>
            <a:off x="4901184" y="5650992"/>
            <a:ext cx="2514600" cy="256032"/>
          </a:xfrm>
          <a:prstGeom prst="rect">
            <a:avLst/>
          </a:prstGeom>
          <a:noFill/>
          <a:ln/>
        </p:spPr>
        <p:txBody>
          <a:bodyPr wrap="square" lIns="0" tIns="0" rIns="0" bIns="0" rtlCol="0" anchor="ctr">
            <a:normAutofit/>
          </a:bodyPr>
          <a:lstStyle/>
          <a:p>
            <a:pPr marL="0" indent="0" algn="l">
              <a:buNone/>
            </a:pPr>
            <a:r>
              <a:rPr lang="en-US" sz="1020" b="1" dirty="0">
                <a:solidFill>
                  <a:srgbClr val="544B46"/>
                </a:solidFill>
                <a:latin typeface="MiSans" pitchFamily="34" charset="0"/>
                <a:ea typeface="MiSans" pitchFamily="34" charset="-122"/>
                <a:cs typeface="MiSans" pitchFamily="34" charset="-120"/>
              </a:rPr>
              <a:t>4 个智能体 · 13 项工具 · 14 组协作绑定</a:t>
            </a:r>
            <a:endParaRPr lang="en-US" sz="1020" dirty="0"/>
          </a:p>
        </p:txBody>
      </p:sp>
      <p:sp>
        <p:nvSpPr>
          <p:cNvPr id="36" name="A08_0111_label-bg"/>
          <p:cNvSpPr/>
          <p:nvPr/>
        </p:nvSpPr>
        <p:spPr>
          <a:xfrm>
            <a:off x="7735824" y="5632704"/>
            <a:ext cx="2798064" cy="283464"/>
          </a:xfrm>
          <a:prstGeom prst="rect">
            <a:avLst/>
          </a:prstGeom>
          <a:solidFill>
            <a:srgbClr val="E65442"/>
          </a:solidFill>
          <a:ln w="12700">
            <a:solidFill>
              <a:srgbClr val="FFFFFF">
                <a:alpha val="0"/>
              </a:srgbClr>
            </a:solidFill>
            <a:prstDash val="solid"/>
          </a:ln>
        </p:spPr>
      </p:sp>
      <p:sp>
        <p:nvSpPr>
          <p:cNvPr id="37" name="A08_0112_text"/>
          <p:cNvSpPr/>
          <p:nvPr/>
        </p:nvSpPr>
        <p:spPr>
          <a:xfrm>
            <a:off x="7808976" y="5650992"/>
            <a:ext cx="2651760" cy="237744"/>
          </a:xfrm>
          <a:prstGeom prst="rect">
            <a:avLst/>
          </a:prstGeom>
          <a:noFill/>
          <a:ln/>
        </p:spPr>
        <p:txBody>
          <a:bodyPr wrap="square" lIns="0" tIns="0" rIns="0" bIns="0" rtlCol="0" anchor="ctr">
            <a:normAutofit/>
          </a:bodyPr>
          <a:lstStyle/>
          <a:p>
            <a:pPr marL="0" indent="0" algn="ctr">
              <a:buNone/>
            </a:pPr>
            <a:r>
              <a:rPr lang="en-US" sz="920" b="1" dirty="0">
                <a:solidFill>
                  <a:srgbClr val="FFFFFF"/>
                </a:solidFill>
                <a:latin typeface="MiSans" pitchFamily="34" charset="0"/>
                <a:ea typeface="MiSans" pitchFamily="34" charset="-122"/>
                <a:cs typeface="MiSans" pitchFamily="34" charset="-120"/>
              </a:rPr>
              <a:t>查得清 · 算得出 · 验得过 · 接得住</a:t>
            </a:r>
            <a:endParaRPr lang="en-US" sz="9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38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38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80"/>
                                        <p:tgtEl>
                                          <p:spTgt spid="13"/>
                                        </p:tgtEl>
                                      </p:cBhvr>
                                    </p:animEffect>
                                  </p:childTnLst>
                                </p:cTn>
                              </p:par>
                              <p:par>
                                <p:cTn id="24" presetID="10" presetClass="entr" presetSubtype="0" fill="hold"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8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8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8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8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380"/>
                                        <p:tgtEl>
                                          <p:spTgt spid="18"/>
                                        </p:tgtEl>
                                      </p:cBhvr>
                                    </p:animEffect>
                                  </p:childTnLst>
                                </p:cTn>
                              </p:par>
                              <p:par>
                                <p:cTn id="41" presetID="10" presetClass="entr" presetSubtype="0" fill="hold"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38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8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80"/>
                                        <p:tgtEl>
                                          <p:spTgt spid="21"/>
                                        </p:tgtEl>
                                      </p:cBhvr>
                                    </p:animEffect>
                                  </p:childTnLst>
                                </p:cTn>
                              </p:par>
                              <p:par>
                                <p:cTn id="50" presetID="10" presetClass="entr" presetSubtype="0" fill="hold"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80"/>
                                        <p:tgtEl>
                                          <p:spTgt spid="2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80"/>
                                        <p:tgtEl>
                                          <p:spTgt spid="23"/>
                                        </p:tgtEl>
                                      </p:cBhvr>
                                    </p:animEffect>
                                  </p:childTnLst>
                                </p:cTn>
                              </p:par>
                              <p:par>
                                <p:cTn id="58" presetID="10" presetClass="entr" presetSubtype="0" fill="hold"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80"/>
                                        <p:tgtEl>
                                          <p:spTgt spid="2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38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380"/>
                                        <p:tgtEl>
                                          <p:spTgt spid="26"/>
                                        </p:tgtEl>
                                      </p:cBhvr>
                                    </p:animEffect>
                                  </p:childTnLst>
                                </p:cTn>
                              </p:par>
                              <p:par>
                                <p:cTn id="67" presetID="10" presetClass="entr" presetSubtype="0" fill="hold"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38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80"/>
                                        <p:tgtEl>
                                          <p:spTgt spid="28"/>
                                        </p:tgtEl>
                                      </p:cBhvr>
                                    </p:animEffect>
                                  </p:childTnLst>
                                </p:cTn>
                              </p:par>
                              <p:par>
                                <p:cTn id="75" presetID="10" presetClass="entr" presetSubtype="0" fill="hold"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8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8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80"/>
                                        <p:tgtEl>
                                          <p:spTgt spid="31"/>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380"/>
                                        <p:tgtEl>
                                          <p:spTgt spid="3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380"/>
                                        <p:tgtEl>
                                          <p:spTgt spid="33"/>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4"/>
                                        </p:tgtEl>
                                        <p:attrNameLst>
                                          <p:attrName>style.visibility</p:attrName>
                                        </p:attrNameLst>
                                      </p:cBhvr>
                                      <p:to>
                                        <p:strVal val="visible"/>
                                      </p:to>
                                    </p:set>
                                    <p:animEffect transition="in" filter="fade">
                                      <p:cBhvr>
                                        <p:cTn id="96" dur="380"/>
                                        <p:tgtEl>
                                          <p:spTgt spid="3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380"/>
                                        <p:tgtEl>
                                          <p:spTgt spid="35"/>
                                        </p:tgtEl>
                                      </p:cBhvr>
                                    </p:animEffect>
                                  </p:childTnLst>
                                </p:cTn>
                              </p:par>
                              <p:par>
                                <p:cTn id="100" presetID="10" presetClass="entr" presetSubtype="0" fill="hold" nodeType="withEffect">
                                  <p:stCondLst>
                                    <p:cond delay="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380"/>
                                        <p:tgtEl>
                                          <p:spTgt spid="3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38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5" grpId="0" animBg="1"/>
      <p:bldP spid="16" grpId="0" animBg="1"/>
      <p:bldP spid="18" grpId="0" animBg="1"/>
      <p:bldP spid="20" grpId="0" animBg="1"/>
      <p:bldP spid="21" grpId="0" animBg="1"/>
      <p:bldP spid="23" grpId="0" animBg="1"/>
      <p:bldP spid="25" grpId="0" animBg="1"/>
      <p:bldP spid="26" grpId="0" animBg="1"/>
      <p:bldP spid="28" grpId="0" animBg="1"/>
      <p:bldP spid="30" grpId="0" animBg="1"/>
      <p:bldP spid="31" grpId="0" animBg="1"/>
      <p:bldP spid="33" grpId="0" animBg="1"/>
      <p:bldP spid="34" grpId="0" animBg="1"/>
      <p:bldP spid="35" grpId="0" animBg="1"/>
      <p:bldP spid="3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7F1"/>
        </a:solidFill>
        <a:effectLst/>
      </p:bgPr>
    </p:bg>
    <p:spTree>
      <p:nvGrpSpPr>
        <p:cNvPr id="1" name=""/>
        <p:cNvGrpSpPr/>
        <p:nvPr/>
      </p:nvGrpSpPr>
      <p:grpSpPr>
        <a:xfrm>
          <a:off x="0" y="0"/>
          <a:ext cx="0" cy="0"/>
          <a:chOff x="0" y="0"/>
          <a:chExt cx="0" cy="0"/>
        </a:xfrm>
      </p:grpSpPr>
      <p:sp>
        <p:nvSpPr>
          <p:cNvPr id="2" name="S00_0113_background-field"/>
          <p:cNvSpPr/>
          <p:nvPr/>
        </p:nvSpPr>
        <p:spPr>
          <a:xfrm>
            <a:off x="8641080" y="-1554480"/>
            <a:ext cx="5303520" cy="3749040"/>
          </a:xfrm>
          <a:prstGeom prst="ellipse">
            <a:avLst/>
          </a:prstGeom>
          <a:solidFill>
            <a:srgbClr val="F6DED8">
              <a:alpha val="38000"/>
            </a:srgbClr>
          </a:solidFill>
          <a:ln w="12700">
            <a:solidFill>
              <a:srgbClr val="FFFFFF">
                <a:alpha val="0"/>
              </a:srgbClr>
            </a:solidFill>
            <a:prstDash val="solid"/>
          </a:ln>
        </p:spPr>
      </p:sp>
      <p:sp>
        <p:nvSpPr>
          <p:cNvPr id="3" name="S00_0114_background-arc"/>
          <p:cNvSpPr/>
          <p:nvPr/>
        </p:nvSpPr>
        <p:spPr>
          <a:xfrm rot="1080000">
            <a:off x="-640080" y="4389120"/>
            <a:ext cx="3291840" cy="2286000"/>
          </a:xfrm>
          <a:prstGeom prst="arc">
            <a:avLst/>
          </a:prstGeom>
          <a:solidFill>
            <a:srgbClr val="FFFFFF">
              <a:alpha val="0"/>
            </a:srgbClr>
          </a:solidFill>
          <a:ln w="13970">
            <a:solidFill>
              <a:srgbClr val="E65442">
                <a:alpha val="30000"/>
              </a:srgbClr>
            </a:solidFill>
            <a:prstDash val="solid"/>
          </a:ln>
        </p:spPr>
      </p:sp>
      <p:sp>
        <p:nvSpPr>
          <p:cNvPr id="4" name="S00_0115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学生场景｜从查课到找空间</a:t>
            </a:r>
            <a:endParaRPr lang="en-US" sz="1000" dirty="0"/>
          </a:p>
        </p:txBody>
      </p:sp>
      <p:sp>
        <p:nvSpPr>
          <p:cNvPr id="5" name="S00_0116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一句话查课，也能接着问</a:t>
            </a:r>
            <a:endParaRPr lang="en-US" sz="2700" dirty="0"/>
          </a:p>
        </p:txBody>
      </p:sp>
      <p:sp>
        <p:nvSpPr>
          <p:cNvPr id="6" name="S00_0117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学生不用反复选择查询入口；系统记住对象和时间，把下一句话接下去。</a:t>
            </a:r>
            <a:endParaRPr lang="en-US" sz="1220" dirty="0"/>
          </a:p>
        </p:txBody>
      </p:sp>
      <p:sp>
        <p:nvSpPr>
          <p:cNvPr id="7" name="S00_0118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119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05 / 12</a:t>
            </a:r>
            <a:endParaRPr lang="en-US" sz="850" dirty="0"/>
          </a:p>
        </p:txBody>
      </p:sp>
      <p:sp>
        <p:nvSpPr>
          <p:cNvPr id="9" name="A01_0120_text"/>
          <p:cNvSpPr/>
          <p:nvPr/>
        </p:nvSpPr>
        <p:spPr>
          <a:xfrm>
            <a:off x="749808" y="1773936"/>
            <a:ext cx="438912" cy="274320"/>
          </a:xfrm>
          <a:prstGeom prst="rect">
            <a:avLst/>
          </a:prstGeom>
          <a:noFill/>
          <a:ln/>
        </p:spPr>
        <p:txBody>
          <a:bodyPr wrap="square" lIns="0" tIns="0" rIns="0" bIns="0" rtlCol="0" anchor="ctr">
            <a:normAutofit/>
          </a:bodyPr>
          <a:lstStyle/>
          <a:p>
            <a:pPr marL="0" indent="0" algn="l">
              <a:buNone/>
            </a:pPr>
            <a:r>
              <a:rPr lang="en-US" sz="1000" b="1" dirty="0">
                <a:solidFill>
                  <a:srgbClr val="E65442"/>
                </a:solidFill>
                <a:latin typeface="MiSans" pitchFamily="34" charset="0"/>
                <a:ea typeface="MiSans" pitchFamily="34" charset="-122"/>
                <a:cs typeface="MiSans" pitchFamily="34" charset="-120"/>
              </a:rPr>
              <a:t>01</a:t>
            </a:r>
            <a:endParaRPr lang="en-US" sz="1000" dirty="0"/>
          </a:p>
        </p:txBody>
      </p:sp>
      <p:sp>
        <p:nvSpPr>
          <p:cNvPr id="10" name="A01_0121_text"/>
          <p:cNvSpPr/>
          <p:nvPr/>
        </p:nvSpPr>
        <p:spPr>
          <a:xfrm>
            <a:off x="1298448" y="1755648"/>
            <a:ext cx="3218688" cy="457200"/>
          </a:xfrm>
          <a:prstGeom prst="rect">
            <a:avLst/>
          </a:prstGeom>
          <a:noFill/>
          <a:ln/>
        </p:spPr>
        <p:txBody>
          <a:bodyPr wrap="square" lIns="0" tIns="0" rIns="0" bIns="0" rtlCol="0" anchor="ctr">
            <a:normAutofit/>
          </a:bodyPr>
          <a:lstStyle/>
          <a:p>
            <a:pPr marL="0" indent="0" algn="l">
              <a:buNone/>
            </a:pPr>
            <a:r>
              <a:rPr lang="en-US" sz="1750" b="1" dirty="0">
                <a:solidFill>
                  <a:srgbClr val="211E1C"/>
                </a:solidFill>
                <a:latin typeface="Noto Serif SC" pitchFamily="34" charset="0"/>
                <a:ea typeface="Noto Serif SC" pitchFamily="34" charset="-122"/>
                <a:cs typeface="Noto Serif SC" pitchFamily="34" charset="-120"/>
              </a:rPr>
              <a:t>“查看 01 班第 1 周课表。”</a:t>
            </a:r>
            <a:endParaRPr lang="en-US" sz="1750" dirty="0"/>
          </a:p>
        </p:txBody>
      </p:sp>
      <p:sp>
        <p:nvSpPr>
          <p:cNvPr id="11" name="A01_0122_text"/>
          <p:cNvSpPr/>
          <p:nvPr/>
        </p:nvSpPr>
        <p:spPr>
          <a:xfrm>
            <a:off x="1298448" y="2276856"/>
            <a:ext cx="2926080" cy="274320"/>
          </a:xfrm>
          <a:prstGeom prst="rect">
            <a:avLst/>
          </a:prstGeom>
          <a:noFill/>
          <a:ln/>
        </p:spPr>
        <p:txBody>
          <a:bodyPr wrap="square" lIns="0" tIns="0" rIns="0" bIns="0" rtlCol="0" anchor="ctr">
            <a:normAutofit/>
          </a:bodyPr>
          <a:lstStyle/>
          <a:p>
            <a:pPr marL="0" indent="0" algn="l">
              <a:buNone/>
            </a:pPr>
            <a:r>
              <a:rPr lang="en-US" sz="1120" b="1" dirty="0">
                <a:solidFill>
                  <a:srgbClr val="E65442"/>
                </a:solidFill>
                <a:latin typeface="MiSans" pitchFamily="34" charset="0"/>
                <a:ea typeface="MiSans" pitchFamily="34" charset="-122"/>
                <a:cs typeface="MiSans" pitchFamily="34" charset="-120"/>
              </a:rPr>
              <a:t>先查清课程安排</a:t>
            </a:r>
            <a:endParaRPr lang="en-US" sz="1120" dirty="0"/>
          </a:p>
        </p:txBody>
      </p:sp>
      <p:sp>
        <p:nvSpPr>
          <p:cNvPr id="12" name="A01_0123_arrow"/>
          <p:cNvSpPr/>
          <p:nvPr/>
        </p:nvSpPr>
        <p:spPr>
          <a:xfrm>
            <a:off x="950976" y="2432304"/>
            <a:ext cx="0" cy="457200"/>
          </a:xfrm>
          <a:prstGeom prst="line">
            <a:avLst/>
          </a:prstGeom>
          <a:noFill/>
          <a:ln w="15240">
            <a:solidFill>
              <a:srgbClr val="DDD2CA"/>
            </a:solidFill>
            <a:prstDash val="solid"/>
            <a:headEnd type="none"/>
            <a:tailEnd type="triangle"/>
          </a:ln>
        </p:spPr>
      </p:sp>
      <p:sp>
        <p:nvSpPr>
          <p:cNvPr id="13" name="A02_0124_text"/>
          <p:cNvSpPr/>
          <p:nvPr/>
        </p:nvSpPr>
        <p:spPr>
          <a:xfrm>
            <a:off x="749808" y="2944368"/>
            <a:ext cx="438912" cy="274320"/>
          </a:xfrm>
          <a:prstGeom prst="rect">
            <a:avLst/>
          </a:prstGeom>
          <a:noFill/>
          <a:ln/>
        </p:spPr>
        <p:txBody>
          <a:bodyPr wrap="square" lIns="0" tIns="0" rIns="0" bIns="0" rtlCol="0" anchor="ctr">
            <a:normAutofit/>
          </a:bodyPr>
          <a:lstStyle/>
          <a:p>
            <a:pPr marL="0" indent="0" algn="l">
              <a:buNone/>
            </a:pPr>
            <a:r>
              <a:rPr lang="en-US" sz="1000" b="1" dirty="0">
                <a:solidFill>
                  <a:srgbClr val="B96B2E"/>
                </a:solidFill>
                <a:latin typeface="MiSans" pitchFamily="34" charset="0"/>
                <a:ea typeface="MiSans" pitchFamily="34" charset="-122"/>
                <a:cs typeface="MiSans" pitchFamily="34" charset="-120"/>
              </a:rPr>
              <a:t>02</a:t>
            </a:r>
            <a:endParaRPr lang="en-US" sz="1000" dirty="0"/>
          </a:p>
        </p:txBody>
      </p:sp>
      <p:sp>
        <p:nvSpPr>
          <p:cNvPr id="14" name="A02_0125_text"/>
          <p:cNvSpPr/>
          <p:nvPr/>
        </p:nvSpPr>
        <p:spPr>
          <a:xfrm>
            <a:off x="1298448" y="2926080"/>
            <a:ext cx="3218688" cy="457200"/>
          </a:xfrm>
          <a:prstGeom prst="rect">
            <a:avLst/>
          </a:prstGeom>
          <a:noFill/>
          <a:ln/>
        </p:spPr>
        <p:txBody>
          <a:bodyPr wrap="square" lIns="0" tIns="0" rIns="0" bIns="0" rtlCol="0" anchor="ctr">
            <a:normAutofit/>
          </a:bodyPr>
          <a:lstStyle/>
          <a:p>
            <a:pPr marL="0" indent="0" algn="l">
              <a:buNone/>
            </a:pPr>
            <a:r>
              <a:rPr lang="en-US" sz="1750" b="1" dirty="0">
                <a:solidFill>
                  <a:srgbClr val="211E1C"/>
                </a:solidFill>
                <a:latin typeface="Noto Serif SC" pitchFamily="34" charset="0"/>
                <a:ea typeface="Noto Serif SC" pitchFamily="34" charset="-122"/>
                <a:cs typeface="Noto Serif SC" pitchFamily="34" charset="-120"/>
              </a:rPr>
              <a:t>“只看周三。”</a:t>
            </a:r>
            <a:endParaRPr lang="en-US" sz="1750" dirty="0"/>
          </a:p>
        </p:txBody>
      </p:sp>
      <p:sp>
        <p:nvSpPr>
          <p:cNvPr id="15" name="A02_0126_text"/>
          <p:cNvSpPr/>
          <p:nvPr/>
        </p:nvSpPr>
        <p:spPr>
          <a:xfrm>
            <a:off x="1298448" y="3447288"/>
            <a:ext cx="2926080" cy="274320"/>
          </a:xfrm>
          <a:prstGeom prst="rect">
            <a:avLst/>
          </a:prstGeom>
          <a:noFill/>
          <a:ln/>
        </p:spPr>
        <p:txBody>
          <a:bodyPr wrap="square" lIns="0" tIns="0" rIns="0" bIns="0" rtlCol="0" anchor="ctr">
            <a:normAutofit/>
          </a:bodyPr>
          <a:lstStyle/>
          <a:p>
            <a:pPr marL="0" indent="0" algn="l">
              <a:buNone/>
            </a:pPr>
            <a:r>
              <a:rPr lang="en-US" sz="1120" b="1" dirty="0">
                <a:solidFill>
                  <a:srgbClr val="B96B2E"/>
                </a:solidFill>
                <a:latin typeface="MiSans" pitchFamily="34" charset="0"/>
                <a:ea typeface="MiSans" pitchFamily="34" charset="-122"/>
                <a:cs typeface="MiSans" pitchFamily="34" charset="-120"/>
              </a:rPr>
              <a:t>沿用班级与周次</a:t>
            </a:r>
            <a:endParaRPr lang="en-US" sz="1120" dirty="0"/>
          </a:p>
        </p:txBody>
      </p:sp>
      <p:sp>
        <p:nvSpPr>
          <p:cNvPr id="16" name="A02_0127_arrow"/>
          <p:cNvSpPr/>
          <p:nvPr/>
        </p:nvSpPr>
        <p:spPr>
          <a:xfrm>
            <a:off x="950976" y="3602736"/>
            <a:ext cx="0" cy="457200"/>
          </a:xfrm>
          <a:prstGeom prst="line">
            <a:avLst/>
          </a:prstGeom>
          <a:noFill/>
          <a:ln w="15240">
            <a:solidFill>
              <a:srgbClr val="DDD2CA"/>
            </a:solidFill>
            <a:prstDash val="solid"/>
            <a:headEnd type="none"/>
            <a:tailEnd type="triangle"/>
          </a:ln>
        </p:spPr>
      </p:sp>
      <p:sp>
        <p:nvSpPr>
          <p:cNvPr id="17" name="A03_0128_text"/>
          <p:cNvSpPr/>
          <p:nvPr/>
        </p:nvSpPr>
        <p:spPr>
          <a:xfrm>
            <a:off x="749808" y="4114800"/>
            <a:ext cx="438912" cy="274320"/>
          </a:xfrm>
          <a:prstGeom prst="rect">
            <a:avLst/>
          </a:prstGeom>
          <a:noFill/>
          <a:ln/>
        </p:spPr>
        <p:txBody>
          <a:bodyPr wrap="square" lIns="0" tIns="0" rIns="0" bIns="0" rtlCol="0" anchor="ctr">
            <a:normAutofit/>
          </a:bodyPr>
          <a:lstStyle/>
          <a:p>
            <a:pPr marL="0" indent="0" algn="l">
              <a:buNone/>
            </a:pPr>
            <a:r>
              <a:rPr lang="en-US" sz="1000" b="1" dirty="0">
                <a:solidFill>
                  <a:srgbClr val="237F69"/>
                </a:solidFill>
                <a:latin typeface="MiSans" pitchFamily="34" charset="0"/>
                <a:ea typeface="MiSans" pitchFamily="34" charset="-122"/>
                <a:cs typeface="MiSans" pitchFamily="34" charset="-120"/>
              </a:rPr>
              <a:t>03</a:t>
            </a:r>
            <a:endParaRPr lang="en-US" sz="1000" dirty="0"/>
          </a:p>
        </p:txBody>
      </p:sp>
      <p:sp>
        <p:nvSpPr>
          <p:cNvPr id="18" name="A03_0129_text"/>
          <p:cNvSpPr/>
          <p:nvPr/>
        </p:nvSpPr>
        <p:spPr>
          <a:xfrm>
            <a:off x="1298448" y="4096512"/>
            <a:ext cx="3218688" cy="457200"/>
          </a:xfrm>
          <a:prstGeom prst="rect">
            <a:avLst/>
          </a:prstGeom>
          <a:noFill/>
          <a:ln/>
        </p:spPr>
        <p:txBody>
          <a:bodyPr wrap="square" lIns="0" tIns="0" rIns="0" bIns="0" rtlCol="0" anchor="ctr">
            <a:normAutofit/>
          </a:bodyPr>
          <a:lstStyle/>
          <a:p>
            <a:pPr marL="0" indent="0" algn="l">
              <a:buNone/>
            </a:pPr>
            <a:r>
              <a:rPr lang="en-US" sz="1750" b="1" dirty="0">
                <a:solidFill>
                  <a:srgbClr val="211E1C"/>
                </a:solidFill>
                <a:latin typeface="Noto Serif SC" pitchFamily="34" charset="0"/>
                <a:ea typeface="Noto Serif SC" pitchFamily="34" charset="-122"/>
                <a:cs typeface="Noto Serif SC" pitchFamily="34" charset="-120"/>
              </a:rPr>
              <a:t>“继续看周三下午，哪里有空教室？”</a:t>
            </a:r>
            <a:endParaRPr lang="en-US" sz="1750" dirty="0"/>
          </a:p>
        </p:txBody>
      </p:sp>
      <p:sp>
        <p:nvSpPr>
          <p:cNvPr id="19" name="A03_0130_text"/>
          <p:cNvSpPr/>
          <p:nvPr/>
        </p:nvSpPr>
        <p:spPr>
          <a:xfrm>
            <a:off x="1298448" y="4617720"/>
            <a:ext cx="2926080" cy="274320"/>
          </a:xfrm>
          <a:prstGeom prst="rect">
            <a:avLst/>
          </a:prstGeom>
          <a:noFill/>
          <a:ln/>
        </p:spPr>
        <p:txBody>
          <a:bodyPr wrap="square" lIns="0" tIns="0" rIns="0" bIns="0" rtlCol="0" anchor="ctr">
            <a:normAutofit/>
          </a:bodyPr>
          <a:lstStyle/>
          <a:p>
            <a:pPr marL="0" indent="0" algn="l">
              <a:buNone/>
            </a:pPr>
            <a:r>
              <a:rPr lang="en-US" sz="1120" b="1" dirty="0">
                <a:solidFill>
                  <a:srgbClr val="237F69"/>
                </a:solidFill>
                <a:latin typeface="MiSans" pitchFamily="34" charset="0"/>
                <a:ea typeface="MiSans" pitchFamily="34" charset="-122"/>
                <a:cs typeface="MiSans" pitchFamily="34" charset="-120"/>
              </a:rPr>
              <a:t>沿用对象与周次，继续找空间</a:t>
            </a:r>
            <a:endParaRPr lang="en-US" sz="1120" dirty="0"/>
          </a:p>
        </p:txBody>
      </p:sp>
      <p:sp>
        <p:nvSpPr>
          <p:cNvPr id="20" name="A04_0131_line"/>
          <p:cNvSpPr/>
          <p:nvPr/>
        </p:nvSpPr>
        <p:spPr>
          <a:xfrm>
            <a:off x="749808" y="5358384"/>
            <a:ext cx="3639312" cy="0"/>
          </a:xfrm>
          <a:prstGeom prst="line">
            <a:avLst/>
          </a:prstGeom>
          <a:noFill/>
          <a:ln w="12700">
            <a:solidFill>
              <a:srgbClr val="DDD2CA"/>
            </a:solidFill>
            <a:prstDash val="solid"/>
          </a:ln>
        </p:spPr>
      </p:sp>
      <p:sp>
        <p:nvSpPr>
          <p:cNvPr id="21" name="A04_0132_text"/>
          <p:cNvSpPr/>
          <p:nvPr/>
        </p:nvSpPr>
        <p:spPr>
          <a:xfrm>
            <a:off x="749808" y="5532120"/>
            <a:ext cx="3675888" cy="658368"/>
          </a:xfrm>
          <a:prstGeom prst="rect">
            <a:avLst/>
          </a:prstGeom>
          <a:noFill/>
          <a:ln/>
        </p:spPr>
        <p:txBody>
          <a:bodyPr wrap="square" lIns="0" tIns="0" rIns="0" bIns="0" rtlCol="0" anchor="t">
            <a:normAutofit/>
          </a:bodyPr>
          <a:lstStyle/>
          <a:p>
            <a:pPr marL="0" indent="0" algn="l">
              <a:buNone/>
            </a:pPr>
            <a:r>
              <a:rPr lang="en-US" sz="1340" b="1" dirty="0">
                <a:solidFill>
                  <a:srgbClr val="B83E32"/>
                </a:solidFill>
                <a:latin typeface="Noto Serif SC" pitchFamily="34" charset="0"/>
                <a:ea typeface="Noto Serif SC" pitchFamily="34" charset="-122"/>
                <a:cs typeface="Noto Serif SC" pitchFamily="34" charset="-120"/>
              </a:rPr>
              <a:t>不用重填班级，不用重选时间，</a:t>
            </a:r>
            <a:endParaRPr lang="en-US" sz="1340" dirty="0"/>
          </a:p>
          <a:p>
            <a:pPr marL="0" indent="0" algn="l">
              <a:buNone/>
            </a:pPr>
            <a:r>
              <a:rPr lang="en-US" sz="1340" b="1" dirty="0">
                <a:solidFill>
                  <a:srgbClr val="B83E32"/>
                </a:solidFill>
                <a:latin typeface="Noto Serif SC" pitchFamily="34" charset="0"/>
                <a:ea typeface="Noto Serif SC" pitchFamily="34" charset="-122"/>
                <a:cs typeface="Noto Serif SC" pitchFamily="34" charset="-120"/>
              </a:rPr>
              <a:t>也不用学习教务系统的复杂入口。</a:t>
            </a:r>
            <a:endParaRPr lang="en-US" sz="1340" dirty="0"/>
          </a:p>
        </p:txBody>
      </p:sp>
      <p:sp>
        <p:nvSpPr>
          <p:cNvPr id="22" name="A05_0133_screen-base"/>
          <p:cNvSpPr/>
          <p:nvPr/>
        </p:nvSpPr>
        <p:spPr>
          <a:xfrm>
            <a:off x="4754880" y="1700784"/>
            <a:ext cx="6858000" cy="4114800"/>
          </a:xfrm>
          <a:prstGeom prst="rect">
            <a:avLst/>
          </a:prstGeom>
          <a:solidFill>
            <a:srgbClr val="FFFFFF"/>
          </a:solidFill>
          <a:ln w="11430">
            <a:solidFill>
              <a:srgbClr val="DDD2CA"/>
            </a:solidFill>
            <a:prstDash val="solid"/>
          </a:ln>
        </p:spPr>
      </p:sp>
      <p:pic>
        <p:nvPicPr>
          <p:cNvPr id="23" name="A05_0134_screen-image" descr="competition-project\competition\final-delivery\qa\live-final\screenshots\04-student-live-1920x1080-final.png"/>
          <p:cNvPicPr>
            <a:picLocks noChangeAspect="1"/>
          </p:cNvPicPr>
          <p:nvPr/>
        </p:nvPicPr>
        <p:blipFill>
          <a:blip r:embed="rId3"/>
          <a:stretch>
            <a:fillRect/>
          </a:stretch>
        </p:blipFill>
        <p:spPr>
          <a:xfrm>
            <a:off x="4791456" y="1849945"/>
            <a:ext cx="6784848" cy="3816477"/>
          </a:xfrm>
          <a:prstGeom prst="rect">
            <a:avLst/>
          </a:prstGeom>
        </p:spPr>
      </p:pic>
      <p:sp>
        <p:nvSpPr>
          <p:cNvPr id="24" name="A05_0135_text"/>
          <p:cNvSpPr/>
          <p:nvPr/>
        </p:nvSpPr>
        <p:spPr>
          <a:xfrm>
            <a:off x="7808976" y="5888736"/>
            <a:ext cx="3712464" cy="274320"/>
          </a:xfrm>
          <a:prstGeom prst="rect">
            <a:avLst/>
          </a:prstGeom>
          <a:noFill/>
          <a:ln/>
        </p:spPr>
        <p:txBody>
          <a:bodyPr wrap="square" lIns="0" tIns="0" rIns="0" bIns="0" rtlCol="0" anchor="ctr">
            <a:normAutofit/>
          </a:bodyPr>
          <a:lstStyle/>
          <a:p>
            <a:pPr marL="0" indent="0" algn="r">
              <a:buNone/>
            </a:pPr>
            <a:r>
              <a:rPr lang="en-US" sz="1150" b="1" dirty="0">
                <a:solidFill>
                  <a:srgbClr val="B83E32"/>
                </a:solidFill>
                <a:latin typeface="MiSans" pitchFamily="34" charset="0"/>
                <a:ea typeface="MiSans" pitchFamily="34" charset="-122"/>
                <a:cs typeface="MiSans" pitchFamily="34" charset="-120"/>
              </a:rPr>
              <a:t>真实 ADP 三轮连续追问 · 同一会话</a:t>
            </a:r>
            <a:endParaRPr lang="en-US" sz="11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8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38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38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38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38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38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8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8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8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8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80"/>
                                        <p:tgtEl>
                                          <p:spTgt spid="2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80"/>
                                        <p:tgtEl>
                                          <p:spTgt spid="22"/>
                                        </p:tgtEl>
                                      </p:cBhvr>
                                    </p:animEffect>
                                  </p:childTnLst>
                                </p:cTn>
                              </p:par>
                              <p:par>
                                <p:cTn id="55" presetID="10" presetClass="entr" presetSubtype="0" fill="hold"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8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8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8" grpId="0" animBg="1"/>
      <p:bldP spid="19" grpId="0" animBg="1"/>
      <p:bldP spid="21" grpId="0" animBg="1"/>
      <p:bldP spid="2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7F1"/>
        </a:solidFill>
        <a:effectLst/>
      </p:bgPr>
    </p:bg>
    <p:spTree>
      <p:nvGrpSpPr>
        <p:cNvPr id="1" name=""/>
        <p:cNvGrpSpPr/>
        <p:nvPr/>
      </p:nvGrpSpPr>
      <p:grpSpPr>
        <a:xfrm>
          <a:off x="0" y="0"/>
          <a:ext cx="0" cy="0"/>
          <a:chOff x="0" y="0"/>
          <a:chExt cx="0" cy="0"/>
        </a:xfrm>
      </p:grpSpPr>
      <p:sp>
        <p:nvSpPr>
          <p:cNvPr id="2" name="S00_0136_background-field"/>
          <p:cNvSpPr/>
          <p:nvPr/>
        </p:nvSpPr>
        <p:spPr>
          <a:xfrm>
            <a:off x="-1600200" y="4434840"/>
            <a:ext cx="5303520" cy="3749040"/>
          </a:xfrm>
          <a:prstGeom prst="ellipse">
            <a:avLst/>
          </a:prstGeom>
          <a:solidFill>
            <a:srgbClr val="F6E8D8">
              <a:alpha val="38000"/>
            </a:srgbClr>
          </a:solidFill>
          <a:ln w="12700">
            <a:solidFill>
              <a:srgbClr val="FFFFFF">
                <a:alpha val="0"/>
              </a:srgbClr>
            </a:solidFill>
            <a:prstDash val="solid"/>
          </a:ln>
        </p:spPr>
      </p:sp>
      <p:sp>
        <p:nvSpPr>
          <p:cNvPr id="3" name="S00_0137_background-arc"/>
          <p:cNvSpPr/>
          <p:nvPr/>
        </p:nvSpPr>
        <p:spPr>
          <a:xfrm rot="11880000">
            <a:off x="9326880" y="-548640"/>
            <a:ext cx="3291840" cy="2286000"/>
          </a:xfrm>
          <a:prstGeom prst="arc">
            <a:avLst/>
          </a:prstGeom>
          <a:solidFill>
            <a:srgbClr val="FFFFFF">
              <a:alpha val="0"/>
            </a:srgbClr>
          </a:solidFill>
          <a:ln w="13970">
            <a:solidFill>
              <a:srgbClr val="E65442">
                <a:alpha val="30000"/>
              </a:srgbClr>
            </a:solidFill>
            <a:prstDash val="solid"/>
          </a:ln>
        </p:spPr>
      </p:sp>
      <p:sp>
        <p:nvSpPr>
          <p:cNvPr id="4" name="S00_0138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教师案例｜多人协同</a:t>
            </a:r>
            <a:endParaRPr lang="en-US" sz="1000" dirty="0"/>
          </a:p>
        </p:txBody>
      </p:sp>
      <p:sp>
        <p:nvSpPr>
          <p:cNvPr id="5" name="S00_0139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三位教师的一次共同空闲，最后落到一间教室</a:t>
            </a:r>
            <a:endParaRPr lang="en-US" sz="2700" dirty="0"/>
          </a:p>
        </p:txBody>
      </p:sp>
      <p:sp>
        <p:nvSpPr>
          <p:cNvPr id="6" name="S00_0140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第1周周四1—4节；先找人都空的时间，再按容量筛选教室。</a:t>
            </a:r>
            <a:endParaRPr lang="en-US" sz="1220" dirty="0"/>
          </a:p>
        </p:txBody>
      </p:sp>
      <p:sp>
        <p:nvSpPr>
          <p:cNvPr id="7" name="S00_0141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142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06 / 12</a:t>
            </a:r>
            <a:endParaRPr lang="en-US" sz="850" dirty="0"/>
          </a:p>
        </p:txBody>
      </p:sp>
      <p:sp>
        <p:nvSpPr>
          <p:cNvPr id="9" name="A01_0143_text"/>
          <p:cNvSpPr/>
          <p:nvPr/>
        </p:nvSpPr>
        <p:spPr>
          <a:xfrm>
            <a:off x="658368" y="1700784"/>
            <a:ext cx="1481328" cy="786384"/>
          </a:xfrm>
          <a:prstGeom prst="rect">
            <a:avLst/>
          </a:prstGeom>
          <a:noFill/>
          <a:ln/>
        </p:spPr>
        <p:txBody>
          <a:bodyPr wrap="square" lIns="0" tIns="0" rIns="0" bIns="0" rtlCol="0" anchor="ctr">
            <a:normAutofit/>
          </a:bodyPr>
          <a:lstStyle/>
          <a:p>
            <a:pPr marL="0" indent="0" algn="l">
              <a:buNone/>
            </a:pPr>
            <a:r>
              <a:rPr lang="en-US" sz="4800" b="1" dirty="0">
                <a:solidFill>
                  <a:srgbClr val="E65442"/>
                </a:solidFill>
                <a:latin typeface="MiSans" pitchFamily="34" charset="0"/>
                <a:ea typeface="MiSans" pitchFamily="34" charset="-122"/>
                <a:cs typeface="MiSans" pitchFamily="34" charset="-120"/>
              </a:rPr>
              <a:t>3</a:t>
            </a:r>
            <a:endParaRPr lang="en-US" sz="4800" dirty="0"/>
          </a:p>
        </p:txBody>
      </p:sp>
      <p:sp>
        <p:nvSpPr>
          <p:cNvPr id="10" name="A01_0144_text"/>
          <p:cNvSpPr/>
          <p:nvPr/>
        </p:nvSpPr>
        <p:spPr>
          <a:xfrm>
            <a:off x="658368" y="2505456"/>
            <a:ext cx="1847088" cy="310896"/>
          </a:xfrm>
          <a:prstGeom prst="rect">
            <a:avLst/>
          </a:prstGeom>
          <a:noFill/>
          <a:ln/>
        </p:spPr>
        <p:txBody>
          <a:bodyPr wrap="square" lIns="0" tIns="0" rIns="0" bIns="0" rtlCol="0" anchor="ctr">
            <a:normAutofit/>
          </a:bodyPr>
          <a:lstStyle/>
          <a:p>
            <a:pPr marL="0" indent="0" algn="l">
              <a:buNone/>
            </a:pPr>
            <a:r>
              <a:rPr lang="en-US" sz="1200" b="1" dirty="0">
                <a:solidFill>
                  <a:srgbClr val="544B46"/>
                </a:solidFill>
                <a:latin typeface="MiSans" pitchFamily="34" charset="0"/>
                <a:ea typeface="MiSans" pitchFamily="34" charset="-122"/>
                <a:cs typeface="MiSans" pitchFamily="34" charset="-120"/>
              </a:rPr>
              <a:t>位教师</a:t>
            </a:r>
            <a:endParaRPr lang="en-US" sz="1200" dirty="0"/>
          </a:p>
        </p:txBody>
      </p:sp>
      <p:sp>
        <p:nvSpPr>
          <p:cNvPr id="11" name="A01_0145_arrow"/>
          <p:cNvSpPr/>
          <p:nvPr/>
        </p:nvSpPr>
        <p:spPr>
          <a:xfrm>
            <a:off x="2322576" y="2221992"/>
            <a:ext cx="402336" cy="0"/>
          </a:xfrm>
          <a:prstGeom prst="line">
            <a:avLst/>
          </a:prstGeom>
          <a:noFill/>
          <a:ln w="20320">
            <a:solidFill>
              <a:srgbClr val="E65442"/>
            </a:solidFill>
            <a:prstDash val="solid"/>
            <a:headEnd type="none"/>
            <a:tailEnd type="triangle"/>
          </a:ln>
        </p:spPr>
      </p:sp>
      <p:sp>
        <p:nvSpPr>
          <p:cNvPr id="12" name="A02_0146_text"/>
          <p:cNvSpPr/>
          <p:nvPr/>
        </p:nvSpPr>
        <p:spPr>
          <a:xfrm>
            <a:off x="3072384" y="1700784"/>
            <a:ext cx="1481328" cy="786384"/>
          </a:xfrm>
          <a:prstGeom prst="rect">
            <a:avLst/>
          </a:prstGeom>
          <a:noFill/>
          <a:ln/>
        </p:spPr>
        <p:txBody>
          <a:bodyPr wrap="square" lIns="0" tIns="0" rIns="0" bIns="0" rtlCol="0" anchor="ctr">
            <a:normAutofit/>
          </a:bodyPr>
          <a:lstStyle/>
          <a:p>
            <a:pPr marL="0" indent="0" algn="l">
              <a:buNone/>
            </a:pPr>
            <a:r>
              <a:rPr lang="en-US" sz="4800" b="1" dirty="0">
                <a:solidFill>
                  <a:srgbClr val="237F69"/>
                </a:solidFill>
                <a:latin typeface="MiSans" pitchFamily="34" charset="0"/>
                <a:ea typeface="MiSans" pitchFamily="34" charset="-122"/>
                <a:cs typeface="MiSans" pitchFamily="34" charset="-120"/>
              </a:rPr>
              <a:t>63</a:t>
            </a:r>
            <a:endParaRPr lang="en-US" sz="4800" dirty="0"/>
          </a:p>
        </p:txBody>
      </p:sp>
      <p:sp>
        <p:nvSpPr>
          <p:cNvPr id="13" name="A02_0147_text"/>
          <p:cNvSpPr/>
          <p:nvPr/>
        </p:nvSpPr>
        <p:spPr>
          <a:xfrm>
            <a:off x="3072384" y="2505456"/>
            <a:ext cx="1847088" cy="310896"/>
          </a:xfrm>
          <a:prstGeom prst="rect">
            <a:avLst/>
          </a:prstGeom>
          <a:noFill/>
          <a:ln/>
        </p:spPr>
        <p:txBody>
          <a:bodyPr wrap="square" lIns="0" tIns="0" rIns="0" bIns="0" rtlCol="0" anchor="ctr">
            <a:normAutofit/>
          </a:bodyPr>
          <a:lstStyle/>
          <a:p>
            <a:pPr marL="0" indent="0" algn="l">
              <a:buNone/>
            </a:pPr>
            <a:r>
              <a:rPr lang="en-US" sz="1200" b="1" dirty="0">
                <a:solidFill>
                  <a:srgbClr val="544B46"/>
                </a:solidFill>
                <a:latin typeface="MiSans" pitchFamily="34" charset="0"/>
                <a:ea typeface="MiSans" pitchFamily="34" charset="-122"/>
                <a:cs typeface="MiSans" pitchFamily="34" charset="-120"/>
              </a:rPr>
              <a:t>间可用教室</a:t>
            </a:r>
            <a:endParaRPr lang="en-US" sz="1200" dirty="0"/>
          </a:p>
        </p:txBody>
      </p:sp>
      <p:sp>
        <p:nvSpPr>
          <p:cNvPr id="14" name="A02_0148_arrow"/>
          <p:cNvSpPr/>
          <p:nvPr/>
        </p:nvSpPr>
        <p:spPr>
          <a:xfrm>
            <a:off x="5065776" y="2221992"/>
            <a:ext cx="402336" cy="0"/>
          </a:xfrm>
          <a:prstGeom prst="line">
            <a:avLst/>
          </a:prstGeom>
          <a:noFill/>
          <a:ln w="20320">
            <a:solidFill>
              <a:srgbClr val="E65442"/>
            </a:solidFill>
            <a:prstDash val="solid"/>
            <a:headEnd type="none"/>
            <a:tailEnd type="triangle"/>
          </a:ln>
        </p:spPr>
      </p:sp>
      <p:sp>
        <p:nvSpPr>
          <p:cNvPr id="15" name="A03_0149_text"/>
          <p:cNvSpPr/>
          <p:nvPr/>
        </p:nvSpPr>
        <p:spPr>
          <a:xfrm>
            <a:off x="5769864" y="1700784"/>
            <a:ext cx="1481328" cy="786384"/>
          </a:xfrm>
          <a:prstGeom prst="rect">
            <a:avLst/>
          </a:prstGeom>
          <a:noFill/>
          <a:ln/>
        </p:spPr>
        <p:txBody>
          <a:bodyPr wrap="square" lIns="0" tIns="0" rIns="0" bIns="0" rtlCol="0" anchor="ctr">
            <a:normAutofit/>
          </a:bodyPr>
          <a:lstStyle/>
          <a:p>
            <a:pPr marL="0" indent="0" algn="l">
              <a:buNone/>
            </a:pPr>
            <a:r>
              <a:rPr lang="en-US" sz="4800" b="1" dirty="0">
                <a:solidFill>
                  <a:srgbClr val="B96B2E"/>
                </a:solidFill>
                <a:latin typeface="MiSans" pitchFamily="34" charset="0"/>
                <a:ea typeface="MiSans" pitchFamily="34" charset="-122"/>
                <a:cs typeface="MiSans" pitchFamily="34" charset="-120"/>
              </a:rPr>
              <a:t>7</a:t>
            </a:r>
            <a:endParaRPr lang="en-US" sz="4800" dirty="0"/>
          </a:p>
        </p:txBody>
      </p:sp>
      <p:sp>
        <p:nvSpPr>
          <p:cNvPr id="16" name="A03_0150_text"/>
          <p:cNvSpPr/>
          <p:nvPr/>
        </p:nvSpPr>
        <p:spPr>
          <a:xfrm>
            <a:off x="5769864" y="2505456"/>
            <a:ext cx="1847088" cy="310896"/>
          </a:xfrm>
          <a:prstGeom prst="rect">
            <a:avLst/>
          </a:prstGeom>
          <a:noFill/>
          <a:ln/>
        </p:spPr>
        <p:txBody>
          <a:bodyPr wrap="square" lIns="0" tIns="0" rIns="0" bIns="0" rtlCol="0" anchor="ctr">
            <a:normAutofit/>
          </a:bodyPr>
          <a:lstStyle/>
          <a:p>
            <a:pPr marL="0" indent="0" algn="l">
              <a:buNone/>
            </a:pPr>
            <a:r>
              <a:rPr lang="en-US" sz="1200" b="1" dirty="0">
                <a:solidFill>
                  <a:srgbClr val="544B46"/>
                </a:solidFill>
                <a:latin typeface="MiSans" pitchFamily="34" charset="0"/>
                <a:ea typeface="MiSans" pitchFamily="34" charset="-122"/>
                <a:cs typeface="MiSans" pitchFamily="34" charset="-120"/>
              </a:rPr>
              <a:t>间不少于120座</a:t>
            </a:r>
            <a:endParaRPr lang="en-US" sz="1200" dirty="0"/>
          </a:p>
        </p:txBody>
      </p:sp>
      <p:sp>
        <p:nvSpPr>
          <p:cNvPr id="17" name="A03_0151_arrow"/>
          <p:cNvSpPr/>
          <p:nvPr/>
        </p:nvSpPr>
        <p:spPr>
          <a:xfrm>
            <a:off x="7763256" y="2221992"/>
            <a:ext cx="402336" cy="0"/>
          </a:xfrm>
          <a:prstGeom prst="line">
            <a:avLst/>
          </a:prstGeom>
          <a:noFill/>
          <a:ln w="20320">
            <a:solidFill>
              <a:srgbClr val="E65442"/>
            </a:solidFill>
            <a:prstDash val="solid"/>
            <a:headEnd type="none"/>
            <a:tailEnd type="triangle"/>
          </a:ln>
        </p:spPr>
      </p:sp>
      <p:sp>
        <p:nvSpPr>
          <p:cNvPr id="18" name="A04_0152_text"/>
          <p:cNvSpPr/>
          <p:nvPr/>
        </p:nvSpPr>
        <p:spPr>
          <a:xfrm>
            <a:off x="8540496" y="1700784"/>
            <a:ext cx="2240280" cy="786384"/>
          </a:xfrm>
          <a:prstGeom prst="rect">
            <a:avLst/>
          </a:prstGeom>
          <a:noFill/>
          <a:ln/>
        </p:spPr>
        <p:txBody>
          <a:bodyPr wrap="square" lIns="0" tIns="0" rIns="0" bIns="0" rtlCol="0" anchor="ctr">
            <a:normAutofit/>
          </a:bodyPr>
          <a:lstStyle/>
          <a:p>
            <a:pPr marL="0" indent="0" algn="l">
              <a:buNone/>
            </a:pPr>
            <a:r>
              <a:rPr lang="en-US" sz="3600" b="1" dirty="0">
                <a:solidFill>
                  <a:srgbClr val="507BA0"/>
                </a:solidFill>
                <a:latin typeface="MiSans" pitchFamily="34" charset="0"/>
                <a:ea typeface="MiSans" pitchFamily="34" charset="-122"/>
                <a:cs typeface="MiSans" pitchFamily="34" charset="-120"/>
              </a:rPr>
              <a:t>A1-201</a:t>
            </a:r>
            <a:endParaRPr lang="en-US" sz="3600" dirty="0"/>
          </a:p>
        </p:txBody>
      </p:sp>
      <p:sp>
        <p:nvSpPr>
          <p:cNvPr id="19" name="A04_0153_text"/>
          <p:cNvSpPr/>
          <p:nvPr/>
        </p:nvSpPr>
        <p:spPr>
          <a:xfrm>
            <a:off x="8540496" y="2505456"/>
            <a:ext cx="2267712" cy="310896"/>
          </a:xfrm>
          <a:prstGeom prst="rect">
            <a:avLst/>
          </a:prstGeom>
          <a:noFill/>
          <a:ln/>
        </p:spPr>
        <p:txBody>
          <a:bodyPr wrap="square" lIns="0" tIns="0" rIns="0" bIns="0" rtlCol="0" anchor="ctr">
            <a:normAutofit/>
          </a:bodyPr>
          <a:lstStyle/>
          <a:p>
            <a:pPr marL="0" indent="0" algn="l">
              <a:buNone/>
            </a:pPr>
            <a:r>
              <a:rPr lang="en-US" sz="1200" b="1" dirty="0">
                <a:solidFill>
                  <a:srgbClr val="544B46"/>
                </a:solidFill>
                <a:latin typeface="MiSans" pitchFamily="34" charset="0"/>
                <a:ea typeface="MiSans" pitchFamily="34" charset="-122"/>
                <a:cs typeface="MiSans" pitchFamily="34" charset="-120"/>
              </a:rPr>
              <a:t>推荐教室 · 120座</a:t>
            </a:r>
            <a:endParaRPr lang="en-US" sz="1200" dirty="0"/>
          </a:p>
        </p:txBody>
      </p:sp>
      <p:sp>
        <p:nvSpPr>
          <p:cNvPr id="20" name="A05_0154_line"/>
          <p:cNvSpPr/>
          <p:nvPr/>
        </p:nvSpPr>
        <p:spPr>
          <a:xfrm>
            <a:off x="658368" y="2971800"/>
            <a:ext cx="10844784" cy="0"/>
          </a:xfrm>
          <a:prstGeom prst="line">
            <a:avLst/>
          </a:prstGeom>
          <a:noFill/>
          <a:ln w="12700">
            <a:solidFill>
              <a:srgbClr val="DDD2CA"/>
            </a:solidFill>
            <a:prstDash val="solid"/>
          </a:ln>
        </p:spPr>
      </p:sp>
      <p:sp>
        <p:nvSpPr>
          <p:cNvPr id="21" name="A05_0155_screen-base"/>
          <p:cNvSpPr/>
          <p:nvPr/>
        </p:nvSpPr>
        <p:spPr>
          <a:xfrm>
            <a:off x="960120" y="3218688"/>
            <a:ext cx="10277856" cy="2615184"/>
          </a:xfrm>
          <a:prstGeom prst="rect">
            <a:avLst/>
          </a:prstGeom>
          <a:solidFill>
            <a:srgbClr val="FFFFFF"/>
          </a:solidFill>
          <a:ln w="11430">
            <a:solidFill>
              <a:srgbClr val="DDD2CA"/>
            </a:solidFill>
            <a:prstDash val="solid"/>
          </a:ln>
        </p:spPr>
      </p:sp>
      <p:pic>
        <p:nvPicPr>
          <p:cNvPr id="22" name="A05_0156_screen-image" descr="competition-project\competition\final-delivery\qa\final-cut\4173-collaboration-1920x1080.png"/>
          <p:cNvPicPr>
            <a:picLocks noChangeAspect="1"/>
          </p:cNvPicPr>
          <p:nvPr/>
        </p:nvPicPr>
        <p:blipFill>
          <a:blip r:embed="rId3"/>
          <a:stretch>
            <a:fillRect/>
          </a:stretch>
        </p:blipFill>
        <p:spPr>
          <a:xfrm>
            <a:off x="996696" y="3255264"/>
            <a:ext cx="10204704" cy="2542032"/>
          </a:xfrm>
          <a:prstGeom prst="rect">
            <a:avLst/>
          </a:prstGeom>
        </p:spPr>
      </p:pic>
      <p:sp>
        <p:nvSpPr>
          <p:cNvPr id="23" name="A06_0157_text"/>
          <p:cNvSpPr/>
          <p:nvPr/>
        </p:nvSpPr>
        <p:spPr>
          <a:xfrm>
            <a:off x="3081528" y="5943600"/>
            <a:ext cx="6053328" cy="292608"/>
          </a:xfrm>
          <a:prstGeom prst="rect">
            <a:avLst/>
          </a:prstGeom>
          <a:noFill/>
          <a:ln/>
        </p:spPr>
        <p:txBody>
          <a:bodyPr wrap="square" lIns="0" tIns="0" rIns="0" bIns="0" rtlCol="0" anchor="ctr">
            <a:normAutofit/>
          </a:bodyPr>
          <a:lstStyle/>
          <a:p>
            <a:pPr marL="0" indent="0" algn="ctr">
              <a:buNone/>
            </a:pPr>
            <a:r>
              <a:rPr lang="en-US" sz="1300" b="1" dirty="0">
                <a:solidFill>
                  <a:srgbClr val="B83E32"/>
                </a:solidFill>
                <a:latin typeface="MiSans" pitchFamily="34" charset="0"/>
                <a:ea typeface="MiSans" pitchFamily="34" charset="-122"/>
                <a:cs typeface="MiSans" pitchFamily="34" charset="-120"/>
              </a:rPr>
              <a:t>共同空闲 → 空间可用 → 容量过滤 → 给出推荐</a:t>
            </a:r>
            <a:endParaRPr lang="en-US"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8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38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380"/>
                                        <p:tgtEl>
                                          <p:spTgt spid="13"/>
                                        </p:tgtEl>
                                      </p:cBhvr>
                                    </p:animEffect>
                                  </p:childTnLst>
                                </p:cTn>
                              </p:par>
                              <p:par>
                                <p:cTn id="22" presetID="10"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380"/>
                                        <p:tgtEl>
                                          <p:spTgt spid="1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8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8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8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38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380"/>
                                        <p:tgtEl>
                                          <p:spTgt spid="1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80"/>
                                        <p:tgtEl>
                                          <p:spTgt spid="20"/>
                                        </p:tgtEl>
                                      </p:cBhvr>
                                    </p:animEffect>
                                  </p:childTnLst>
                                </p:cTn>
                              </p:par>
                              <p:par>
                                <p:cTn id="49" presetID="10"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380"/>
                                        <p:tgtEl>
                                          <p:spTgt spid="21"/>
                                        </p:tgtEl>
                                      </p:cBhvr>
                                    </p:animEffect>
                                  </p:childTnLst>
                                </p:cTn>
                              </p:par>
                              <p:par>
                                <p:cTn id="52" presetID="10" presetClass="entr" presetSubtype="0" fill="hold"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80"/>
                                        <p:tgtEl>
                                          <p:spTgt spid="2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38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16" grpId="0" animBg="1"/>
      <p:bldP spid="18" grpId="0" animBg="1"/>
      <p:bldP spid="19"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7F1"/>
        </a:solidFill>
        <a:effectLst/>
      </p:bgPr>
    </p:bg>
    <p:spTree>
      <p:nvGrpSpPr>
        <p:cNvPr id="1" name=""/>
        <p:cNvGrpSpPr/>
        <p:nvPr/>
      </p:nvGrpSpPr>
      <p:grpSpPr>
        <a:xfrm>
          <a:off x="0" y="0"/>
          <a:ext cx="0" cy="0"/>
          <a:chOff x="0" y="0"/>
          <a:chExt cx="0" cy="0"/>
        </a:xfrm>
      </p:grpSpPr>
      <p:sp>
        <p:nvSpPr>
          <p:cNvPr id="2" name="S00_0158_background-field"/>
          <p:cNvSpPr/>
          <p:nvPr/>
        </p:nvSpPr>
        <p:spPr>
          <a:xfrm>
            <a:off x="8641080" y="-1554480"/>
            <a:ext cx="5303520" cy="3749040"/>
          </a:xfrm>
          <a:prstGeom prst="ellipse">
            <a:avLst/>
          </a:prstGeom>
          <a:solidFill>
            <a:srgbClr val="F6DED8">
              <a:alpha val="38000"/>
            </a:srgbClr>
          </a:solidFill>
          <a:ln w="12700">
            <a:solidFill>
              <a:srgbClr val="FFFFFF">
                <a:alpha val="0"/>
              </a:srgbClr>
            </a:solidFill>
            <a:prstDash val="solid"/>
          </a:ln>
        </p:spPr>
      </p:sp>
      <p:sp>
        <p:nvSpPr>
          <p:cNvPr id="3" name="S00_0159_background-arc"/>
          <p:cNvSpPr/>
          <p:nvPr/>
        </p:nvSpPr>
        <p:spPr>
          <a:xfrm rot="1080000">
            <a:off x="-640080" y="4389120"/>
            <a:ext cx="3291840" cy="2286000"/>
          </a:xfrm>
          <a:prstGeom prst="arc">
            <a:avLst/>
          </a:prstGeom>
          <a:solidFill>
            <a:srgbClr val="FFFFFF">
              <a:alpha val="0"/>
            </a:srgbClr>
          </a:solidFill>
          <a:ln w="13970">
            <a:solidFill>
              <a:srgbClr val="E65442">
                <a:alpha val="30000"/>
              </a:srgbClr>
            </a:solidFill>
            <a:prstDash val="solid"/>
          </a:ln>
        </p:spPr>
      </p:sp>
      <p:sp>
        <p:nvSpPr>
          <p:cNvPr id="4" name="S00_0160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教师案例｜风险与模拟调课</a:t>
            </a:r>
            <a:endParaRPr lang="en-US" sz="1000" dirty="0"/>
          </a:p>
        </p:txBody>
      </p:sp>
      <p:sp>
        <p:nvSpPr>
          <p:cNvPr id="5" name="S00_0161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没有冲突，不等于来得及；可以调，也不等于没有提醒</a:t>
            </a:r>
            <a:endParaRPr lang="en-US" sz="2700" dirty="0"/>
          </a:p>
        </p:txBody>
      </p:sp>
      <p:sp>
        <p:nvSpPr>
          <p:cNvPr id="6" name="S00_0162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教师025 · 第1—4周；系统先算清空间转场风险，再模拟调整方案——真实课表不会被改动。</a:t>
            </a:r>
            <a:endParaRPr lang="en-US" sz="1220" dirty="0"/>
          </a:p>
        </p:txBody>
      </p:sp>
      <p:sp>
        <p:nvSpPr>
          <p:cNvPr id="7" name="S00_0163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164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07 / 12</a:t>
            </a:r>
            <a:endParaRPr lang="en-US" sz="850" dirty="0"/>
          </a:p>
        </p:txBody>
      </p:sp>
      <p:sp>
        <p:nvSpPr>
          <p:cNvPr id="9" name="A01_0165_text"/>
          <p:cNvSpPr/>
          <p:nvPr/>
        </p:nvSpPr>
        <p:spPr>
          <a:xfrm>
            <a:off x="713232" y="1664208"/>
            <a:ext cx="1298448" cy="914400"/>
          </a:xfrm>
          <a:prstGeom prst="rect">
            <a:avLst/>
          </a:prstGeom>
          <a:noFill/>
          <a:ln/>
        </p:spPr>
        <p:txBody>
          <a:bodyPr wrap="square" lIns="0" tIns="0" rIns="0" bIns="0" rtlCol="0" anchor="ctr">
            <a:normAutofit/>
          </a:bodyPr>
          <a:lstStyle/>
          <a:p>
            <a:pPr marL="0" indent="0" algn="l">
              <a:buNone/>
            </a:pPr>
            <a:r>
              <a:rPr lang="en-US" sz="5800" b="1" dirty="0">
                <a:solidFill>
                  <a:srgbClr val="237F69"/>
                </a:solidFill>
                <a:latin typeface="MiSans" pitchFamily="34" charset="0"/>
                <a:ea typeface="MiSans" pitchFamily="34" charset="-122"/>
                <a:cs typeface="MiSans" pitchFamily="34" charset="-120"/>
              </a:rPr>
              <a:t>0</a:t>
            </a:r>
            <a:endParaRPr lang="en-US" sz="5800" dirty="0"/>
          </a:p>
        </p:txBody>
      </p:sp>
      <p:sp>
        <p:nvSpPr>
          <p:cNvPr id="10" name="A01_0166_text"/>
          <p:cNvSpPr/>
          <p:nvPr/>
        </p:nvSpPr>
        <p:spPr>
          <a:xfrm>
            <a:off x="1975104" y="1975104"/>
            <a:ext cx="1737360" cy="365760"/>
          </a:xfrm>
          <a:prstGeom prst="rect">
            <a:avLst/>
          </a:prstGeom>
          <a:noFill/>
          <a:ln/>
        </p:spPr>
        <p:txBody>
          <a:bodyPr wrap="square" lIns="0" tIns="0" rIns="0" bIns="0" rtlCol="0" anchor="ctr">
            <a:normAutofit/>
          </a:bodyPr>
          <a:lstStyle/>
          <a:p>
            <a:pPr marL="0" indent="0" algn="l">
              <a:buNone/>
            </a:pPr>
            <a:r>
              <a:rPr lang="en-US" sz="1700" b="1" dirty="0">
                <a:solidFill>
                  <a:srgbClr val="237F69"/>
                </a:solidFill>
                <a:latin typeface="MiSans" pitchFamily="34" charset="0"/>
                <a:ea typeface="MiSans" pitchFamily="34" charset="-122"/>
                <a:cs typeface="MiSans" pitchFamily="34" charset="-120"/>
              </a:rPr>
              <a:t>硬冲突</a:t>
            </a:r>
            <a:endParaRPr lang="en-US" sz="1700" dirty="0"/>
          </a:p>
        </p:txBody>
      </p:sp>
      <p:sp>
        <p:nvSpPr>
          <p:cNvPr id="11" name="A02_0167_text"/>
          <p:cNvSpPr/>
          <p:nvPr/>
        </p:nvSpPr>
        <p:spPr>
          <a:xfrm>
            <a:off x="713232" y="2962656"/>
            <a:ext cx="1664208" cy="822960"/>
          </a:xfrm>
          <a:prstGeom prst="rect">
            <a:avLst/>
          </a:prstGeom>
          <a:noFill/>
          <a:ln/>
        </p:spPr>
        <p:txBody>
          <a:bodyPr wrap="square" lIns="0" tIns="0" rIns="0" bIns="0" rtlCol="0" anchor="ctr">
            <a:normAutofit/>
          </a:bodyPr>
          <a:lstStyle/>
          <a:p>
            <a:pPr marL="0" indent="0" algn="l">
              <a:buNone/>
            </a:pPr>
            <a:r>
              <a:rPr lang="en-US" sz="5000" b="1" dirty="0">
                <a:solidFill>
                  <a:srgbClr val="B96B2E"/>
                </a:solidFill>
                <a:latin typeface="MiSans" pitchFamily="34" charset="0"/>
                <a:ea typeface="MiSans" pitchFamily="34" charset="-122"/>
                <a:cs typeface="MiSans" pitchFamily="34" charset="-120"/>
              </a:rPr>
              <a:t>4 次</a:t>
            </a:r>
            <a:endParaRPr lang="en-US" sz="5000" dirty="0"/>
          </a:p>
        </p:txBody>
      </p:sp>
      <p:sp>
        <p:nvSpPr>
          <p:cNvPr id="12" name="A02_0168_text"/>
          <p:cNvSpPr/>
          <p:nvPr/>
        </p:nvSpPr>
        <p:spPr>
          <a:xfrm>
            <a:off x="2231136" y="3227832"/>
            <a:ext cx="1572768" cy="365760"/>
          </a:xfrm>
          <a:prstGeom prst="rect">
            <a:avLst/>
          </a:prstGeom>
          <a:noFill/>
          <a:ln/>
        </p:spPr>
        <p:txBody>
          <a:bodyPr wrap="square" lIns="0" tIns="0" rIns="0" bIns="0" rtlCol="0" anchor="ctr">
            <a:normAutofit/>
          </a:bodyPr>
          <a:lstStyle/>
          <a:p>
            <a:pPr marL="0" indent="0" algn="l">
              <a:buNone/>
            </a:pPr>
            <a:r>
              <a:rPr lang="en-US" sz="1600" b="1" dirty="0">
                <a:solidFill>
                  <a:srgbClr val="B96B2E"/>
                </a:solidFill>
                <a:latin typeface="MiSans" pitchFamily="34" charset="0"/>
                <a:ea typeface="MiSans" pitchFamily="34" charset="-122"/>
                <a:cs typeface="MiSans" pitchFamily="34" charset="-120"/>
              </a:rPr>
              <a:t>转场 / 周</a:t>
            </a:r>
            <a:endParaRPr lang="en-US" sz="1600" dirty="0"/>
          </a:p>
        </p:txBody>
      </p:sp>
      <p:sp>
        <p:nvSpPr>
          <p:cNvPr id="13" name="A02_0169_text"/>
          <p:cNvSpPr/>
          <p:nvPr/>
        </p:nvSpPr>
        <p:spPr>
          <a:xfrm>
            <a:off x="749808" y="3858768"/>
            <a:ext cx="2926080" cy="310896"/>
          </a:xfrm>
          <a:prstGeom prst="rect">
            <a:avLst/>
          </a:prstGeom>
          <a:noFill/>
          <a:ln/>
        </p:spPr>
        <p:txBody>
          <a:bodyPr wrap="square" lIns="0" tIns="0" rIns="0" bIns="0" rtlCol="0" anchor="ctr">
            <a:normAutofit/>
          </a:bodyPr>
          <a:lstStyle/>
          <a:p>
            <a:pPr marL="0" indent="0" algn="l">
              <a:buNone/>
            </a:pPr>
            <a:r>
              <a:rPr lang="en-US" sz="1300" b="1" dirty="0">
                <a:solidFill>
                  <a:srgbClr val="544B46"/>
                </a:solidFill>
                <a:latin typeface="MiSans" pitchFamily="34" charset="0"/>
                <a:ea typeface="MiSans" pitchFamily="34" charset="-122"/>
                <a:cs typeface="MiSans" pitchFamily="34" charset="-120"/>
              </a:rPr>
              <a:t>最短间隔 20 分钟</a:t>
            </a:r>
            <a:endParaRPr lang="en-US" sz="1300" dirty="0"/>
          </a:p>
        </p:txBody>
      </p:sp>
      <p:sp>
        <p:nvSpPr>
          <p:cNvPr id="14" name="A03_0170_reschedule-band"/>
          <p:cNvSpPr/>
          <p:nvPr/>
        </p:nvSpPr>
        <p:spPr>
          <a:xfrm>
            <a:off x="676656" y="4599432"/>
            <a:ext cx="3694176" cy="1417320"/>
          </a:xfrm>
          <a:prstGeom prst="rect">
            <a:avLst/>
          </a:prstGeom>
          <a:solidFill>
            <a:srgbClr val="DDECE6">
              <a:alpha val="84000"/>
            </a:srgbClr>
          </a:solidFill>
          <a:ln w="12700">
            <a:solidFill>
              <a:srgbClr val="FFFFFF">
                <a:alpha val="0"/>
              </a:srgbClr>
            </a:solidFill>
            <a:prstDash val="solid"/>
          </a:ln>
        </p:spPr>
      </p:sp>
      <p:sp>
        <p:nvSpPr>
          <p:cNvPr id="15" name="A03_0171_text"/>
          <p:cNvSpPr/>
          <p:nvPr/>
        </p:nvSpPr>
        <p:spPr>
          <a:xfrm>
            <a:off x="859536" y="4846320"/>
            <a:ext cx="3364992" cy="384048"/>
          </a:xfrm>
          <a:prstGeom prst="rect">
            <a:avLst/>
          </a:prstGeom>
          <a:noFill/>
          <a:ln/>
        </p:spPr>
        <p:txBody>
          <a:bodyPr wrap="square" lIns="0" tIns="0" rIns="0" bIns="0" rtlCol="0" anchor="ctr">
            <a:normAutofit/>
          </a:bodyPr>
          <a:lstStyle/>
          <a:p>
            <a:pPr marL="0" indent="0" algn="l">
              <a:buNone/>
            </a:pPr>
            <a:r>
              <a:rPr lang="en-US" sz="1700" b="1" dirty="0">
                <a:solidFill>
                  <a:srgbClr val="237F69"/>
                </a:solidFill>
                <a:latin typeface="Noto Serif SC" pitchFamily="34" charset="0"/>
                <a:ea typeface="Noto Serif SC" pitchFamily="34" charset="-122"/>
                <a:cs typeface="Noto Serif SC" pitchFamily="34" charset="-120"/>
              </a:rPr>
              <a:t>可行 · 有提醒 · 未写入</a:t>
            </a:r>
            <a:endParaRPr lang="en-US" sz="1700" dirty="0"/>
          </a:p>
        </p:txBody>
      </p:sp>
      <p:sp>
        <p:nvSpPr>
          <p:cNvPr id="16" name="A03_0172_text"/>
          <p:cNvSpPr/>
          <p:nvPr/>
        </p:nvSpPr>
        <p:spPr>
          <a:xfrm>
            <a:off x="859536" y="5404104"/>
            <a:ext cx="3364992" cy="310896"/>
          </a:xfrm>
          <a:prstGeom prst="rect">
            <a:avLst/>
          </a:prstGeom>
          <a:noFill/>
          <a:ln/>
        </p:spPr>
        <p:txBody>
          <a:bodyPr wrap="square" lIns="0" tIns="0" rIns="0" bIns="0" rtlCol="0" anchor="ctr">
            <a:normAutofit/>
          </a:bodyPr>
          <a:lstStyle/>
          <a:p>
            <a:pPr marL="0" indent="0" algn="l">
              <a:buNone/>
            </a:pPr>
            <a:r>
              <a:rPr lang="en-US" sz="1150" b="1" dirty="0">
                <a:solidFill>
                  <a:srgbClr val="544B46"/>
                </a:solidFill>
                <a:latin typeface="MiSans" pitchFamily="34" charset="0"/>
                <a:ea typeface="MiSans" pitchFamily="34" charset="-122"/>
                <a:cs typeface="MiSans" pitchFamily="34" charset="-120"/>
              </a:rPr>
              <a:t>模拟核验不修改真实课表</a:t>
            </a:r>
            <a:endParaRPr lang="en-US" sz="1150" dirty="0"/>
          </a:p>
        </p:txBody>
      </p:sp>
      <p:sp>
        <p:nvSpPr>
          <p:cNvPr id="17" name="A04_0173_screen-base"/>
          <p:cNvSpPr/>
          <p:nvPr/>
        </p:nvSpPr>
        <p:spPr>
          <a:xfrm>
            <a:off x="4608576" y="1645920"/>
            <a:ext cx="7004304" cy="2286000"/>
          </a:xfrm>
          <a:prstGeom prst="rect">
            <a:avLst/>
          </a:prstGeom>
          <a:solidFill>
            <a:srgbClr val="FFFFFF"/>
          </a:solidFill>
          <a:ln w="11430">
            <a:solidFill>
              <a:srgbClr val="DDD2CA"/>
            </a:solidFill>
            <a:prstDash val="solid"/>
          </a:ln>
        </p:spPr>
      </p:sp>
      <p:pic>
        <p:nvPicPr>
          <p:cNvPr id="18" name="A04_0174_screen-image" descr="competition-project\competition\final-delivery\qa\final-cut\4173-risk-1920x1080.png"/>
          <p:cNvPicPr>
            <a:picLocks noChangeAspect="1"/>
          </p:cNvPicPr>
          <p:nvPr/>
        </p:nvPicPr>
        <p:blipFill>
          <a:blip r:embed="rId3"/>
          <a:stretch>
            <a:fillRect/>
          </a:stretch>
        </p:blipFill>
        <p:spPr>
          <a:xfrm>
            <a:off x="4645152" y="1682496"/>
            <a:ext cx="6931152" cy="2212848"/>
          </a:xfrm>
          <a:prstGeom prst="rect">
            <a:avLst/>
          </a:prstGeom>
        </p:spPr>
      </p:pic>
      <p:sp>
        <p:nvSpPr>
          <p:cNvPr id="19" name="A05_0175_screen-base"/>
          <p:cNvSpPr/>
          <p:nvPr/>
        </p:nvSpPr>
        <p:spPr>
          <a:xfrm>
            <a:off x="4608576" y="4023360"/>
            <a:ext cx="7004304" cy="2286000"/>
          </a:xfrm>
          <a:prstGeom prst="rect">
            <a:avLst/>
          </a:prstGeom>
          <a:solidFill>
            <a:srgbClr val="FFFFFF"/>
          </a:solidFill>
          <a:ln w="11430">
            <a:solidFill>
              <a:srgbClr val="DDD2CA"/>
            </a:solidFill>
            <a:prstDash val="solid"/>
          </a:ln>
        </p:spPr>
      </p:sp>
      <p:pic>
        <p:nvPicPr>
          <p:cNvPr id="20" name="A05_0176_screen-image" descr="competition-project\competition\final-delivery\qa\final-cut\4173-reschedule-1920x1080.png"/>
          <p:cNvPicPr>
            <a:picLocks noChangeAspect="1"/>
          </p:cNvPicPr>
          <p:nvPr/>
        </p:nvPicPr>
        <p:blipFill>
          <a:blip r:embed="rId4"/>
          <a:stretch>
            <a:fillRect/>
          </a:stretch>
        </p:blipFill>
        <p:spPr>
          <a:xfrm>
            <a:off x="4645152" y="4059936"/>
            <a:ext cx="6931152" cy="221284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38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38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38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8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8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80"/>
                                        <p:tgtEl>
                                          <p:spTgt spid="1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380"/>
                                        <p:tgtEl>
                                          <p:spTgt spid="17"/>
                                        </p:tgtEl>
                                      </p:cBhvr>
                                    </p:animEffect>
                                  </p:childTnLst>
                                </p:cTn>
                              </p:par>
                              <p:par>
                                <p:cTn id="38" presetID="10" presetClass="entr" presetSubtype="0" fill="hold"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380"/>
                                        <p:tgtEl>
                                          <p:spTgt spid="18"/>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80"/>
                                        <p:tgtEl>
                                          <p:spTgt spid="19"/>
                                        </p:tgtEl>
                                      </p:cBhvr>
                                    </p:animEffect>
                                  </p:childTnLst>
                                </p:cTn>
                              </p:par>
                              <p:par>
                                <p:cTn id="46" presetID="10" presetClass="entr" presetSubtype="0"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8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5"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7F1"/>
        </a:solidFill>
        <a:effectLst/>
      </p:bgPr>
    </p:bg>
    <p:spTree>
      <p:nvGrpSpPr>
        <p:cNvPr id="1" name=""/>
        <p:cNvGrpSpPr/>
        <p:nvPr/>
      </p:nvGrpSpPr>
      <p:grpSpPr>
        <a:xfrm>
          <a:off x="0" y="0"/>
          <a:ext cx="0" cy="0"/>
          <a:chOff x="0" y="0"/>
          <a:chExt cx="0" cy="0"/>
        </a:xfrm>
      </p:grpSpPr>
      <p:sp>
        <p:nvSpPr>
          <p:cNvPr id="2" name="S00_0177_background-field"/>
          <p:cNvSpPr/>
          <p:nvPr/>
        </p:nvSpPr>
        <p:spPr>
          <a:xfrm>
            <a:off x="-1600200" y="4434840"/>
            <a:ext cx="5303520" cy="3749040"/>
          </a:xfrm>
          <a:prstGeom prst="ellipse">
            <a:avLst/>
          </a:prstGeom>
          <a:solidFill>
            <a:srgbClr val="F6DED8">
              <a:alpha val="38000"/>
            </a:srgbClr>
          </a:solidFill>
          <a:ln w="12700">
            <a:solidFill>
              <a:srgbClr val="FFFFFF">
                <a:alpha val="0"/>
              </a:srgbClr>
            </a:solidFill>
            <a:prstDash val="solid"/>
          </a:ln>
        </p:spPr>
      </p:sp>
      <p:sp>
        <p:nvSpPr>
          <p:cNvPr id="3" name="S00_0178_background-arc"/>
          <p:cNvSpPr/>
          <p:nvPr/>
        </p:nvSpPr>
        <p:spPr>
          <a:xfrm rot="11880000">
            <a:off x="9326880" y="-548640"/>
            <a:ext cx="3291840" cy="2286000"/>
          </a:xfrm>
          <a:prstGeom prst="arc">
            <a:avLst/>
          </a:prstGeom>
          <a:solidFill>
            <a:srgbClr val="FFFFFF">
              <a:alpha val="0"/>
            </a:srgbClr>
          </a:solidFill>
          <a:ln w="13970">
            <a:solidFill>
              <a:srgbClr val="E65442">
                <a:alpha val="30000"/>
              </a:srgbClr>
            </a:solidFill>
            <a:prstDash val="solid"/>
          </a:ln>
        </p:spPr>
      </p:sp>
      <p:sp>
        <p:nvSpPr>
          <p:cNvPr id="4" name="S00_0179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教学管理案例｜全局到个体</a:t>
            </a:r>
            <a:endParaRPr lang="en-US" sz="1000" dirty="0"/>
          </a:p>
        </p:txBody>
      </p:sp>
      <p:sp>
        <p:nvSpPr>
          <p:cNvPr id="5" name="S00_0180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排名不是结论，而是发现问题的入口</a:t>
            </a:r>
            <a:endParaRPr lang="en-US" sz="2700" dirty="0"/>
          </a:p>
        </p:txBody>
      </p:sp>
      <p:sp>
        <p:nvSpPr>
          <p:cNvPr id="6" name="S00_0181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未来四周谁的负载最高？他的课表和真实风险是什么？一层一层往下看。</a:t>
            </a:r>
            <a:endParaRPr lang="en-US" sz="1220" dirty="0"/>
          </a:p>
        </p:txBody>
      </p:sp>
      <p:sp>
        <p:nvSpPr>
          <p:cNvPr id="7" name="S00_0182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183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08 / 12</a:t>
            </a:r>
            <a:endParaRPr lang="en-US" sz="850" dirty="0"/>
          </a:p>
        </p:txBody>
      </p:sp>
      <p:sp>
        <p:nvSpPr>
          <p:cNvPr id="9" name="A01_0184_stage-dot"/>
          <p:cNvSpPr/>
          <p:nvPr/>
        </p:nvSpPr>
        <p:spPr>
          <a:xfrm>
            <a:off x="749808" y="1783080"/>
            <a:ext cx="493776" cy="493776"/>
          </a:xfrm>
          <a:prstGeom prst="ellipse">
            <a:avLst/>
          </a:prstGeom>
          <a:solidFill>
            <a:srgbClr val="507BA0"/>
          </a:solidFill>
          <a:ln w="12700">
            <a:solidFill>
              <a:srgbClr val="FFFFFF">
                <a:alpha val="0"/>
              </a:srgbClr>
            </a:solidFill>
            <a:prstDash val="solid"/>
          </a:ln>
        </p:spPr>
      </p:sp>
      <p:sp>
        <p:nvSpPr>
          <p:cNvPr id="10" name="A01_0185_text"/>
          <p:cNvSpPr/>
          <p:nvPr/>
        </p:nvSpPr>
        <p:spPr>
          <a:xfrm>
            <a:off x="813816" y="1892808"/>
            <a:ext cx="365760" cy="201168"/>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MiSans" pitchFamily="34" charset="0"/>
                <a:ea typeface="MiSans" pitchFamily="34" charset="-122"/>
                <a:cs typeface="MiSans" pitchFamily="34" charset="-120"/>
              </a:rPr>
              <a:t>01</a:t>
            </a:r>
            <a:endParaRPr lang="en-US" sz="850" dirty="0"/>
          </a:p>
        </p:txBody>
      </p:sp>
      <p:sp>
        <p:nvSpPr>
          <p:cNvPr id="11" name="A01_0186_text"/>
          <p:cNvSpPr/>
          <p:nvPr/>
        </p:nvSpPr>
        <p:spPr>
          <a:xfrm>
            <a:off x="1481328" y="1773936"/>
            <a:ext cx="2423160" cy="384048"/>
          </a:xfrm>
          <a:prstGeom prst="rect">
            <a:avLst/>
          </a:prstGeom>
          <a:noFill/>
          <a:ln/>
        </p:spPr>
        <p:txBody>
          <a:bodyPr wrap="square" lIns="0" tIns="0" rIns="0" bIns="0" rtlCol="0" anchor="ctr">
            <a:normAutofit/>
          </a:bodyPr>
          <a:lstStyle/>
          <a:p>
            <a:pPr marL="0" indent="0" algn="l">
              <a:buNone/>
            </a:pPr>
            <a:r>
              <a:rPr lang="en-US" sz="1800" b="1" dirty="0">
                <a:solidFill>
                  <a:srgbClr val="507BA0"/>
                </a:solidFill>
                <a:latin typeface="Noto Serif SC" pitchFamily="34" charset="0"/>
                <a:ea typeface="Noto Serif SC" pitchFamily="34" charset="-122"/>
                <a:cs typeface="Noto Serif SC" pitchFamily="34" charset="-120"/>
              </a:rPr>
              <a:t>先找出最忙的人</a:t>
            </a:r>
            <a:endParaRPr lang="en-US" sz="1800" dirty="0"/>
          </a:p>
        </p:txBody>
      </p:sp>
      <p:sp>
        <p:nvSpPr>
          <p:cNvPr id="12" name="A01_0187_text"/>
          <p:cNvSpPr/>
          <p:nvPr/>
        </p:nvSpPr>
        <p:spPr>
          <a:xfrm>
            <a:off x="1481328" y="2286000"/>
            <a:ext cx="3401568" cy="329184"/>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教师025 · 56课次 / 112课时</a:t>
            </a:r>
            <a:endParaRPr lang="en-US" sz="1220" dirty="0"/>
          </a:p>
        </p:txBody>
      </p:sp>
      <p:sp>
        <p:nvSpPr>
          <p:cNvPr id="13" name="A01_0188_stage-line"/>
          <p:cNvSpPr/>
          <p:nvPr/>
        </p:nvSpPr>
        <p:spPr>
          <a:xfrm>
            <a:off x="996696" y="2304288"/>
            <a:ext cx="0" cy="859536"/>
          </a:xfrm>
          <a:prstGeom prst="line">
            <a:avLst/>
          </a:prstGeom>
          <a:noFill/>
          <a:ln w="17780">
            <a:solidFill>
              <a:srgbClr val="DDD2CA"/>
            </a:solidFill>
            <a:prstDash val="solid"/>
          </a:ln>
        </p:spPr>
      </p:sp>
      <p:sp>
        <p:nvSpPr>
          <p:cNvPr id="14" name="A02_0189_stage-dot"/>
          <p:cNvSpPr/>
          <p:nvPr/>
        </p:nvSpPr>
        <p:spPr>
          <a:xfrm>
            <a:off x="749808" y="3172968"/>
            <a:ext cx="493776" cy="493776"/>
          </a:xfrm>
          <a:prstGeom prst="ellipse">
            <a:avLst/>
          </a:prstGeom>
          <a:solidFill>
            <a:srgbClr val="E65442"/>
          </a:solidFill>
          <a:ln w="12700">
            <a:solidFill>
              <a:srgbClr val="FFFFFF">
                <a:alpha val="0"/>
              </a:srgbClr>
            </a:solidFill>
            <a:prstDash val="solid"/>
          </a:ln>
        </p:spPr>
      </p:sp>
      <p:sp>
        <p:nvSpPr>
          <p:cNvPr id="15" name="A02_0190_text"/>
          <p:cNvSpPr/>
          <p:nvPr/>
        </p:nvSpPr>
        <p:spPr>
          <a:xfrm>
            <a:off x="813816" y="3282696"/>
            <a:ext cx="365760" cy="201168"/>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MiSans" pitchFamily="34" charset="0"/>
                <a:ea typeface="MiSans" pitchFamily="34" charset="-122"/>
                <a:cs typeface="MiSans" pitchFamily="34" charset="-120"/>
              </a:rPr>
              <a:t>02</a:t>
            </a:r>
            <a:endParaRPr lang="en-US" sz="850" dirty="0"/>
          </a:p>
        </p:txBody>
      </p:sp>
      <p:sp>
        <p:nvSpPr>
          <p:cNvPr id="16" name="A02_0191_text"/>
          <p:cNvSpPr/>
          <p:nvPr/>
        </p:nvSpPr>
        <p:spPr>
          <a:xfrm>
            <a:off x="1481328" y="3163824"/>
            <a:ext cx="2423160" cy="384048"/>
          </a:xfrm>
          <a:prstGeom prst="rect">
            <a:avLst/>
          </a:prstGeom>
          <a:noFill/>
          <a:ln/>
        </p:spPr>
        <p:txBody>
          <a:bodyPr wrap="square" lIns="0" tIns="0" rIns="0" bIns="0" rtlCol="0" anchor="ctr">
            <a:normAutofit/>
          </a:bodyPr>
          <a:lstStyle/>
          <a:p>
            <a:pPr marL="0" indent="0" algn="l">
              <a:buNone/>
            </a:pPr>
            <a:r>
              <a:rPr lang="en-US" sz="1800" b="1" dirty="0">
                <a:solidFill>
                  <a:srgbClr val="E65442"/>
                </a:solidFill>
                <a:latin typeface="Noto Serif SC" pitchFamily="34" charset="0"/>
                <a:ea typeface="Noto Serif SC" pitchFamily="34" charset="-122"/>
                <a:cs typeface="Noto Serif SC" pitchFamily="34" charset="-120"/>
              </a:rPr>
              <a:t>再看他的课表</a:t>
            </a:r>
            <a:endParaRPr lang="en-US" sz="1800" dirty="0"/>
          </a:p>
        </p:txBody>
      </p:sp>
      <p:sp>
        <p:nvSpPr>
          <p:cNvPr id="17" name="A02_0192_text"/>
          <p:cNvSpPr/>
          <p:nvPr/>
        </p:nvSpPr>
        <p:spPr>
          <a:xfrm>
            <a:off x="1481328" y="3675888"/>
            <a:ext cx="3401568" cy="329184"/>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沿用同一教师对象，不用重新输入</a:t>
            </a:r>
            <a:endParaRPr lang="en-US" sz="1220" dirty="0"/>
          </a:p>
        </p:txBody>
      </p:sp>
      <p:sp>
        <p:nvSpPr>
          <p:cNvPr id="18" name="A02_0193_stage-line"/>
          <p:cNvSpPr/>
          <p:nvPr/>
        </p:nvSpPr>
        <p:spPr>
          <a:xfrm>
            <a:off x="996696" y="3694176"/>
            <a:ext cx="0" cy="859536"/>
          </a:xfrm>
          <a:prstGeom prst="line">
            <a:avLst/>
          </a:prstGeom>
          <a:noFill/>
          <a:ln w="17780">
            <a:solidFill>
              <a:srgbClr val="DDD2CA"/>
            </a:solidFill>
            <a:prstDash val="solid"/>
          </a:ln>
        </p:spPr>
      </p:sp>
      <p:sp>
        <p:nvSpPr>
          <p:cNvPr id="19" name="A03_0194_stage-dot"/>
          <p:cNvSpPr/>
          <p:nvPr/>
        </p:nvSpPr>
        <p:spPr>
          <a:xfrm>
            <a:off x="749808" y="4562856"/>
            <a:ext cx="493776" cy="493776"/>
          </a:xfrm>
          <a:prstGeom prst="ellipse">
            <a:avLst/>
          </a:prstGeom>
          <a:solidFill>
            <a:srgbClr val="237F69"/>
          </a:solidFill>
          <a:ln w="12700">
            <a:solidFill>
              <a:srgbClr val="FFFFFF">
                <a:alpha val="0"/>
              </a:srgbClr>
            </a:solidFill>
            <a:prstDash val="solid"/>
          </a:ln>
        </p:spPr>
      </p:sp>
      <p:sp>
        <p:nvSpPr>
          <p:cNvPr id="20" name="A03_0195_text"/>
          <p:cNvSpPr/>
          <p:nvPr/>
        </p:nvSpPr>
        <p:spPr>
          <a:xfrm>
            <a:off x="813816" y="4672584"/>
            <a:ext cx="365760" cy="201168"/>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MiSans" pitchFamily="34" charset="0"/>
                <a:ea typeface="MiSans" pitchFamily="34" charset="-122"/>
                <a:cs typeface="MiSans" pitchFamily="34" charset="-120"/>
              </a:rPr>
              <a:t>03</a:t>
            </a:r>
            <a:endParaRPr lang="en-US" sz="850" dirty="0"/>
          </a:p>
        </p:txBody>
      </p:sp>
      <p:sp>
        <p:nvSpPr>
          <p:cNvPr id="21" name="A03_0196_text"/>
          <p:cNvSpPr/>
          <p:nvPr/>
        </p:nvSpPr>
        <p:spPr>
          <a:xfrm>
            <a:off x="1481328" y="4553712"/>
            <a:ext cx="2423160" cy="384048"/>
          </a:xfrm>
          <a:prstGeom prst="rect">
            <a:avLst/>
          </a:prstGeom>
          <a:noFill/>
          <a:ln/>
        </p:spPr>
        <p:txBody>
          <a:bodyPr wrap="square" lIns="0" tIns="0" rIns="0" bIns="0" rtlCol="0" anchor="ctr">
            <a:normAutofit/>
          </a:bodyPr>
          <a:lstStyle/>
          <a:p>
            <a:pPr marL="0" indent="0" algn="l">
              <a:buNone/>
            </a:pPr>
            <a:r>
              <a:rPr lang="en-US" sz="1800" b="1" dirty="0">
                <a:solidFill>
                  <a:srgbClr val="237F69"/>
                </a:solidFill>
                <a:latin typeface="Noto Serif SC" pitchFamily="34" charset="0"/>
                <a:ea typeface="Noto Serif SC" pitchFamily="34" charset="-122"/>
                <a:cs typeface="Noto Serif SC" pitchFamily="34" charset="-120"/>
              </a:rPr>
              <a:t>最后检查他的风险</a:t>
            </a:r>
            <a:endParaRPr lang="en-US" sz="1800" dirty="0"/>
          </a:p>
        </p:txBody>
      </p:sp>
      <p:sp>
        <p:nvSpPr>
          <p:cNvPr id="22" name="A03_0197_text"/>
          <p:cNvSpPr/>
          <p:nvPr/>
        </p:nvSpPr>
        <p:spPr>
          <a:xfrm>
            <a:off x="1481328" y="5065776"/>
            <a:ext cx="3401568" cy="329184"/>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0硬冲突 / 每周4次转场风险</a:t>
            </a:r>
            <a:endParaRPr lang="en-US" sz="1220" dirty="0"/>
          </a:p>
        </p:txBody>
      </p:sp>
      <p:sp>
        <p:nvSpPr>
          <p:cNvPr id="23" name="A04_0198_text"/>
          <p:cNvSpPr/>
          <p:nvPr/>
        </p:nvSpPr>
        <p:spPr>
          <a:xfrm>
            <a:off x="758952" y="5806440"/>
            <a:ext cx="4005072" cy="347472"/>
          </a:xfrm>
          <a:prstGeom prst="rect">
            <a:avLst/>
          </a:prstGeom>
          <a:noFill/>
          <a:ln/>
        </p:spPr>
        <p:txBody>
          <a:bodyPr wrap="square" lIns="0" tIns="0" rIns="0" bIns="0" rtlCol="0" anchor="ctr">
            <a:normAutofit/>
          </a:bodyPr>
          <a:lstStyle/>
          <a:p>
            <a:pPr marL="0" indent="0" algn="l">
              <a:buNone/>
            </a:pPr>
            <a:r>
              <a:rPr lang="en-US" sz="1700" b="1" dirty="0">
                <a:solidFill>
                  <a:srgbClr val="B83E32"/>
                </a:solidFill>
                <a:latin typeface="Noto Serif SC" pitchFamily="34" charset="0"/>
                <a:ea typeface="Noto Serif SC" pitchFamily="34" charset="-122"/>
                <a:cs typeface="Noto Serif SC" pitchFamily="34" charset="-120"/>
              </a:rPr>
              <a:t>答案层层接力，“他”始终是同一个人。</a:t>
            </a:r>
            <a:endParaRPr lang="en-US" sz="1700" dirty="0"/>
          </a:p>
        </p:txBody>
      </p:sp>
      <p:sp>
        <p:nvSpPr>
          <p:cNvPr id="24" name="A04_0199_screen-base"/>
          <p:cNvSpPr/>
          <p:nvPr/>
        </p:nvSpPr>
        <p:spPr>
          <a:xfrm>
            <a:off x="5102352" y="1682496"/>
            <a:ext cx="6510528" cy="4498848"/>
          </a:xfrm>
          <a:prstGeom prst="rect">
            <a:avLst/>
          </a:prstGeom>
          <a:solidFill>
            <a:srgbClr val="FFFFFF"/>
          </a:solidFill>
          <a:ln w="11430">
            <a:solidFill>
              <a:srgbClr val="DDD2CA"/>
            </a:solidFill>
            <a:prstDash val="solid"/>
          </a:ln>
        </p:spPr>
      </p:sp>
      <p:pic>
        <p:nvPicPr>
          <p:cNvPr id="25" name="A04_0200_screen-image" descr="competition-project\competition\final-delivery\qa\final-cut\4173-insight-1920x1080.png"/>
          <p:cNvPicPr>
            <a:picLocks noChangeAspect="1"/>
          </p:cNvPicPr>
          <p:nvPr/>
        </p:nvPicPr>
        <p:blipFill>
          <a:blip r:embed="rId3"/>
          <a:stretch>
            <a:fillRect/>
          </a:stretch>
        </p:blipFill>
        <p:spPr>
          <a:xfrm>
            <a:off x="5138928" y="1719072"/>
            <a:ext cx="6437376" cy="44256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8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38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38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38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38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38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380"/>
                                        <p:tgtEl>
                                          <p:spTgt spid="17"/>
                                        </p:tgtEl>
                                      </p:cBhvr>
                                    </p:animEffect>
                                  </p:childTnLst>
                                </p:cTn>
                              </p:par>
                              <p:par>
                                <p:cTn id="34" presetID="10" presetClass="entr" presetSubtype="0" fill="hold"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38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8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38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380"/>
                                        <p:tgtEl>
                                          <p:spTgt spid="2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380"/>
                                        <p:tgtEl>
                                          <p:spTgt spid="2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80"/>
                                        <p:tgtEl>
                                          <p:spTgt spid="23"/>
                                        </p:tgtEl>
                                      </p:cBhvr>
                                    </p:animEffect>
                                  </p:childTnLst>
                                </p:cTn>
                              </p:par>
                              <p:par>
                                <p:cTn id="56" presetID="10" presetClass="entr" presetSubtype="0" fill="hold"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380"/>
                                        <p:tgtEl>
                                          <p:spTgt spid="24"/>
                                        </p:tgtEl>
                                      </p:cBhvr>
                                    </p:animEffect>
                                  </p:childTnLst>
                                </p:cTn>
                              </p:par>
                              <p:par>
                                <p:cTn id="59" presetID="10" presetClass="entr" presetSubtype="0" fill="hold"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38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5" grpId="0" animBg="1"/>
      <p:bldP spid="16" grpId="0" animBg="1"/>
      <p:bldP spid="17" grpId="0" animBg="1"/>
      <p:bldP spid="20" grpId="0" animBg="1"/>
      <p:bldP spid="21" grpId="0" animBg="1"/>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7F1"/>
        </a:solidFill>
        <a:effectLst/>
      </p:bgPr>
    </p:bg>
    <p:spTree>
      <p:nvGrpSpPr>
        <p:cNvPr id="1" name=""/>
        <p:cNvGrpSpPr/>
        <p:nvPr/>
      </p:nvGrpSpPr>
      <p:grpSpPr>
        <a:xfrm>
          <a:off x="0" y="0"/>
          <a:ext cx="0" cy="0"/>
          <a:chOff x="0" y="0"/>
          <a:chExt cx="0" cy="0"/>
        </a:xfrm>
      </p:grpSpPr>
      <p:sp>
        <p:nvSpPr>
          <p:cNvPr id="2" name="S00_0201_background-field"/>
          <p:cNvSpPr/>
          <p:nvPr/>
        </p:nvSpPr>
        <p:spPr>
          <a:xfrm>
            <a:off x="8641080" y="-1554480"/>
            <a:ext cx="5303520" cy="3749040"/>
          </a:xfrm>
          <a:prstGeom prst="ellipse">
            <a:avLst/>
          </a:prstGeom>
          <a:solidFill>
            <a:srgbClr val="F6E8D8">
              <a:alpha val="38000"/>
            </a:srgbClr>
          </a:solidFill>
          <a:ln w="12700">
            <a:solidFill>
              <a:srgbClr val="FFFFFF">
                <a:alpha val="0"/>
              </a:srgbClr>
            </a:solidFill>
            <a:prstDash val="solid"/>
          </a:ln>
        </p:spPr>
      </p:sp>
      <p:sp>
        <p:nvSpPr>
          <p:cNvPr id="3" name="S00_0202_background-arc"/>
          <p:cNvSpPr/>
          <p:nvPr/>
        </p:nvSpPr>
        <p:spPr>
          <a:xfrm rot="1080000">
            <a:off x="-640080" y="4389120"/>
            <a:ext cx="3291840" cy="2286000"/>
          </a:xfrm>
          <a:prstGeom prst="arc">
            <a:avLst/>
          </a:prstGeom>
          <a:solidFill>
            <a:srgbClr val="FFFFFF">
              <a:alpha val="0"/>
            </a:srgbClr>
          </a:solidFill>
          <a:ln w="13970">
            <a:solidFill>
              <a:srgbClr val="E65442">
                <a:alpha val="30000"/>
              </a:srgbClr>
            </a:solidFill>
            <a:prstDash val="solid"/>
          </a:ln>
        </p:spPr>
      </p:sp>
      <p:sp>
        <p:nvSpPr>
          <p:cNvPr id="4" name="S00_0203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背后怎么做到</a:t>
            </a:r>
            <a:endParaRPr lang="en-US" sz="1000" dirty="0"/>
          </a:p>
        </p:txBody>
      </p:sp>
      <p:sp>
        <p:nvSpPr>
          <p:cNvPr id="5" name="S00_0204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主协调听懂任务，专业角色把事情办完</a:t>
            </a:r>
            <a:endParaRPr lang="en-US" sz="2700" dirty="0"/>
          </a:p>
        </p:txBody>
      </p:sp>
      <p:sp>
        <p:nvSpPr>
          <p:cNvPr id="6" name="S00_0205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四个智能体各有边界；主协调不直接调用 CampusTools，所有结果都回到主协调统一解释。</a:t>
            </a:r>
            <a:endParaRPr lang="en-US" sz="1220" dirty="0"/>
          </a:p>
        </p:txBody>
      </p:sp>
      <p:sp>
        <p:nvSpPr>
          <p:cNvPr id="7" name="S00_0206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207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09 / 12</a:t>
            </a:r>
            <a:endParaRPr lang="en-US" sz="850" dirty="0"/>
          </a:p>
        </p:txBody>
      </p:sp>
      <p:sp>
        <p:nvSpPr>
          <p:cNvPr id="9" name="A01_0208_main"/>
          <p:cNvSpPr/>
          <p:nvPr/>
        </p:nvSpPr>
        <p:spPr>
          <a:xfrm>
            <a:off x="4160520" y="1865376"/>
            <a:ext cx="1947672" cy="1325880"/>
          </a:xfrm>
          <a:prstGeom prst="ellipse">
            <a:avLst/>
          </a:prstGeom>
          <a:solidFill>
            <a:srgbClr val="E65442"/>
          </a:solidFill>
          <a:ln w="12700">
            <a:solidFill>
              <a:srgbClr val="FFFFFF">
                <a:alpha val="0"/>
              </a:srgbClr>
            </a:solidFill>
            <a:prstDash val="solid"/>
          </a:ln>
        </p:spPr>
      </p:sp>
      <p:sp>
        <p:nvSpPr>
          <p:cNvPr id="10" name="A01_0209_text"/>
          <p:cNvSpPr/>
          <p:nvPr/>
        </p:nvSpPr>
        <p:spPr>
          <a:xfrm>
            <a:off x="4261104" y="2130552"/>
            <a:ext cx="1737360"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Noto Serif SC" pitchFamily="34" charset="0"/>
                <a:ea typeface="Noto Serif SC" pitchFamily="34" charset="-122"/>
                <a:cs typeface="Noto Serif SC" pitchFamily="34" charset="-120"/>
              </a:rPr>
              <a:t>小序·主协调</a:t>
            </a:r>
            <a:endParaRPr lang="en-US" sz="1700" dirty="0"/>
          </a:p>
        </p:txBody>
      </p:sp>
      <p:sp>
        <p:nvSpPr>
          <p:cNvPr id="11" name="A01_0210_text"/>
          <p:cNvSpPr/>
          <p:nvPr/>
        </p:nvSpPr>
        <p:spPr>
          <a:xfrm>
            <a:off x="4334256" y="2578608"/>
            <a:ext cx="1581912" cy="246888"/>
          </a:xfrm>
          <a:prstGeom prst="rect">
            <a:avLst/>
          </a:prstGeom>
          <a:noFill/>
          <a:ln/>
        </p:spPr>
        <p:txBody>
          <a:bodyPr wrap="square" lIns="0" tIns="0" rIns="0" bIns="0" rtlCol="0" anchor="ctr">
            <a:normAutofit/>
          </a:bodyPr>
          <a:lstStyle/>
          <a:p>
            <a:pPr marL="0" indent="0" algn="ctr">
              <a:buNone/>
            </a:pPr>
            <a:r>
              <a:rPr lang="en-US" sz="1000" dirty="0">
                <a:solidFill>
                  <a:srgbClr val="FFE5DE"/>
                </a:solidFill>
                <a:latin typeface="MiSans" pitchFamily="34" charset="0"/>
                <a:ea typeface="MiSans" pitchFamily="34" charset="-122"/>
                <a:cs typeface="MiSans" pitchFamily="34" charset="-120"/>
              </a:rPr>
              <a:t>理解 · 分工 · 汇总</a:t>
            </a:r>
            <a:endParaRPr lang="en-US" sz="1000" dirty="0"/>
          </a:p>
        </p:txBody>
      </p:sp>
      <p:sp>
        <p:nvSpPr>
          <p:cNvPr id="12" name="A02_0211_text"/>
          <p:cNvSpPr/>
          <p:nvPr/>
        </p:nvSpPr>
        <p:spPr>
          <a:xfrm>
            <a:off x="713232" y="1874520"/>
            <a:ext cx="2615184" cy="438912"/>
          </a:xfrm>
          <a:prstGeom prst="rect">
            <a:avLst/>
          </a:prstGeom>
          <a:noFill/>
          <a:ln/>
        </p:spPr>
        <p:txBody>
          <a:bodyPr wrap="square" lIns="0" tIns="0" rIns="0" bIns="0" rtlCol="0" anchor="ctr">
            <a:normAutofit/>
          </a:bodyPr>
          <a:lstStyle/>
          <a:p>
            <a:pPr marL="0" indent="0" algn="l">
              <a:buNone/>
            </a:pPr>
            <a:r>
              <a:rPr lang="en-US" sz="2000" b="1" dirty="0">
                <a:solidFill>
                  <a:srgbClr val="B83E32"/>
                </a:solidFill>
                <a:latin typeface="Noto Serif SC" pitchFamily="34" charset="0"/>
                <a:ea typeface="Noto Serif SC" pitchFamily="34" charset="-122"/>
                <a:cs typeface="Noto Serif SC" pitchFamily="34" charset="-120"/>
              </a:rPr>
              <a:t>课程空间</a:t>
            </a:r>
            <a:endParaRPr lang="en-US" sz="2000" dirty="0"/>
          </a:p>
        </p:txBody>
      </p:sp>
      <p:sp>
        <p:nvSpPr>
          <p:cNvPr id="13" name="A02_0212_line"/>
          <p:cNvSpPr/>
          <p:nvPr/>
        </p:nvSpPr>
        <p:spPr>
          <a:xfrm>
            <a:off x="713232" y="2432304"/>
            <a:ext cx="2468880" cy="0"/>
          </a:xfrm>
          <a:prstGeom prst="line">
            <a:avLst/>
          </a:prstGeom>
          <a:noFill/>
          <a:ln w="29210">
            <a:solidFill>
              <a:srgbClr val="B83E32"/>
            </a:solidFill>
            <a:prstDash val="solid"/>
          </a:ln>
        </p:spPr>
      </p:sp>
      <p:sp>
        <p:nvSpPr>
          <p:cNvPr id="14" name="A02_0213_text"/>
          <p:cNvSpPr/>
          <p:nvPr/>
        </p:nvSpPr>
        <p:spPr>
          <a:xfrm>
            <a:off x="713232" y="2615184"/>
            <a:ext cx="2606040" cy="493776"/>
          </a:xfrm>
          <a:prstGeom prst="rect">
            <a:avLst/>
          </a:prstGeom>
          <a:noFill/>
          <a:ln/>
        </p:spPr>
        <p:txBody>
          <a:bodyPr wrap="square" lIns="0" tIns="0" rIns="0" bIns="0" rtlCol="0" anchor="ctr">
            <a:normAutofit/>
          </a:bodyPr>
          <a:lstStyle/>
          <a:p>
            <a:pPr marL="0" indent="0" algn="l">
              <a:buNone/>
            </a:pPr>
            <a:r>
              <a:rPr lang="en-US" sz="1200" dirty="0">
                <a:solidFill>
                  <a:srgbClr val="544B46"/>
                </a:solidFill>
                <a:latin typeface="MiSans" pitchFamily="34" charset="0"/>
                <a:ea typeface="MiSans" pitchFamily="34" charset="-122"/>
                <a:cs typeface="MiSans" pitchFamily="34" charset="-120"/>
              </a:rPr>
              <a:t>查课表、找教室、算共同空闲</a:t>
            </a:r>
            <a:endParaRPr lang="en-US" sz="1200" dirty="0"/>
          </a:p>
        </p:txBody>
      </p:sp>
      <p:sp>
        <p:nvSpPr>
          <p:cNvPr id="15" name="A02_0214_double-arrow"/>
          <p:cNvSpPr/>
          <p:nvPr/>
        </p:nvSpPr>
        <p:spPr>
          <a:xfrm>
            <a:off x="3310128" y="2404872"/>
            <a:ext cx="850392" cy="118872"/>
          </a:xfrm>
          <a:prstGeom prst="line">
            <a:avLst/>
          </a:prstGeom>
          <a:noFill/>
          <a:ln w="18415">
            <a:solidFill>
              <a:srgbClr val="E65442"/>
            </a:solidFill>
            <a:prstDash val="solid"/>
            <a:headEnd type="triangle"/>
            <a:tailEnd type="triangle"/>
          </a:ln>
        </p:spPr>
      </p:sp>
      <p:sp>
        <p:nvSpPr>
          <p:cNvPr id="16" name="A03_0215_text"/>
          <p:cNvSpPr/>
          <p:nvPr/>
        </p:nvSpPr>
        <p:spPr>
          <a:xfrm>
            <a:off x="713232" y="3986784"/>
            <a:ext cx="2615184" cy="438912"/>
          </a:xfrm>
          <a:prstGeom prst="rect">
            <a:avLst/>
          </a:prstGeom>
          <a:noFill/>
          <a:ln/>
        </p:spPr>
        <p:txBody>
          <a:bodyPr wrap="square" lIns="0" tIns="0" rIns="0" bIns="0" rtlCol="0" anchor="ctr">
            <a:normAutofit/>
          </a:bodyPr>
          <a:lstStyle/>
          <a:p>
            <a:pPr marL="0" indent="0" algn="l">
              <a:buNone/>
            </a:pPr>
            <a:r>
              <a:rPr lang="en-US" sz="2000" b="1" dirty="0">
                <a:solidFill>
                  <a:srgbClr val="B96B2E"/>
                </a:solidFill>
                <a:latin typeface="Noto Serif SC" pitchFamily="34" charset="0"/>
                <a:ea typeface="Noto Serif SC" pitchFamily="34" charset="-122"/>
                <a:cs typeface="Noto Serif SC" pitchFamily="34" charset="-120"/>
              </a:rPr>
              <a:t>风险规划</a:t>
            </a:r>
            <a:endParaRPr lang="en-US" sz="2000" dirty="0"/>
          </a:p>
        </p:txBody>
      </p:sp>
      <p:sp>
        <p:nvSpPr>
          <p:cNvPr id="17" name="A03_0216_line"/>
          <p:cNvSpPr/>
          <p:nvPr/>
        </p:nvSpPr>
        <p:spPr>
          <a:xfrm>
            <a:off x="713232" y="4544568"/>
            <a:ext cx="2468880" cy="0"/>
          </a:xfrm>
          <a:prstGeom prst="line">
            <a:avLst/>
          </a:prstGeom>
          <a:noFill/>
          <a:ln w="29210">
            <a:solidFill>
              <a:srgbClr val="B96B2E"/>
            </a:solidFill>
            <a:prstDash val="solid"/>
          </a:ln>
        </p:spPr>
      </p:sp>
      <p:sp>
        <p:nvSpPr>
          <p:cNvPr id="18" name="A03_0217_text"/>
          <p:cNvSpPr/>
          <p:nvPr/>
        </p:nvSpPr>
        <p:spPr>
          <a:xfrm>
            <a:off x="713232" y="4727448"/>
            <a:ext cx="2606040" cy="493776"/>
          </a:xfrm>
          <a:prstGeom prst="rect">
            <a:avLst/>
          </a:prstGeom>
          <a:noFill/>
          <a:ln/>
        </p:spPr>
        <p:txBody>
          <a:bodyPr wrap="square" lIns="0" tIns="0" rIns="0" bIns="0" rtlCol="0" anchor="ctr">
            <a:normAutofit/>
          </a:bodyPr>
          <a:lstStyle/>
          <a:p>
            <a:pPr marL="0" indent="0" algn="l">
              <a:buNone/>
            </a:pPr>
            <a:r>
              <a:rPr lang="en-US" sz="1200" dirty="0">
                <a:solidFill>
                  <a:srgbClr val="544B46"/>
                </a:solidFill>
                <a:latin typeface="MiSans" pitchFamily="34" charset="0"/>
                <a:ea typeface="MiSans" pitchFamily="34" charset="-122"/>
                <a:cs typeface="MiSans" pitchFamily="34" charset="-120"/>
              </a:rPr>
              <a:t>查冲突、识别赶场、模拟调课</a:t>
            </a:r>
            <a:endParaRPr lang="en-US" sz="1200" dirty="0"/>
          </a:p>
        </p:txBody>
      </p:sp>
      <p:sp>
        <p:nvSpPr>
          <p:cNvPr id="19" name="A03_0218_double-arrow"/>
          <p:cNvSpPr/>
          <p:nvPr/>
        </p:nvSpPr>
        <p:spPr>
          <a:xfrm flipV="1">
            <a:off x="3310128" y="2523744"/>
            <a:ext cx="850392" cy="1993392"/>
          </a:xfrm>
          <a:prstGeom prst="line">
            <a:avLst/>
          </a:prstGeom>
          <a:noFill/>
          <a:ln w="18415">
            <a:solidFill>
              <a:srgbClr val="E65442"/>
            </a:solidFill>
            <a:prstDash val="solid"/>
            <a:headEnd type="triangle"/>
            <a:tailEnd type="triangle"/>
          </a:ln>
        </p:spPr>
      </p:sp>
      <p:sp>
        <p:nvSpPr>
          <p:cNvPr id="20" name="A04_0219_text"/>
          <p:cNvSpPr/>
          <p:nvPr/>
        </p:nvSpPr>
        <p:spPr>
          <a:xfrm>
            <a:off x="4096512" y="4224528"/>
            <a:ext cx="2615184" cy="438912"/>
          </a:xfrm>
          <a:prstGeom prst="rect">
            <a:avLst/>
          </a:prstGeom>
          <a:noFill/>
          <a:ln/>
        </p:spPr>
        <p:txBody>
          <a:bodyPr wrap="square" lIns="0" tIns="0" rIns="0" bIns="0" rtlCol="0" anchor="ctr">
            <a:normAutofit/>
          </a:bodyPr>
          <a:lstStyle/>
          <a:p>
            <a:pPr marL="0" indent="0" algn="l">
              <a:buNone/>
            </a:pPr>
            <a:r>
              <a:rPr lang="en-US" sz="2000" b="1" dirty="0">
                <a:solidFill>
                  <a:srgbClr val="507BA0"/>
                </a:solidFill>
                <a:latin typeface="Noto Serif SC" pitchFamily="34" charset="0"/>
                <a:ea typeface="Noto Serif SC" pitchFamily="34" charset="-122"/>
                <a:cs typeface="Noto Serif SC" pitchFamily="34" charset="-120"/>
              </a:rPr>
              <a:t>校园洞察</a:t>
            </a:r>
            <a:endParaRPr lang="en-US" sz="2000" dirty="0"/>
          </a:p>
        </p:txBody>
      </p:sp>
      <p:sp>
        <p:nvSpPr>
          <p:cNvPr id="21" name="A04_0220_line"/>
          <p:cNvSpPr/>
          <p:nvPr/>
        </p:nvSpPr>
        <p:spPr>
          <a:xfrm>
            <a:off x="4096512" y="4782312"/>
            <a:ext cx="2468880" cy="0"/>
          </a:xfrm>
          <a:prstGeom prst="line">
            <a:avLst/>
          </a:prstGeom>
          <a:noFill/>
          <a:ln w="29210">
            <a:solidFill>
              <a:srgbClr val="507BA0"/>
            </a:solidFill>
            <a:prstDash val="solid"/>
          </a:ln>
        </p:spPr>
      </p:sp>
      <p:sp>
        <p:nvSpPr>
          <p:cNvPr id="22" name="A04_0221_text"/>
          <p:cNvSpPr/>
          <p:nvPr/>
        </p:nvSpPr>
        <p:spPr>
          <a:xfrm>
            <a:off x="4096512" y="4965192"/>
            <a:ext cx="2606040" cy="493776"/>
          </a:xfrm>
          <a:prstGeom prst="rect">
            <a:avLst/>
          </a:prstGeom>
          <a:noFill/>
          <a:ln/>
        </p:spPr>
        <p:txBody>
          <a:bodyPr wrap="square" lIns="0" tIns="0" rIns="0" bIns="0" rtlCol="0" anchor="ctr">
            <a:normAutofit/>
          </a:bodyPr>
          <a:lstStyle/>
          <a:p>
            <a:pPr marL="0" indent="0" algn="l">
              <a:buNone/>
            </a:pPr>
            <a:r>
              <a:rPr lang="en-US" sz="1200" dirty="0">
                <a:solidFill>
                  <a:srgbClr val="544B46"/>
                </a:solidFill>
                <a:latin typeface="MiSans" pitchFamily="34" charset="0"/>
                <a:ea typeface="MiSans" pitchFamily="34" charset="-122"/>
                <a:cs typeface="MiSans" pitchFamily="34" charset="-120"/>
              </a:rPr>
              <a:t>看负载、找第一名、继续下钻</a:t>
            </a:r>
            <a:endParaRPr lang="en-US" sz="1200" dirty="0"/>
          </a:p>
        </p:txBody>
      </p:sp>
      <p:sp>
        <p:nvSpPr>
          <p:cNvPr id="23" name="A04_0222_double-arrow"/>
          <p:cNvSpPr/>
          <p:nvPr/>
        </p:nvSpPr>
        <p:spPr>
          <a:xfrm flipH="1" flipV="1">
            <a:off x="5129784" y="2523744"/>
            <a:ext cx="274320" cy="2231136"/>
          </a:xfrm>
          <a:prstGeom prst="line">
            <a:avLst/>
          </a:prstGeom>
          <a:noFill/>
          <a:ln w="18415">
            <a:solidFill>
              <a:srgbClr val="E65442"/>
            </a:solidFill>
            <a:prstDash val="solid"/>
            <a:headEnd type="triangle"/>
            <a:tailEnd type="triangle"/>
          </a:ln>
        </p:spPr>
      </p:sp>
      <p:sp>
        <p:nvSpPr>
          <p:cNvPr id="24" name="A05_0223_tools-band"/>
          <p:cNvSpPr/>
          <p:nvPr/>
        </p:nvSpPr>
        <p:spPr>
          <a:xfrm>
            <a:off x="6830568" y="1755648"/>
            <a:ext cx="4745736" cy="4389120"/>
          </a:xfrm>
          <a:prstGeom prst="rect">
            <a:avLst/>
          </a:prstGeom>
          <a:solidFill>
            <a:srgbClr val="DDECE6">
              <a:alpha val="76000"/>
            </a:srgbClr>
          </a:solidFill>
          <a:ln w="12700">
            <a:solidFill>
              <a:srgbClr val="FFFFFF">
                <a:alpha val="0"/>
              </a:srgbClr>
            </a:solidFill>
            <a:prstDash val="solid"/>
          </a:ln>
        </p:spPr>
      </p:sp>
      <p:sp>
        <p:nvSpPr>
          <p:cNvPr id="25" name="A05_0224_text"/>
          <p:cNvSpPr/>
          <p:nvPr/>
        </p:nvSpPr>
        <p:spPr>
          <a:xfrm>
            <a:off x="7159752" y="1984248"/>
            <a:ext cx="2194560" cy="438912"/>
          </a:xfrm>
          <a:prstGeom prst="rect">
            <a:avLst/>
          </a:prstGeom>
          <a:noFill/>
          <a:ln/>
        </p:spPr>
        <p:txBody>
          <a:bodyPr wrap="square" lIns="0" tIns="0" rIns="0" bIns="0" rtlCol="0" anchor="ctr">
            <a:normAutofit/>
          </a:bodyPr>
          <a:lstStyle/>
          <a:p>
            <a:pPr marL="0" indent="0" algn="l">
              <a:buNone/>
            </a:pPr>
            <a:r>
              <a:rPr lang="en-US" sz="2300" b="1" dirty="0">
                <a:solidFill>
                  <a:srgbClr val="237F69"/>
                </a:solidFill>
                <a:latin typeface="MiSans" pitchFamily="34" charset="0"/>
                <a:ea typeface="MiSans" pitchFamily="34" charset="-122"/>
                <a:cs typeface="MiSans" pitchFamily="34" charset="-120"/>
              </a:rPr>
              <a:t>CampusTools</a:t>
            </a:r>
            <a:endParaRPr lang="en-US" sz="2300" dirty="0"/>
          </a:p>
        </p:txBody>
      </p:sp>
      <p:sp>
        <p:nvSpPr>
          <p:cNvPr id="26" name="A05_0225_text"/>
          <p:cNvSpPr/>
          <p:nvPr/>
        </p:nvSpPr>
        <p:spPr>
          <a:xfrm>
            <a:off x="7178040" y="2459736"/>
            <a:ext cx="3328416" cy="283464"/>
          </a:xfrm>
          <a:prstGeom prst="rect">
            <a:avLst/>
          </a:prstGeom>
          <a:noFill/>
          <a:ln/>
        </p:spPr>
        <p:txBody>
          <a:bodyPr wrap="square" lIns="0" tIns="0" rIns="0" bIns="0" rtlCol="0" anchor="ctr">
            <a:normAutofit/>
          </a:bodyPr>
          <a:lstStyle/>
          <a:p>
            <a:pPr marL="0" indent="0" algn="l">
              <a:buNone/>
            </a:pPr>
            <a:r>
              <a:rPr lang="en-US" sz="1150" dirty="0">
                <a:solidFill>
                  <a:srgbClr val="544B46"/>
                </a:solidFill>
                <a:latin typeface="MiSans" pitchFamily="34" charset="0"/>
                <a:ea typeface="MiSans" pitchFamily="34" charset="-122"/>
                <a:cs typeface="MiSans" pitchFamily="34" charset="-120"/>
              </a:rPr>
              <a:t>13 个面向智能体的确定性工具</a:t>
            </a:r>
            <a:endParaRPr lang="en-US" sz="1150" dirty="0"/>
          </a:p>
        </p:txBody>
      </p:sp>
      <p:sp>
        <p:nvSpPr>
          <p:cNvPr id="27" name="A05_0226_line"/>
          <p:cNvSpPr/>
          <p:nvPr/>
        </p:nvSpPr>
        <p:spPr>
          <a:xfrm>
            <a:off x="7168896" y="3529584"/>
            <a:ext cx="3977640" cy="0"/>
          </a:xfrm>
          <a:prstGeom prst="line">
            <a:avLst/>
          </a:prstGeom>
          <a:noFill/>
          <a:ln w="10160">
            <a:solidFill>
              <a:srgbClr val="BFD8CE"/>
            </a:solidFill>
            <a:prstDash val="solid"/>
          </a:ln>
        </p:spPr>
      </p:sp>
      <p:sp>
        <p:nvSpPr>
          <p:cNvPr id="28" name="A05_0227_text"/>
          <p:cNvSpPr/>
          <p:nvPr/>
        </p:nvSpPr>
        <p:spPr>
          <a:xfrm>
            <a:off x="7187184" y="2999232"/>
            <a:ext cx="1225296" cy="329184"/>
          </a:xfrm>
          <a:prstGeom prst="rect">
            <a:avLst/>
          </a:prstGeom>
          <a:noFill/>
          <a:ln/>
        </p:spPr>
        <p:txBody>
          <a:bodyPr wrap="square" lIns="0" tIns="0" rIns="0" bIns="0" rtlCol="0" anchor="ctr">
            <a:normAutofit/>
          </a:bodyPr>
          <a:lstStyle/>
          <a:p>
            <a:pPr marL="0" indent="0" algn="l">
              <a:buNone/>
            </a:pPr>
            <a:r>
              <a:rPr lang="en-US" sz="1220" b="1" dirty="0">
                <a:solidFill>
                  <a:srgbClr val="237F69"/>
                </a:solidFill>
                <a:latin typeface="MiSans" pitchFamily="34" charset="0"/>
                <a:ea typeface="MiSans" pitchFamily="34" charset="-122"/>
                <a:cs typeface="MiSans" pitchFamily="34" charset="-120"/>
              </a:rPr>
              <a:t>课表与对象</a:t>
            </a:r>
            <a:endParaRPr lang="en-US" sz="1220" dirty="0"/>
          </a:p>
        </p:txBody>
      </p:sp>
      <p:sp>
        <p:nvSpPr>
          <p:cNvPr id="29" name="A05_0228_text"/>
          <p:cNvSpPr/>
          <p:nvPr/>
        </p:nvSpPr>
        <p:spPr>
          <a:xfrm>
            <a:off x="8540496" y="2999232"/>
            <a:ext cx="2606040" cy="329184"/>
          </a:xfrm>
          <a:prstGeom prst="rect">
            <a:avLst/>
          </a:prstGeom>
          <a:noFill/>
          <a:ln/>
        </p:spPr>
        <p:txBody>
          <a:bodyPr wrap="square" lIns="0" tIns="0" rIns="0" bIns="0" rtlCol="0" anchor="ctr">
            <a:normAutofit/>
          </a:bodyPr>
          <a:lstStyle/>
          <a:p>
            <a:pPr marL="0" indent="0" algn="l">
              <a:buNone/>
            </a:pPr>
            <a:r>
              <a:rPr lang="en-US" sz="1070" dirty="0">
                <a:solidFill>
                  <a:srgbClr val="544B46"/>
                </a:solidFill>
                <a:latin typeface="MiSans" pitchFamily="34" charset="0"/>
                <a:ea typeface="MiSans" pitchFamily="34" charset="-122"/>
                <a:cs typeface="MiSans" pitchFamily="34" charset="-120"/>
              </a:rPr>
              <a:t>查课表 · 找对象 · 衔接上下文</a:t>
            </a:r>
            <a:endParaRPr lang="en-US" sz="1070" dirty="0"/>
          </a:p>
        </p:txBody>
      </p:sp>
      <p:sp>
        <p:nvSpPr>
          <p:cNvPr id="30" name="A05_0229_line"/>
          <p:cNvSpPr/>
          <p:nvPr/>
        </p:nvSpPr>
        <p:spPr>
          <a:xfrm>
            <a:off x="7168896" y="4206240"/>
            <a:ext cx="3977640" cy="0"/>
          </a:xfrm>
          <a:prstGeom prst="line">
            <a:avLst/>
          </a:prstGeom>
          <a:noFill/>
          <a:ln w="10160">
            <a:solidFill>
              <a:srgbClr val="BFD8CE"/>
            </a:solidFill>
            <a:prstDash val="solid"/>
          </a:ln>
        </p:spPr>
      </p:sp>
      <p:sp>
        <p:nvSpPr>
          <p:cNvPr id="31" name="A05_0230_text"/>
          <p:cNvSpPr/>
          <p:nvPr/>
        </p:nvSpPr>
        <p:spPr>
          <a:xfrm>
            <a:off x="7187184" y="3675888"/>
            <a:ext cx="1225296" cy="329184"/>
          </a:xfrm>
          <a:prstGeom prst="rect">
            <a:avLst/>
          </a:prstGeom>
          <a:noFill/>
          <a:ln/>
        </p:spPr>
        <p:txBody>
          <a:bodyPr wrap="square" lIns="0" tIns="0" rIns="0" bIns="0" rtlCol="0" anchor="ctr">
            <a:normAutofit/>
          </a:bodyPr>
          <a:lstStyle/>
          <a:p>
            <a:pPr marL="0" indent="0" algn="l">
              <a:buNone/>
            </a:pPr>
            <a:r>
              <a:rPr lang="en-US" sz="1220" b="1" dirty="0">
                <a:solidFill>
                  <a:srgbClr val="237F69"/>
                </a:solidFill>
                <a:latin typeface="MiSans" pitchFamily="34" charset="0"/>
                <a:ea typeface="MiSans" pitchFamily="34" charset="-122"/>
                <a:cs typeface="MiSans" pitchFamily="34" charset="-120"/>
              </a:rPr>
              <a:t>空间与协同</a:t>
            </a:r>
            <a:endParaRPr lang="en-US" sz="1220" dirty="0"/>
          </a:p>
        </p:txBody>
      </p:sp>
      <p:sp>
        <p:nvSpPr>
          <p:cNvPr id="32" name="A05_0231_text"/>
          <p:cNvSpPr/>
          <p:nvPr/>
        </p:nvSpPr>
        <p:spPr>
          <a:xfrm>
            <a:off x="8540496" y="3675888"/>
            <a:ext cx="2606040" cy="329184"/>
          </a:xfrm>
          <a:prstGeom prst="rect">
            <a:avLst/>
          </a:prstGeom>
          <a:noFill/>
          <a:ln/>
        </p:spPr>
        <p:txBody>
          <a:bodyPr wrap="square" lIns="0" tIns="0" rIns="0" bIns="0" rtlCol="0" anchor="ctr">
            <a:normAutofit/>
          </a:bodyPr>
          <a:lstStyle/>
          <a:p>
            <a:pPr marL="0" indent="0" algn="l">
              <a:buNone/>
            </a:pPr>
            <a:r>
              <a:rPr lang="en-US" sz="1070" dirty="0">
                <a:solidFill>
                  <a:srgbClr val="544B46"/>
                </a:solidFill>
                <a:latin typeface="MiSans" pitchFamily="34" charset="0"/>
                <a:ea typeface="MiSans" pitchFamily="34" charset="-122"/>
                <a:cs typeface="MiSans" pitchFamily="34" charset="-120"/>
              </a:rPr>
              <a:t>找空教室 · 求共同空闲 · 生成方案</a:t>
            </a:r>
            <a:endParaRPr lang="en-US" sz="1070" dirty="0"/>
          </a:p>
        </p:txBody>
      </p:sp>
      <p:sp>
        <p:nvSpPr>
          <p:cNvPr id="33" name="A05_0232_line"/>
          <p:cNvSpPr/>
          <p:nvPr/>
        </p:nvSpPr>
        <p:spPr>
          <a:xfrm>
            <a:off x="7168896" y="4882896"/>
            <a:ext cx="3977640" cy="0"/>
          </a:xfrm>
          <a:prstGeom prst="line">
            <a:avLst/>
          </a:prstGeom>
          <a:noFill/>
          <a:ln w="10160">
            <a:solidFill>
              <a:srgbClr val="BFD8CE"/>
            </a:solidFill>
            <a:prstDash val="solid"/>
          </a:ln>
        </p:spPr>
      </p:sp>
      <p:sp>
        <p:nvSpPr>
          <p:cNvPr id="34" name="A05_0233_text"/>
          <p:cNvSpPr/>
          <p:nvPr/>
        </p:nvSpPr>
        <p:spPr>
          <a:xfrm>
            <a:off x="7187184" y="4352544"/>
            <a:ext cx="1225296" cy="329184"/>
          </a:xfrm>
          <a:prstGeom prst="rect">
            <a:avLst/>
          </a:prstGeom>
          <a:noFill/>
          <a:ln/>
        </p:spPr>
        <p:txBody>
          <a:bodyPr wrap="square" lIns="0" tIns="0" rIns="0" bIns="0" rtlCol="0" anchor="ctr">
            <a:normAutofit/>
          </a:bodyPr>
          <a:lstStyle/>
          <a:p>
            <a:pPr marL="0" indent="0" algn="l">
              <a:buNone/>
            </a:pPr>
            <a:r>
              <a:rPr lang="en-US" sz="1220" b="1" dirty="0">
                <a:solidFill>
                  <a:srgbClr val="237F69"/>
                </a:solidFill>
                <a:latin typeface="MiSans" pitchFamily="34" charset="0"/>
                <a:ea typeface="MiSans" pitchFamily="34" charset="-122"/>
                <a:cs typeface="MiSans" pitchFamily="34" charset="-120"/>
              </a:rPr>
              <a:t>风险与调课</a:t>
            </a:r>
            <a:endParaRPr lang="en-US" sz="1220" dirty="0"/>
          </a:p>
        </p:txBody>
      </p:sp>
      <p:sp>
        <p:nvSpPr>
          <p:cNvPr id="35" name="A05_0234_text"/>
          <p:cNvSpPr/>
          <p:nvPr/>
        </p:nvSpPr>
        <p:spPr>
          <a:xfrm>
            <a:off x="8540496" y="4352544"/>
            <a:ext cx="2606040" cy="329184"/>
          </a:xfrm>
          <a:prstGeom prst="rect">
            <a:avLst/>
          </a:prstGeom>
          <a:noFill/>
          <a:ln/>
        </p:spPr>
        <p:txBody>
          <a:bodyPr wrap="square" lIns="0" tIns="0" rIns="0" bIns="0" rtlCol="0" anchor="ctr">
            <a:normAutofit/>
          </a:bodyPr>
          <a:lstStyle/>
          <a:p>
            <a:pPr marL="0" indent="0" algn="l">
              <a:buNone/>
            </a:pPr>
            <a:r>
              <a:rPr lang="en-US" sz="1070" dirty="0">
                <a:solidFill>
                  <a:srgbClr val="544B46"/>
                </a:solidFill>
                <a:latin typeface="MiSans" pitchFamily="34" charset="0"/>
                <a:ea typeface="MiSans" pitchFamily="34" charset="-122"/>
                <a:cs typeface="MiSans" pitchFamily="34" charset="-120"/>
              </a:rPr>
              <a:t>查冲突 · 识别赶场 · 模拟可行性</a:t>
            </a:r>
            <a:endParaRPr lang="en-US" sz="1070" dirty="0"/>
          </a:p>
        </p:txBody>
      </p:sp>
      <p:sp>
        <p:nvSpPr>
          <p:cNvPr id="36" name="A05_0235_line"/>
          <p:cNvSpPr/>
          <p:nvPr/>
        </p:nvSpPr>
        <p:spPr>
          <a:xfrm>
            <a:off x="7168896" y="5559552"/>
            <a:ext cx="3977640" cy="0"/>
          </a:xfrm>
          <a:prstGeom prst="line">
            <a:avLst/>
          </a:prstGeom>
          <a:noFill/>
          <a:ln w="27940">
            <a:solidFill>
              <a:srgbClr val="237F69"/>
            </a:solidFill>
            <a:prstDash val="solid"/>
          </a:ln>
        </p:spPr>
      </p:sp>
      <p:sp>
        <p:nvSpPr>
          <p:cNvPr id="37" name="A05_0236_text"/>
          <p:cNvSpPr/>
          <p:nvPr/>
        </p:nvSpPr>
        <p:spPr>
          <a:xfrm>
            <a:off x="7187184" y="5029200"/>
            <a:ext cx="1225296" cy="329184"/>
          </a:xfrm>
          <a:prstGeom prst="rect">
            <a:avLst/>
          </a:prstGeom>
          <a:noFill/>
          <a:ln/>
        </p:spPr>
        <p:txBody>
          <a:bodyPr wrap="square" lIns="0" tIns="0" rIns="0" bIns="0" rtlCol="0" anchor="ctr">
            <a:normAutofit/>
          </a:bodyPr>
          <a:lstStyle/>
          <a:p>
            <a:pPr marL="0" indent="0" algn="l">
              <a:buNone/>
            </a:pPr>
            <a:r>
              <a:rPr lang="en-US" sz="1220" b="1" dirty="0">
                <a:solidFill>
                  <a:srgbClr val="237F69"/>
                </a:solidFill>
                <a:latin typeface="MiSans" pitchFamily="34" charset="0"/>
                <a:ea typeface="MiSans" pitchFamily="34" charset="-122"/>
                <a:cs typeface="MiSans" pitchFamily="34" charset="-120"/>
              </a:rPr>
              <a:t>校园洞察</a:t>
            </a:r>
            <a:endParaRPr lang="en-US" sz="1220" dirty="0"/>
          </a:p>
        </p:txBody>
      </p:sp>
      <p:sp>
        <p:nvSpPr>
          <p:cNvPr id="38" name="A05_0237_text"/>
          <p:cNvSpPr/>
          <p:nvPr/>
        </p:nvSpPr>
        <p:spPr>
          <a:xfrm>
            <a:off x="8540496" y="5029200"/>
            <a:ext cx="2606040" cy="329184"/>
          </a:xfrm>
          <a:prstGeom prst="rect">
            <a:avLst/>
          </a:prstGeom>
          <a:noFill/>
          <a:ln/>
        </p:spPr>
        <p:txBody>
          <a:bodyPr wrap="square" lIns="0" tIns="0" rIns="0" bIns="0" rtlCol="0" anchor="ctr">
            <a:normAutofit/>
          </a:bodyPr>
          <a:lstStyle/>
          <a:p>
            <a:pPr marL="0" indent="0" algn="l">
              <a:buNone/>
            </a:pPr>
            <a:r>
              <a:rPr lang="en-US" sz="1070" dirty="0">
                <a:solidFill>
                  <a:srgbClr val="544B46"/>
                </a:solidFill>
                <a:latin typeface="MiSans" pitchFamily="34" charset="0"/>
                <a:ea typeface="MiSans" pitchFamily="34" charset="-122"/>
                <a:cs typeface="MiSans" pitchFamily="34" charset="-120"/>
              </a:rPr>
              <a:t>看总览 · 算负载 · 分析空间利用</a:t>
            </a:r>
            <a:endParaRPr lang="en-US" sz="1070" dirty="0"/>
          </a:p>
        </p:txBody>
      </p:sp>
      <p:sp>
        <p:nvSpPr>
          <p:cNvPr id="39" name="A06_0238_text"/>
          <p:cNvSpPr/>
          <p:nvPr/>
        </p:nvSpPr>
        <p:spPr>
          <a:xfrm>
            <a:off x="7351776" y="5504688"/>
            <a:ext cx="512064" cy="438912"/>
          </a:xfrm>
          <a:prstGeom prst="rect">
            <a:avLst/>
          </a:prstGeom>
          <a:noFill/>
          <a:ln/>
        </p:spPr>
        <p:txBody>
          <a:bodyPr wrap="square" lIns="0" tIns="0" rIns="0" bIns="0" rtlCol="0" anchor="ctr">
            <a:normAutofit/>
          </a:bodyPr>
          <a:lstStyle/>
          <a:p>
            <a:pPr marL="0" indent="0" algn="ctr">
              <a:buNone/>
            </a:pPr>
            <a:r>
              <a:rPr lang="en-US" sz="2600" b="1" dirty="0">
                <a:solidFill>
                  <a:srgbClr val="B83E32"/>
                </a:solidFill>
                <a:latin typeface="MiSans" pitchFamily="34" charset="0"/>
                <a:ea typeface="MiSans" pitchFamily="34" charset="-122"/>
                <a:cs typeface="MiSans" pitchFamily="34" charset="-120"/>
              </a:rPr>
              <a:t>4</a:t>
            </a:r>
            <a:endParaRPr lang="en-US" sz="2600" dirty="0"/>
          </a:p>
        </p:txBody>
      </p:sp>
      <p:sp>
        <p:nvSpPr>
          <p:cNvPr id="40" name="A06_0239_text"/>
          <p:cNvSpPr/>
          <p:nvPr/>
        </p:nvSpPr>
        <p:spPr>
          <a:xfrm>
            <a:off x="7818120" y="5568696"/>
            <a:ext cx="859536" cy="274320"/>
          </a:xfrm>
          <a:prstGeom prst="rect">
            <a:avLst/>
          </a:prstGeom>
          <a:noFill/>
          <a:ln/>
        </p:spPr>
        <p:txBody>
          <a:bodyPr wrap="square" lIns="0" tIns="0" rIns="0" bIns="0" rtlCol="0" anchor="ctr">
            <a:normAutofit/>
          </a:bodyPr>
          <a:lstStyle/>
          <a:p>
            <a:pPr marL="0" indent="0" algn="l">
              <a:buNone/>
            </a:pPr>
            <a:r>
              <a:rPr lang="en-US" sz="1050" b="1" dirty="0">
                <a:solidFill>
                  <a:srgbClr val="211E1C"/>
                </a:solidFill>
                <a:latin typeface="MiSans" pitchFamily="34" charset="0"/>
                <a:ea typeface="MiSans" pitchFamily="34" charset="-122"/>
                <a:cs typeface="MiSans" pitchFamily="34" charset="-120"/>
              </a:rPr>
              <a:t>个智能体</a:t>
            </a:r>
            <a:endParaRPr lang="en-US" sz="1050" dirty="0"/>
          </a:p>
        </p:txBody>
      </p:sp>
      <p:sp>
        <p:nvSpPr>
          <p:cNvPr id="41" name="A06_0240_text"/>
          <p:cNvSpPr/>
          <p:nvPr/>
        </p:nvSpPr>
        <p:spPr>
          <a:xfrm>
            <a:off x="8796528" y="5504688"/>
            <a:ext cx="658368" cy="438912"/>
          </a:xfrm>
          <a:prstGeom prst="rect">
            <a:avLst/>
          </a:prstGeom>
          <a:noFill/>
          <a:ln/>
        </p:spPr>
        <p:txBody>
          <a:bodyPr wrap="square" lIns="0" tIns="0" rIns="0" bIns="0" rtlCol="0" anchor="ctr">
            <a:normAutofit/>
          </a:bodyPr>
          <a:lstStyle/>
          <a:p>
            <a:pPr marL="0" indent="0" algn="ctr">
              <a:buNone/>
            </a:pPr>
            <a:r>
              <a:rPr lang="en-US" sz="2600" b="1" dirty="0">
                <a:solidFill>
                  <a:srgbClr val="237F69"/>
                </a:solidFill>
                <a:latin typeface="MiSans" pitchFamily="34" charset="0"/>
                <a:ea typeface="MiSans" pitchFamily="34" charset="-122"/>
                <a:cs typeface="MiSans" pitchFamily="34" charset="-120"/>
              </a:rPr>
              <a:t>13</a:t>
            </a:r>
            <a:endParaRPr lang="en-US" sz="2600" dirty="0"/>
          </a:p>
        </p:txBody>
      </p:sp>
      <p:sp>
        <p:nvSpPr>
          <p:cNvPr id="42" name="A06_0241_text"/>
          <p:cNvSpPr/>
          <p:nvPr/>
        </p:nvSpPr>
        <p:spPr>
          <a:xfrm>
            <a:off x="9418320" y="5568696"/>
            <a:ext cx="713232" cy="274320"/>
          </a:xfrm>
          <a:prstGeom prst="rect">
            <a:avLst/>
          </a:prstGeom>
          <a:noFill/>
          <a:ln/>
        </p:spPr>
        <p:txBody>
          <a:bodyPr wrap="square" lIns="0" tIns="0" rIns="0" bIns="0" rtlCol="0" anchor="ctr">
            <a:normAutofit/>
          </a:bodyPr>
          <a:lstStyle/>
          <a:p>
            <a:pPr marL="0" indent="0" algn="l">
              <a:buNone/>
            </a:pPr>
            <a:r>
              <a:rPr lang="en-US" sz="1050" b="1" dirty="0">
                <a:solidFill>
                  <a:srgbClr val="211E1C"/>
                </a:solidFill>
                <a:latin typeface="MiSans" pitchFamily="34" charset="0"/>
                <a:ea typeface="MiSans" pitchFamily="34" charset="-122"/>
                <a:cs typeface="MiSans" pitchFamily="34" charset="-120"/>
              </a:rPr>
              <a:t>项工具</a:t>
            </a:r>
            <a:endParaRPr lang="en-US" sz="1050" dirty="0"/>
          </a:p>
        </p:txBody>
      </p:sp>
      <p:sp>
        <p:nvSpPr>
          <p:cNvPr id="43" name="A06_0242_text"/>
          <p:cNvSpPr/>
          <p:nvPr/>
        </p:nvSpPr>
        <p:spPr>
          <a:xfrm>
            <a:off x="10241280" y="5504688"/>
            <a:ext cx="658368" cy="438912"/>
          </a:xfrm>
          <a:prstGeom prst="rect">
            <a:avLst/>
          </a:prstGeom>
          <a:noFill/>
          <a:ln/>
        </p:spPr>
        <p:txBody>
          <a:bodyPr wrap="square" lIns="0" tIns="0" rIns="0" bIns="0" rtlCol="0" anchor="ctr">
            <a:normAutofit/>
          </a:bodyPr>
          <a:lstStyle/>
          <a:p>
            <a:pPr marL="0" indent="0" algn="ctr">
              <a:buNone/>
            </a:pPr>
            <a:r>
              <a:rPr lang="en-US" sz="2600" b="1" dirty="0">
                <a:solidFill>
                  <a:srgbClr val="507BA0"/>
                </a:solidFill>
                <a:latin typeface="MiSans" pitchFamily="34" charset="0"/>
                <a:ea typeface="MiSans" pitchFamily="34" charset="-122"/>
                <a:cs typeface="MiSans" pitchFamily="34" charset="-120"/>
              </a:rPr>
              <a:t>14</a:t>
            </a:r>
            <a:endParaRPr lang="en-US" sz="2600" dirty="0"/>
          </a:p>
        </p:txBody>
      </p:sp>
      <p:sp>
        <p:nvSpPr>
          <p:cNvPr id="44" name="A06_0243_text"/>
          <p:cNvSpPr/>
          <p:nvPr/>
        </p:nvSpPr>
        <p:spPr>
          <a:xfrm>
            <a:off x="10844784" y="5568696"/>
            <a:ext cx="914400" cy="274320"/>
          </a:xfrm>
          <a:prstGeom prst="rect">
            <a:avLst/>
          </a:prstGeom>
          <a:noFill/>
          <a:ln/>
        </p:spPr>
        <p:txBody>
          <a:bodyPr wrap="square" lIns="0" tIns="0" rIns="0" bIns="0" rtlCol="0" anchor="ctr">
            <a:normAutofit/>
          </a:bodyPr>
          <a:lstStyle/>
          <a:p>
            <a:pPr marL="0" indent="0" algn="l">
              <a:buNone/>
            </a:pPr>
            <a:r>
              <a:rPr lang="en-US" sz="1050" b="1" dirty="0">
                <a:solidFill>
                  <a:srgbClr val="211E1C"/>
                </a:solidFill>
                <a:latin typeface="MiSans" pitchFamily="34" charset="0"/>
                <a:ea typeface="MiSans" pitchFamily="34" charset="-122"/>
                <a:cs typeface="MiSans" pitchFamily="34" charset="-120"/>
              </a:rPr>
              <a:t>绑定关系</a:t>
            </a:r>
            <a:endParaRPr lang="en-US" sz="10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8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380"/>
                                        <p:tgtEl>
                                          <p:spTgt spid="12"/>
                                        </p:tgtEl>
                                      </p:cBhvr>
                                    </p:animEffect>
                                  </p:childTnLst>
                                </p:cTn>
                              </p:par>
                              <p:par>
                                <p:cTn id="19" presetID="10"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38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38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38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8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8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80"/>
                                        <p:tgtEl>
                                          <p:spTgt spid="18"/>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8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80"/>
                                        <p:tgtEl>
                                          <p:spTgt spid="20"/>
                                        </p:tgtEl>
                                      </p:cBhvr>
                                    </p:animEffect>
                                  </p:childTnLst>
                                </p:cTn>
                              </p:par>
                              <p:par>
                                <p:cTn id="47" presetID="10" presetClass="entr" presetSubtype="0"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8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80"/>
                                        <p:tgtEl>
                                          <p:spTgt spid="22"/>
                                        </p:tgtEl>
                                      </p:cBhvr>
                                    </p:animEffect>
                                  </p:childTnLst>
                                </p:cTn>
                              </p:par>
                              <p:par>
                                <p:cTn id="53" presetID="10"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80"/>
                                        <p:tgtEl>
                                          <p:spTgt spid="2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80"/>
                                        <p:tgtEl>
                                          <p:spTgt spid="2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38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380"/>
                                        <p:tgtEl>
                                          <p:spTgt spid="26"/>
                                        </p:tgtEl>
                                      </p:cBhvr>
                                    </p:animEffect>
                                  </p:childTnLst>
                                </p:cTn>
                              </p:par>
                              <p:par>
                                <p:cTn id="67" presetID="10" presetClass="entr" presetSubtype="0" fill="hold"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38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8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80"/>
                                        <p:tgtEl>
                                          <p:spTgt spid="29"/>
                                        </p:tgtEl>
                                      </p:cBhvr>
                                    </p:animEffect>
                                  </p:childTnLst>
                                </p:cTn>
                              </p:par>
                              <p:par>
                                <p:cTn id="76" presetID="10" presetClass="entr" presetSubtype="0"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8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80"/>
                                        <p:tgtEl>
                                          <p:spTgt spid="31"/>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380"/>
                                        <p:tgtEl>
                                          <p:spTgt spid="32"/>
                                        </p:tgtEl>
                                      </p:cBhvr>
                                    </p:animEffect>
                                  </p:childTnLst>
                                </p:cTn>
                              </p:par>
                              <p:par>
                                <p:cTn id="85" presetID="10" presetClass="entr" presetSubtype="0" fill="hold" nodeType="with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380"/>
                                        <p:tgtEl>
                                          <p:spTgt spid="33"/>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4"/>
                                        </p:tgtEl>
                                        <p:attrNameLst>
                                          <p:attrName>style.visibility</p:attrName>
                                        </p:attrNameLst>
                                      </p:cBhvr>
                                      <p:to>
                                        <p:strVal val="visible"/>
                                      </p:to>
                                    </p:set>
                                    <p:animEffect transition="in" filter="fade">
                                      <p:cBhvr>
                                        <p:cTn id="90" dur="380"/>
                                        <p:tgtEl>
                                          <p:spTgt spid="34"/>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380"/>
                                        <p:tgtEl>
                                          <p:spTgt spid="35"/>
                                        </p:tgtEl>
                                      </p:cBhvr>
                                    </p:animEffect>
                                  </p:childTnLst>
                                </p:cTn>
                              </p:par>
                              <p:par>
                                <p:cTn id="94" presetID="10" presetClass="entr" presetSubtype="0" fill="hold" nodeType="withEffect">
                                  <p:stCondLst>
                                    <p:cond delay="0"/>
                                  </p:stCondLst>
                                  <p:childTnLst>
                                    <p:set>
                                      <p:cBhvr>
                                        <p:cTn id="95" dur="1" fill="hold">
                                          <p:stCondLst>
                                            <p:cond delay="0"/>
                                          </p:stCondLst>
                                        </p:cTn>
                                        <p:tgtEl>
                                          <p:spTgt spid="36"/>
                                        </p:tgtEl>
                                        <p:attrNameLst>
                                          <p:attrName>style.visibility</p:attrName>
                                        </p:attrNameLst>
                                      </p:cBhvr>
                                      <p:to>
                                        <p:strVal val="visible"/>
                                      </p:to>
                                    </p:set>
                                    <p:animEffect transition="in" filter="fade">
                                      <p:cBhvr>
                                        <p:cTn id="96" dur="380"/>
                                        <p:tgtEl>
                                          <p:spTgt spid="36"/>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380"/>
                                        <p:tgtEl>
                                          <p:spTgt spid="37"/>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380"/>
                                        <p:tgtEl>
                                          <p:spTgt spid="38"/>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80"/>
                                        <p:tgtEl>
                                          <p:spTgt spid="39"/>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0"/>
                                        </p:tgtEl>
                                        <p:attrNameLst>
                                          <p:attrName>style.visibility</p:attrName>
                                        </p:attrNameLst>
                                      </p:cBhvr>
                                      <p:to>
                                        <p:strVal val="visible"/>
                                      </p:to>
                                    </p:set>
                                    <p:animEffect transition="in" filter="fade">
                                      <p:cBhvr>
                                        <p:cTn id="110" dur="380"/>
                                        <p:tgtEl>
                                          <p:spTgt spid="4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380"/>
                                        <p:tgtEl>
                                          <p:spTgt spid="4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380"/>
                                        <p:tgtEl>
                                          <p:spTgt spid="4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380"/>
                                        <p:tgtEl>
                                          <p:spTgt spid="4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8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4" grpId="0" animBg="1"/>
      <p:bldP spid="16" grpId="0" animBg="1"/>
      <p:bldP spid="18" grpId="0" animBg="1"/>
      <p:bldP spid="20" grpId="0" animBg="1"/>
      <p:bldP spid="22" grpId="0" animBg="1"/>
      <p:bldP spid="25" grpId="0" animBg="1"/>
      <p:bldP spid="26" grpId="0" animBg="1"/>
      <p:bldP spid="28" grpId="0" animBg="1"/>
      <p:bldP spid="29" grpId="0" animBg="1"/>
      <p:bldP spid="31" grpId="0" animBg="1"/>
      <p:bldP spid="32"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7F1"/>
        </a:solidFill>
        <a:effectLst/>
      </p:bgPr>
    </p:bg>
    <p:spTree>
      <p:nvGrpSpPr>
        <p:cNvPr id="1" name=""/>
        <p:cNvGrpSpPr/>
        <p:nvPr/>
      </p:nvGrpSpPr>
      <p:grpSpPr>
        <a:xfrm>
          <a:off x="0" y="0"/>
          <a:ext cx="0" cy="0"/>
          <a:chOff x="0" y="0"/>
          <a:chExt cx="0" cy="0"/>
        </a:xfrm>
      </p:grpSpPr>
      <p:sp>
        <p:nvSpPr>
          <p:cNvPr id="2" name="S00_0244_background-field"/>
          <p:cNvSpPr/>
          <p:nvPr/>
        </p:nvSpPr>
        <p:spPr>
          <a:xfrm>
            <a:off x="-1600200" y="4434840"/>
            <a:ext cx="5303520" cy="3749040"/>
          </a:xfrm>
          <a:prstGeom prst="ellipse">
            <a:avLst/>
          </a:prstGeom>
          <a:solidFill>
            <a:srgbClr val="F6DED8">
              <a:alpha val="38000"/>
            </a:srgbClr>
          </a:solidFill>
          <a:ln w="12700">
            <a:solidFill>
              <a:srgbClr val="FFFFFF">
                <a:alpha val="0"/>
              </a:srgbClr>
            </a:solidFill>
            <a:prstDash val="solid"/>
          </a:ln>
        </p:spPr>
      </p:sp>
      <p:sp>
        <p:nvSpPr>
          <p:cNvPr id="3" name="S00_0245_background-arc"/>
          <p:cNvSpPr/>
          <p:nvPr/>
        </p:nvSpPr>
        <p:spPr>
          <a:xfrm rot="11880000">
            <a:off x="9326880" y="-548640"/>
            <a:ext cx="3291840" cy="2286000"/>
          </a:xfrm>
          <a:prstGeom prst="arc">
            <a:avLst/>
          </a:prstGeom>
          <a:solidFill>
            <a:srgbClr val="FFFFFF">
              <a:alpha val="0"/>
            </a:srgbClr>
          </a:solidFill>
          <a:ln w="13970">
            <a:solidFill>
              <a:srgbClr val="E65442">
                <a:alpha val="30000"/>
              </a:srgbClr>
            </a:solidFill>
            <a:prstDash val="solid"/>
          </a:ln>
        </p:spPr>
      </p:sp>
      <p:sp>
        <p:nvSpPr>
          <p:cNvPr id="4" name="S00_0246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技术创新</a:t>
            </a:r>
            <a:endParaRPr lang="en-US" sz="1000" dirty="0"/>
          </a:p>
        </p:txBody>
      </p:sp>
      <p:sp>
        <p:nvSpPr>
          <p:cNvPr id="5" name="S00_0247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技术创新：让任务接得住，让结果核得清</a:t>
            </a:r>
            <a:endParaRPr lang="en-US" sz="2700" dirty="0"/>
          </a:p>
        </p:txBody>
      </p:sp>
      <p:sp>
        <p:nvSpPr>
          <p:cNvPr id="6" name="S00_0248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把多人协作、确定性事实与跨轮次上下文，组织成同一条可复核的任务链。</a:t>
            </a:r>
            <a:endParaRPr lang="en-US" sz="1220" dirty="0"/>
          </a:p>
        </p:txBody>
      </p:sp>
      <p:sp>
        <p:nvSpPr>
          <p:cNvPr id="7" name="S00_0249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250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10 / 12</a:t>
            </a:r>
            <a:endParaRPr lang="en-US" sz="850" dirty="0"/>
          </a:p>
        </p:txBody>
      </p:sp>
      <p:sp>
        <p:nvSpPr>
          <p:cNvPr id="9" name="A01_0251_layer"/>
          <p:cNvSpPr/>
          <p:nvPr/>
        </p:nvSpPr>
        <p:spPr>
          <a:xfrm>
            <a:off x="658368" y="1746504"/>
            <a:ext cx="10881360" cy="1225296"/>
          </a:xfrm>
          <a:prstGeom prst="rect">
            <a:avLst/>
          </a:prstGeom>
          <a:solidFill>
            <a:srgbClr val="F6DED8">
              <a:alpha val="94000"/>
            </a:srgbClr>
          </a:solidFill>
          <a:ln w="12700">
            <a:solidFill>
              <a:srgbClr val="FFFFFF">
                <a:alpha val="0"/>
              </a:srgbClr>
            </a:solidFill>
            <a:prstDash val="solid"/>
          </a:ln>
        </p:spPr>
      </p:sp>
      <p:sp>
        <p:nvSpPr>
          <p:cNvPr id="10" name="A01_0252_text"/>
          <p:cNvSpPr/>
          <p:nvPr/>
        </p:nvSpPr>
        <p:spPr>
          <a:xfrm>
            <a:off x="932688" y="1929384"/>
            <a:ext cx="438912" cy="310896"/>
          </a:xfrm>
          <a:prstGeom prst="rect">
            <a:avLst/>
          </a:prstGeom>
          <a:noFill/>
          <a:ln/>
        </p:spPr>
        <p:txBody>
          <a:bodyPr wrap="square" lIns="0" tIns="0" rIns="0" bIns="0" rtlCol="0" anchor="ctr">
            <a:normAutofit/>
          </a:bodyPr>
          <a:lstStyle/>
          <a:p>
            <a:pPr marL="0" indent="0" algn="l">
              <a:buNone/>
            </a:pPr>
            <a:r>
              <a:rPr lang="en-US" sz="1000" b="1" dirty="0">
                <a:solidFill>
                  <a:srgbClr val="B83E32"/>
                </a:solidFill>
                <a:latin typeface="MiSans" pitchFamily="34" charset="0"/>
                <a:ea typeface="MiSans" pitchFamily="34" charset="-122"/>
                <a:cs typeface="MiSans" pitchFamily="34" charset="-120"/>
              </a:rPr>
              <a:t>01</a:t>
            </a:r>
            <a:endParaRPr lang="en-US" sz="1000" dirty="0"/>
          </a:p>
        </p:txBody>
      </p:sp>
      <p:sp>
        <p:nvSpPr>
          <p:cNvPr id="11" name="A01_0253_text"/>
          <p:cNvSpPr/>
          <p:nvPr/>
        </p:nvSpPr>
        <p:spPr>
          <a:xfrm>
            <a:off x="1481328" y="1947672"/>
            <a:ext cx="2788920" cy="475488"/>
          </a:xfrm>
          <a:prstGeom prst="rect">
            <a:avLst/>
          </a:prstGeom>
          <a:noFill/>
          <a:ln/>
        </p:spPr>
        <p:txBody>
          <a:bodyPr wrap="square" lIns="0" tIns="0" rIns="0" bIns="0" rtlCol="0" anchor="ctr">
            <a:normAutofit/>
          </a:bodyPr>
          <a:lstStyle/>
          <a:p>
            <a:pPr marL="0" indent="0" algn="l">
              <a:buNone/>
            </a:pPr>
            <a:r>
              <a:rPr lang="en-US" sz="2100" b="1" dirty="0">
                <a:solidFill>
                  <a:srgbClr val="B83E32"/>
                </a:solidFill>
                <a:latin typeface="Noto Serif SC" pitchFamily="34" charset="0"/>
                <a:ea typeface="Noto Serif SC" pitchFamily="34" charset="-122"/>
                <a:cs typeface="Noto Serif SC" pitchFamily="34" charset="-120"/>
              </a:rPr>
              <a:t>多角色接力</a:t>
            </a:r>
            <a:endParaRPr lang="en-US" sz="2100" dirty="0"/>
          </a:p>
        </p:txBody>
      </p:sp>
      <p:sp>
        <p:nvSpPr>
          <p:cNvPr id="12" name="A01_0254_text"/>
          <p:cNvSpPr/>
          <p:nvPr/>
        </p:nvSpPr>
        <p:spPr>
          <a:xfrm>
            <a:off x="4645152" y="1929384"/>
            <a:ext cx="5084064" cy="877824"/>
          </a:xfrm>
          <a:prstGeom prst="rect">
            <a:avLst/>
          </a:prstGeom>
          <a:noFill/>
          <a:ln/>
        </p:spPr>
        <p:txBody>
          <a:bodyPr wrap="square" lIns="0" tIns="0" rIns="0" bIns="0" rtlCol="0" anchor="ctr">
            <a:normAutofit/>
          </a:bodyPr>
          <a:lstStyle/>
          <a:p>
            <a:pPr marL="0" indent="0" algn="l">
              <a:buNone/>
            </a:pPr>
            <a:r>
              <a:rPr lang="en-US" sz="1240" dirty="0">
                <a:solidFill>
                  <a:srgbClr val="544B46"/>
                </a:solidFill>
                <a:latin typeface="MiSans" pitchFamily="34" charset="0"/>
                <a:ea typeface="MiSans" pitchFamily="34" charset="-122"/>
                <a:cs typeface="MiSans" pitchFamily="34" charset="-120"/>
              </a:rPr>
              <a:t>主协调听懂目标，专业智能体各自处理课表、风险与全局洞察。</a:t>
            </a:r>
            <a:endParaRPr lang="en-US" sz="1240" dirty="0"/>
          </a:p>
        </p:txBody>
      </p:sp>
      <p:sp>
        <p:nvSpPr>
          <p:cNvPr id="13" name="A01_0255_text"/>
          <p:cNvSpPr/>
          <p:nvPr/>
        </p:nvSpPr>
        <p:spPr>
          <a:xfrm>
            <a:off x="9985248" y="1947672"/>
            <a:ext cx="1225296" cy="310896"/>
          </a:xfrm>
          <a:prstGeom prst="rect">
            <a:avLst/>
          </a:prstGeom>
          <a:noFill/>
          <a:ln/>
        </p:spPr>
        <p:txBody>
          <a:bodyPr wrap="square" lIns="0" tIns="0" rIns="0" bIns="0" rtlCol="0" anchor="ctr">
            <a:normAutofit/>
          </a:bodyPr>
          <a:lstStyle/>
          <a:p>
            <a:pPr marL="0" indent="0" algn="r">
              <a:buNone/>
            </a:pPr>
            <a:r>
              <a:rPr lang="en-US" sz="1050" b="1" dirty="0">
                <a:solidFill>
                  <a:srgbClr val="B83E32"/>
                </a:solidFill>
                <a:latin typeface="MiSans" pitchFamily="34" charset="0"/>
                <a:ea typeface="MiSans" pitchFamily="34" charset="-122"/>
                <a:cs typeface="MiSans" pitchFamily="34" charset="-120"/>
              </a:rPr>
              <a:t>分工有边界</a:t>
            </a:r>
            <a:endParaRPr lang="en-US" sz="1050" dirty="0"/>
          </a:p>
        </p:txBody>
      </p:sp>
      <p:sp>
        <p:nvSpPr>
          <p:cNvPr id="14" name="A02_0256_layer"/>
          <p:cNvSpPr/>
          <p:nvPr/>
        </p:nvSpPr>
        <p:spPr>
          <a:xfrm>
            <a:off x="658368" y="3099816"/>
            <a:ext cx="10881360" cy="1426464"/>
          </a:xfrm>
          <a:prstGeom prst="rect">
            <a:avLst/>
          </a:prstGeom>
          <a:solidFill>
            <a:srgbClr val="DDECE6">
              <a:alpha val="94000"/>
            </a:srgbClr>
          </a:solidFill>
          <a:ln w="12700">
            <a:solidFill>
              <a:srgbClr val="FFFFFF">
                <a:alpha val="0"/>
              </a:srgbClr>
            </a:solidFill>
            <a:prstDash val="solid"/>
          </a:ln>
        </p:spPr>
      </p:sp>
      <p:sp>
        <p:nvSpPr>
          <p:cNvPr id="15" name="A02_0257_text"/>
          <p:cNvSpPr/>
          <p:nvPr/>
        </p:nvSpPr>
        <p:spPr>
          <a:xfrm>
            <a:off x="932688" y="3282696"/>
            <a:ext cx="438912" cy="310896"/>
          </a:xfrm>
          <a:prstGeom prst="rect">
            <a:avLst/>
          </a:prstGeom>
          <a:noFill/>
          <a:ln/>
        </p:spPr>
        <p:txBody>
          <a:bodyPr wrap="square" lIns="0" tIns="0" rIns="0" bIns="0" rtlCol="0" anchor="ctr">
            <a:normAutofit/>
          </a:bodyPr>
          <a:lstStyle/>
          <a:p>
            <a:pPr marL="0" indent="0" algn="l">
              <a:buNone/>
            </a:pPr>
            <a:r>
              <a:rPr lang="en-US" sz="1000" b="1" dirty="0">
                <a:solidFill>
                  <a:srgbClr val="237F69"/>
                </a:solidFill>
                <a:latin typeface="MiSans" pitchFamily="34" charset="0"/>
                <a:ea typeface="MiSans" pitchFamily="34" charset="-122"/>
                <a:cs typeface="MiSans" pitchFamily="34" charset="-120"/>
              </a:rPr>
              <a:t>02</a:t>
            </a:r>
            <a:endParaRPr lang="en-US" sz="1000" dirty="0"/>
          </a:p>
        </p:txBody>
      </p:sp>
      <p:sp>
        <p:nvSpPr>
          <p:cNvPr id="16" name="A02_0258_text"/>
          <p:cNvSpPr/>
          <p:nvPr/>
        </p:nvSpPr>
        <p:spPr>
          <a:xfrm>
            <a:off x="1481328" y="3300984"/>
            <a:ext cx="2788920" cy="475488"/>
          </a:xfrm>
          <a:prstGeom prst="rect">
            <a:avLst/>
          </a:prstGeom>
          <a:noFill/>
          <a:ln/>
        </p:spPr>
        <p:txBody>
          <a:bodyPr wrap="square" lIns="0" tIns="0" rIns="0" bIns="0" rtlCol="0" anchor="ctr">
            <a:normAutofit/>
          </a:bodyPr>
          <a:lstStyle/>
          <a:p>
            <a:pPr marL="0" indent="0" algn="l">
              <a:buNone/>
            </a:pPr>
            <a:r>
              <a:rPr lang="en-US" sz="2100" b="1" dirty="0">
                <a:solidFill>
                  <a:srgbClr val="237F69"/>
                </a:solidFill>
                <a:latin typeface="Noto Serif SC" pitchFamily="34" charset="0"/>
                <a:ea typeface="Noto Serif SC" pitchFamily="34" charset="-122"/>
                <a:cs typeface="Noto Serif SC" pitchFamily="34" charset="-120"/>
              </a:rPr>
              <a:t>事实单独核验</a:t>
            </a:r>
            <a:endParaRPr lang="en-US" sz="2100" dirty="0"/>
          </a:p>
        </p:txBody>
      </p:sp>
      <p:sp>
        <p:nvSpPr>
          <p:cNvPr id="17" name="A02_0259_text"/>
          <p:cNvSpPr/>
          <p:nvPr/>
        </p:nvSpPr>
        <p:spPr>
          <a:xfrm>
            <a:off x="4645152" y="3282696"/>
            <a:ext cx="5084064" cy="1078992"/>
          </a:xfrm>
          <a:prstGeom prst="rect">
            <a:avLst/>
          </a:prstGeom>
          <a:noFill/>
          <a:ln/>
        </p:spPr>
        <p:txBody>
          <a:bodyPr wrap="square" lIns="0" tIns="0" rIns="0" bIns="0" rtlCol="0" anchor="ctr">
            <a:normAutofit/>
          </a:bodyPr>
          <a:lstStyle/>
          <a:p>
            <a:pPr marL="0" indent="0" algn="l">
              <a:buNone/>
            </a:pPr>
            <a:r>
              <a:rPr lang="en-US" sz="1240" dirty="0">
                <a:solidFill>
                  <a:srgbClr val="544B46"/>
                </a:solidFill>
                <a:latin typeface="MiSans" pitchFamily="34" charset="0"/>
                <a:ea typeface="MiSans" pitchFamily="34" charset="-122"/>
                <a:cs typeface="MiSans" pitchFamily="34" charset="-120"/>
              </a:rPr>
              <a:t>课表、教室、容量与风险由 CampusTools 计算；模型不能自行补写动态事实。</a:t>
            </a:r>
            <a:endParaRPr lang="en-US" sz="1240" dirty="0"/>
          </a:p>
        </p:txBody>
      </p:sp>
      <p:sp>
        <p:nvSpPr>
          <p:cNvPr id="18" name="A02_0260_text"/>
          <p:cNvSpPr/>
          <p:nvPr/>
        </p:nvSpPr>
        <p:spPr>
          <a:xfrm>
            <a:off x="9985248" y="3300984"/>
            <a:ext cx="1225296" cy="310896"/>
          </a:xfrm>
          <a:prstGeom prst="rect">
            <a:avLst/>
          </a:prstGeom>
          <a:noFill/>
          <a:ln/>
        </p:spPr>
        <p:txBody>
          <a:bodyPr wrap="square" lIns="0" tIns="0" rIns="0" bIns="0" rtlCol="0" anchor="ctr">
            <a:normAutofit/>
          </a:bodyPr>
          <a:lstStyle/>
          <a:p>
            <a:pPr marL="0" indent="0" algn="r">
              <a:buNone/>
            </a:pPr>
            <a:r>
              <a:rPr lang="en-US" sz="1050" b="1" dirty="0">
                <a:solidFill>
                  <a:srgbClr val="237F69"/>
                </a:solidFill>
                <a:latin typeface="MiSans" pitchFamily="34" charset="0"/>
                <a:ea typeface="MiSans" pitchFamily="34" charset="-122"/>
                <a:cs typeface="MiSans" pitchFamily="34" charset="-120"/>
              </a:rPr>
              <a:t>结果可复核</a:t>
            </a:r>
            <a:endParaRPr lang="en-US" sz="1050" dirty="0"/>
          </a:p>
        </p:txBody>
      </p:sp>
      <p:sp>
        <p:nvSpPr>
          <p:cNvPr id="19" name="A03_0261_layer"/>
          <p:cNvSpPr/>
          <p:nvPr/>
        </p:nvSpPr>
        <p:spPr>
          <a:xfrm>
            <a:off x="658368" y="4654296"/>
            <a:ext cx="10881360" cy="1225296"/>
          </a:xfrm>
          <a:prstGeom prst="rect">
            <a:avLst/>
          </a:prstGeom>
          <a:solidFill>
            <a:srgbClr val="DFE8F0">
              <a:alpha val="94000"/>
            </a:srgbClr>
          </a:solidFill>
          <a:ln w="12700">
            <a:solidFill>
              <a:srgbClr val="FFFFFF">
                <a:alpha val="0"/>
              </a:srgbClr>
            </a:solidFill>
            <a:prstDash val="solid"/>
          </a:ln>
        </p:spPr>
      </p:sp>
      <p:sp>
        <p:nvSpPr>
          <p:cNvPr id="20" name="A03_0262_text"/>
          <p:cNvSpPr/>
          <p:nvPr/>
        </p:nvSpPr>
        <p:spPr>
          <a:xfrm>
            <a:off x="932688" y="4837176"/>
            <a:ext cx="438912" cy="310896"/>
          </a:xfrm>
          <a:prstGeom prst="rect">
            <a:avLst/>
          </a:prstGeom>
          <a:noFill/>
          <a:ln/>
        </p:spPr>
        <p:txBody>
          <a:bodyPr wrap="square" lIns="0" tIns="0" rIns="0" bIns="0" rtlCol="0" anchor="ctr">
            <a:normAutofit/>
          </a:bodyPr>
          <a:lstStyle/>
          <a:p>
            <a:pPr marL="0" indent="0" algn="l">
              <a:buNone/>
            </a:pPr>
            <a:r>
              <a:rPr lang="en-US" sz="1000" b="1" dirty="0">
                <a:solidFill>
                  <a:srgbClr val="507BA0"/>
                </a:solidFill>
                <a:latin typeface="MiSans" pitchFamily="34" charset="0"/>
                <a:ea typeface="MiSans" pitchFamily="34" charset="-122"/>
                <a:cs typeface="MiSans" pitchFamily="34" charset="-120"/>
              </a:rPr>
              <a:t>03</a:t>
            </a:r>
            <a:endParaRPr lang="en-US" sz="1000" dirty="0"/>
          </a:p>
        </p:txBody>
      </p:sp>
      <p:sp>
        <p:nvSpPr>
          <p:cNvPr id="21" name="A03_0263_text"/>
          <p:cNvSpPr/>
          <p:nvPr/>
        </p:nvSpPr>
        <p:spPr>
          <a:xfrm>
            <a:off x="1481328" y="4855464"/>
            <a:ext cx="2788920" cy="475488"/>
          </a:xfrm>
          <a:prstGeom prst="rect">
            <a:avLst/>
          </a:prstGeom>
          <a:noFill/>
          <a:ln/>
        </p:spPr>
        <p:txBody>
          <a:bodyPr wrap="square" lIns="0" tIns="0" rIns="0" bIns="0" rtlCol="0" anchor="ctr">
            <a:normAutofit/>
          </a:bodyPr>
          <a:lstStyle/>
          <a:p>
            <a:pPr marL="0" indent="0" algn="l">
              <a:buNone/>
            </a:pPr>
            <a:r>
              <a:rPr lang="en-US" sz="2100" b="1" dirty="0">
                <a:solidFill>
                  <a:srgbClr val="507BA0"/>
                </a:solidFill>
                <a:latin typeface="Noto Serif SC" pitchFamily="34" charset="0"/>
                <a:ea typeface="Noto Serif SC" pitchFamily="34" charset="-122"/>
                <a:cs typeface="Noto Serif SC" pitchFamily="34" charset="-120"/>
              </a:rPr>
              <a:t>追问不用重来</a:t>
            </a:r>
            <a:endParaRPr lang="en-US" sz="2100" dirty="0"/>
          </a:p>
        </p:txBody>
      </p:sp>
      <p:sp>
        <p:nvSpPr>
          <p:cNvPr id="22" name="A03_0264_text"/>
          <p:cNvSpPr/>
          <p:nvPr/>
        </p:nvSpPr>
        <p:spPr>
          <a:xfrm>
            <a:off x="4645152" y="4837176"/>
            <a:ext cx="5084064" cy="877824"/>
          </a:xfrm>
          <a:prstGeom prst="rect">
            <a:avLst/>
          </a:prstGeom>
          <a:noFill/>
          <a:ln/>
        </p:spPr>
        <p:txBody>
          <a:bodyPr wrap="square" lIns="0" tIns="0" rIns="0" bIns="0" rtlCol="0" anchor="ctr">
            <a:normAutofit/>
          </a:bodyPr>
          <a:lstStyle/>
          <a:p>
            <a:pPr marL="0" indent="0" algn="l">
              <a:buNone/>
            </a:pPr>
            <a:r>
              <a:rPr lang="en-US" sz="1240" dirty="0">
                <a:solidFill>
                  <a:srgbClr val="544B46"/>
                </a:solidFill>
                <a:latin typeface="MiSans" pitchFamily="34" charset="0"/>
                <a:ea typeface="MiSans" pitchFamily="34" charset="-122"/>
                <a:cs typeface="MiSans" pitchFamily="34" charset="-120"/>
              </a:rPr>
              <a:t>从“谁最忙”到“看他的课表”再到“查他的风险”，同一对象持续传递。</a:t>
            </a:r>
            <a:endParaRPr lang="en-US" sz="1240" dirty="0"/>
          </a:p>
        </p:txBody>
      </p:sp>
      <p:sp>
        <p:nvSpPr>
          <p:cNvPr id="23" name="A03_0265_text"/>
          <p:cNvSpPr/>
          <p:nvPr/>
        </p:nvSpPr>
        <p:spPr>
          <a:xfrm>
            <a:off x="9985248" y="4855464"/>
            <a:ext cx="1225296" cy="310896"/>
          </a:xfrm>
          <a:prstGeom prst="rect">
            <a:avLst/>
          </a:prstGeom>
          <a:noFill/>
          <a:ln/>
        </p:spPr>
        <p:txBody>
          <a:bodyPr wrap="square" lIns="0" tIns="0" rIns="0" bIns="0" rtlCol="0" anchor="ctr">
            <a:normAutofit/>
          </a:bodyPr>
          <a:lstStyle/>
          <a:p>
            <a:pPr marL="0" indent="0" algn="r">
              <a:buNone/>
            </a:pPr>
            <a:r>
              <a:rPr lang="en-US" sz="1050" b="1" dirty="0">
                <a:solidFill>
                  <a:srgbClr val="507BA0"/>
                </a:solidFill>
                <a:latin typeface="MiSans" pitchFamily="34" charset="0"/>
                <a:ea typeface="MiSans" pitchFamily="34" charset="-122"/>
                <a:cs typeface="MiSans" pitchFamily="34" charset="-120"/>
              </a:rPr>
              <a:t>上下文连续</a:t>
            </a:r>
            <a:endParaRPr lang="en-US" sz="1050" dirty="0"/>
          </a:p>
        </p:txBody>
      </p:sp>
      <p:sp>
        <p:nvSpPr>
          <p:cNvPr id="24" name="A04_0266_text"/>
          <p:cNvSpPr/>
          <p:nvPr/>
        </p:nvSpPr>
        <p:spPr>
          <a:xfrm>
            <a:off x="3557016" y="6007608"/>
            <a:ext cx="5047488" cy="310896"/>
          </a:xfrm>
          <a:prstGeom prst="rect">
            <a:avLst/>
          </a:prstGeom>
          <a:noFill/>
          <a:ln/>
        </p:spPr>
        <p:txBody>
          <a:bodyPr wrap="square" lIns="0" tIns="0" rIns="0" bIns="0" rtlCol="0" anchor="ctr">
            <a:normAutofit/>
          </a:bodyPr>
          <a:lstStyle/>
          <a:p>
            <a:pPr marL="0" indent="0" algn="ctr">
              <a:buNone/>
            </a:pPr>
            <a:r>
              <a:rPr lang="en-US" sz="1450" b="1" dirty="0">
                <a:solidFill>
                  <a:srgbClr val="B83E32"/>
                </a:solidFill>
                <a:latin typeface="Noto Serif SC" pitchFamily="34" charset="0"/>
                <a:ea typeface="Noto Serif SC" pitchFamily="34" charset="-122"/>
                <a:cs typeface="Noto Serif SC" pitchFamily="34" charset="-120"/>
              </a:rPr>
              <a:t>“模型可以理解，但不能自行编造校园事实。”</a:t>
            </a:r>
            <a:endParaRPr lang="en-US" sz="14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8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38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38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38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38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38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38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38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8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38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380"/>
                                        <p:tgtEl>
                                          <p:spTgt spid="2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380"/>
                                        <p:tgtEl>
                                          <p:spTgt spid="2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38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38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7F1"/>
        </a:solidFill>
        <a:effectLst/>
      </p:bgPr>
    </p:bg>
    <p:spTree>
      <p:nvGrpSpPr>
        <p:cNvPr id="1" name=""/>
        <p:cNvGrpSpPr/>
        <p:nvPr/>
      </p:nvGrpSpPr>
      <p:grpSpPr>
        <a:xfrm>
          <a:off x="0" y="0"/>
          <a:ext cx="0" cy="0"/>
          <a:chOff x="0" y="0"/>
          <a:chExt cx="0" cy="0"/>
        </a:xfrm>
      </p:grpSpPr>
      <p:sp>
        <p:nvSpPr>
          <p:cNvPr id="2" name="S00_0267_background-field"/>
          <p:cNvSpPr/>
          <p:nvPr/>
        </p:nvSpPr>
        <p:spPr>
          <a:xfrm>
            <a:off x="8641080" y="-1554480"/>
            <a:ext cx="5303520" cy="3749040"/>
          </a:xfrm>
          <a:prstGeom prst="ellipse">
            <a:avLst/>
          </a:prstGeom>
          <a:solidFill>
            <a:srgbClr val="F6DED8">
              <a:alpha val="38000"/>
            </a:srgbClr>
          </a:solidFill>
          <a:ln w="12700">
            <a:solidFill>
              <a:srgbClr val="FFFFFF">
                <a:alpha val="0"/>
              </a:srgbClr>
            </a:solidFill>
            <a:prstDash val="solid"/>
          </a:ln>
        </p:spPr>
      </p:sp>
      <p:sp>
        <p:nvSpPr>
          <p:cNvPr id="3" name="S00_0268_background-arc"/>
          <p:cNvSpPr/>
          <p:nvPr/>
        </p:nvSpPr>
        <p:spPr>
          <a:xfrm rot="1080000">
            <a:off x="-640080" y="4389120"/>
            <a:ext cx="3291840" cy="2286000"/>
          </a:xfrm>
          <a:prstGeom prst="arc">
            <a:avLst/>
          </a:prstGeom>
          <a:solidFill>
            <a:srgbClr val="FFFFFF">
              <a:alpha val="0"/>
            </a:srgbClr>
          </a:solidFill>
          <a:ln w="13970">
            <a:solidFill>
              <a:srgbClr val="E65442">
                <a:alpha val="30000"/>
              </a:srgbClr>
            </a:solidFill>
            <a:prstDash val="solid"/>
          </a:ln>
        </p:spPr>
      </p:sp>
      <p:sp>
        <p:nvSpPr>
          <p:cNvPr id="4" name="S00_0269_text"/>
          <p:cNvSpPr/>
          <p:nvPr/>
        </p:nvSpPr>
        <p:spPr>
          <a:xfrm>
            <a:off x="530352" y="256032"/>
            <a:ext cx="3749040" cy="219456"/>
          </a:xfrm>
          <a:prstGeom prst="rect">
            <a:avLst/>
          </a:prstGeom>
          <a:noFill/>
          <a:ln/>
        </p:spPr>
        <p:txBody>
          <a:bodyPr wrap="square" lIns="0" tIns="0" rIns="0" bIns="0" rtlCol="0" anchor="ctr">
            <a:normAutofit/>
          </a:bodyPr>
          <a:lstStyle/>
          <a:p>
            <a:pPr marL="0" indent="0" algn="l">
              <a:buNone/>
            </a:pPr>
            <a:r>
              <a:rPr lang="en-US" sz="1000" b="1" kern="0" spc="70" dirty="0">
                <a:solidFill>
                  <a:srgbClr val="E65442"/>
                </a:solidFill>
                <a:latin typeface="MiSans" pitchFamily="34" charset="0"/>
                <a:ea typeface="MiSans" pitchFamily="34" charset="-122"/>
                <a:cs typeface="MiSans" pitchFamily="34" charset="-120"/>
              </a:rPr>
              <a:t>真实落地与下一步</a:t>
            </a:r>
            <a:endParaRPr lang="en-US" sz="1000" dirty="0"/>
          </a:p>
        </p:txBody>
      </p:sp>
      <p:sp>
        <p:nvSpPr>
          <p:cNvPr id="5" name="S00_0270_text"/>
          <p:cNvSpPr/>
          <p:nvPr/>
        </p:nvSpPr>
        <p:spPr>
          <a:xfrm>
            <a:off x="512064" y="621792"/>
            <a:ext cx="11064240" cy="566928"/>
          </a:xfrm>
          <a:prstGeom prst="rect">
            <a:avLst/>
          </a:prstGeom>
          <a:noFill/>
          <a:ln/>
        </p:spPr>
        <p:txBody>
          <a:bodyPr wrap="square" lIns="0" tIns="0" rIns="0" bIns="0" rtlCol="0" anchor="ctr">
            <a:normAutofit/>
          </a:bodyPr>
          <a:lstStyle/>
          <a:p>
            <a:pPr marL="0" indent="0" algn="l">
              <a:buNone/>
            </a:pPr>
            <a:r>
              <a:rPr lang="en-US" sz="2700" b="1" dirty="0">
                <a:solidFill>
                  <a:srgbClr val="211E1C"/>
                </a:solidFill>
                <a:latin typeface="Noto Serif SC" pitchFamily="34" charset="0"/>
                <a:ea typeface="Noto Serif SC" pitchFamily="34" charset="-122"/>
                <a:cs typeface="Noto Serif SC" pitchFamily="34" charset="-120"/>
              </a:rPr>
              <a:t>从真实服务长出来，也朝着真实需求走下去</a:t>
            </a:r>
            <a:endParaRPr lang="en-US" sz="2700" dirty="0"/>
          </a:p>
        </p:txBody>
      </p:sp>
      <p:sp>
        <p:nvSpPr>
          <p:cNvPr id="6" name="S00_0271_text"/>
          <p:cNvSpPr/>
          <p:nvPr/>
        </p:nvSpPr>
        <p:spPr>
          <a:xfrm>
            <a:off x="530352" y="1207008"/>
            <a:ext cx="10881360" cy="301752"/>
          </a:xfrm>
          <a:prstGeom prst="rect">
            <a:avLst/>
          </a:prstGeom>
          <a:noFill/>
          <a:ln/>
        </p:spPr>
        <p:txBody>
          <a:bodyPr wrap="square" lIns="0" tIns="0" rIns="0" bIns="0" rtlCol="0" anchor="ctr">
            <a:normAutofit/>
          </a:bodyPr>
          <a:lstStyle/>
          <a:p>
            <a:pPr marL="0" indent="0" algn="l">
              <a:buNone/>
            </a:pPr>
            <a:r>
              <a:rPr lang="en-US" sz="1220" dirty="0">
                <a:solidFill>
                  <a:srgbClr val="544B46"/>
                </a:solidFill>
                <a:latin typeface="MiSans" pitchFamily="34" charset="0"/>
                <a:ea typeface="MiSans" pitchFamily="34" charset="-122"/>
                <a:cs typeface="MiSans" pitchFamily="34" charset="-120"/>
              </a:rPr>
              <a:t>项目源于已经真实投入使用的校园课表服务；只呈现已发生的真实使用，不虚构活跃度、满意度或增长率。</a:t>
            </a:r>
            <a:endParaRPr lang="en-US" sz="1220" dirty="0"/>
          </a:p>
        </p:txBody>
      </p:sp>
      <p:sp>
        <p:nvSpPr>
          <p:cNvPr id="7" name="S00_0272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887C75"/>
                </a:solidFill>
                <a:latin typeface="MiSans" pitchFamily="34" charset="0"/>
                <a:ea typeface="MiSans" pitchFamily="34" charset="-122"/>
                <a:cs typeface="MiSans" pitchFamily="34" charset="-120"/>
              </a:rPr>
              <a:t>校园智序·小序</a:t>
            </a:r>
            <a:endParaRPr lang="en-US" sz="850" dirty="0"/>
          </a:p>
        </p:txBody>
      </p:sp>
      <p:sp>
        <p:nvSpPr>
          <p:cNvPr id="8" name="S00_0273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887C75"/>
                </a:solidFill>
                <a:latin typeface="MiSans" pitchFamily="34" charset="0"/>
                <a:ea typeface="MiSans" pitchFamily="34" charset="-122"/>
                <a:cs typeface="MiSans" pitchFamily="34" charset="-120"/>
              </a:rPr>
              <a:t>11 / 12</a:t>
            </a:r>
            <a:endParaRPr lang="en-US" sz="850" dirty="0"/>
          </a:p>
        </p:txBody>
      </p:sp>
      <p:sp>
        <p:nvSpPr>
          <p:cNvPr id="9" name="A01_0274_text"/>
          <p:cNvSpPr/>
          <p:nvPr/>
        </p:nvSpPr>
        <p:spPr>
          <a:xfrm>
            <a:off x="640080" y="1700784"/>
            <a:ext cx="3200400" cy="896112"/>
          </a:xfrm>
          <a:prstGeom prst="rect">
            <a:avLst/>
          </a:prstGeom>
          <a:noFill/>
          <a:ln/>
        </p:spPr>
        <p:txBody>
          <a:bodyPr wrap="square" lIns="0" tIns="0" rIns="0" bIns="0" rtlCol="0" anchor="ctr">
            <a:normAutofit/>
          </a:bodyPr>
          <a:lstStyle/>
          <a:p>
            <a:pPr marL="0" indent="0" algn="l">
              <a:buNone/>
            </a:pPr>
            <a:r>
              <a:rPr lang="en-US" sz="6000" b="1" dirty="0">
                <a:solidFill>
                  <a:srgbClr val="B83E32"/>
                </a:solidFill>
                <a:latin typeface="MiSans" pitchFamily="34" charset="0"/>
                <a:ea typeface="MiSans" pitchFamily="34" charset="-122"/>
                <a:cs typeface="MiSans" pitchFamily="34" charset="-120"/>
              </a:rPr>
              <a:t>1500+</a:t>
            </a:r>
            <a:endParaRPr lang="en-US" sz="6000" dirty="0"/>
          </a:p>
        </p:txBody>
      </p:sp>
      <p:sp>
        <p:nvSpPr>
          <p:cNvPr id="10" name="A01_0275_text"/>
          <p:cNvSpPr/>
          <p:nvPr/>
        </p:nvSpPr>
        <p:spPr>
          <a:xfrm>
            <a:off x="694944" y="2615184"/>
            <a:ext cx="2834640" cy="329184"/>
          </a:xfrm>
          <a:prstGeom prst="rect">
            <a:avLst/>
          </a:prstGeom>
          <a:noFill/>
          <a:ln/>
        </p:spPr>
        <p:txBody>
          <a:bodyPr wrap="square" lIns="0" tIns="0" rIns="0" bIns="0" rtlCol="0" anchor="ctr">
            <a:normAutofit/>
          </a:bodyPr>
          <a:lstStyle/>
          <a:p>
            <a:pPr marL="0" indent="0" algn="l">
              <a:buNone/>
            </a:pPr>
            <a:r>
              <a:rPr lang="en-US" sz="1600" b="1" dirty="0">
                <a:solidFill>
                  <a:srgbClr val="211E1C"/>
                </a:solidFill>
                <a:latin typeface="MiSans" pitchFamily="34" charset="0"/>
                <a:ea typeface="MiSans" pitchFamily="34" charset="-122"/>
                <a:cs typeface="MiSans" pitchFamily="34" charset="-120"/>
              </a:rPr>
              <a:t>底层课表服务累计服务用户</a:t>
            </a:r>
            <a:endParaRPr lang="en-US" sz="1600" dirty="0"/>
          </a:p>
        </p:txBody>
      </p:sp>
      <p:sp>
        <p:nvSpPr>
          <p:cNvPr id="11" name="A02_0276_text"/>
          <p:cNvSpPr/>
          <p:nvPr/>
        </p:nvSpPr>
        <p:spPr>
          <a:xfrm>
            <a:off x="713232" y="3072384"/>
            <a:ext cx="3291840" cy="749808"/>
          </a:xfrm>
          <a:prstGeom prst="rect">
            <a:avLst/>
          </a:prstGeom>
          <a:noFill/>
          <a:ln/>
        </p:spPr>
        <p:txBody>
          <a:bodyPr wrap="square" lIns="0" tIns="0" rIns="0" bIns="0" rtlCol="0" anchor="t">
            <a:normAutofit/>
          </a:bodyPr>
          <a:lstStyle/>
          <a:p>
            <a:pPr marL="0" indent="0" algn="l">
              <a:buNone/>
            </a:pPr>
            <a:r>
              <a:rPr lang="en-US" sz="1250" dirty="0">
                <a:solidFill>
                  <a:srgbClr val="544B46"/>
                </a:solidFill>
                <a:latin typeface="MiSans" pitchFamily="34" charset="0"/>
                <a:ea typeface="MiSans" pitchFamily="34" charset="-122"/>
                <a:cs typeface="MiSans" pitchFamily="34" charset="-120"/>
              </a:rPr>
              <a:t>本次参赛作品在这些真实需求基础上进一步扩展为校园教学时空协同智能体。</a:t>
            </a:r>
            <a:endParaRPr lang="en-US" sz="1250" dirty="0"/>
          </a:p>
        </p:txBody>
      </p:sp>
      <p:sp>
        <p:nvSpPr>
          <p:cNvPr id="12" name="A02_0277_line"/>
          <p:cNvSpPr/>
          <p:nvPr/>
        </p:nvSpPr>
        <p:spPr>
          <a:xfrm>
            <a:off x="713232" y="3950208"/>
            <a:ext cx="3081528" cy="0"/>
          </a:xfrm>
          <a:prstGeom prst="line">
            <a:avLst/>
          </a:prstGeom>
          <a:noFill/>
          <a:ln w="12700">
            <a:solidFill>
              <a:srgbClr val="DDD2CA"/>
            </a:solidFill>
            <a:prstDash val="solid"/>
          </a:ln>
        </p:spPr>
      </p:sp>
      <p:sp>
        <p:nvSpPr>
          <p:cNvPr id="13" name="A03_0278_text"/>
          <p:cNvSpPr/>
          <p:nvPr/>
        </p:nvSpPr>
        <p:spPr>
          <a:xfrm>
            <a:off x="731520" y="4114800"/>
            <a:ext cx="384048" cy="256032"/>
          </a:xfrm>
          <a:prstGeom prst="rect">
            <a:avLst/>
          </a:prstGeom>
          <a:noFill/>
          <a:ln/>
        </p:spPr>
        <p:txBody>
          <a:bodyPr wrap="square" lIns="0" tIns="0" rIns="0" bIns="0" rtlCol="0" anchor="ctr">
            <a:normAutofit/>
          </a:bodyPr>
          <a:lstStyle/>
          <a:p>
            <a:pPr marL="0" indent="0" algn="l">
              <a:buNone/>
            </a:pPr>
            <a:r>
              <a:rPr lang="en-US" sz="900" b="1" dirty="0">
                <a:solidFill>
                  <a:srgbClr val="E65442"/>
                </a:solidFill>
                <a:latin typeface="MiSans" pitchFamily="34" charset="0"/>
                <a:ea typeface="MiSans" pitchFamily="34" charset="-122"/>
                <a:cs typeface="MiSans" pitchFamily="34" charset="-120"/>
              </a:rPr>
              <a:t>01</a:t>
            </a:r>
            <a:endParaRPr lang="en-US" sz="900" dirty="0"/>
          </a:p>
        </p:txBody>
      </p:sp>
      <p:sp>
        <p:nvSpPr>
          <p:cNvPr id="14" name="A03_0279_text"/>
          <p:cNvSpPr/>
          <p:nvPr/>
        </p:nvSpPr>
        <p:spPr>
          <a:xfrm>
            <a:off x="1207008" y="4114800"/>
            <a:ext cx="2532888" cy="274320"/>
          </a:xfrm>
          <a:prstGeom prst="rect">
            <a:avLst/>
          </a:prstGeom>
          <a:noFill/>
          <a:ln/>
        </p:spPr>
        <p:txBody>
          <a:bodyPr wrap="square" lIns="0" tIns="0" rIns="0" bIns="0" rtlCol="0" anchor="ctr">
            <a:normAutofit/>
          </a:bodyPr>
          <a:lstStyle/>
          <a:p>
            <a:pPr marL="0" indent="0" algn="l">
              <a:buNone/>
            </a:pPr>
            <a:r>
              <a:rPr lang="en-US" sz="1220" b="1" dirty="0">
                <a:solidFill>
                  <a:srgbClr val="211E1C"/>
                </a:solidFill>
                <a:latin typeface="MiSans" pitchFamily="34" charset="0"/>
                <a:ea typeface="MiSans" pitchFamily="34" charset="-122"/>
                <a:cs typeface="MiSans" pitchFamily="34" charset="-120"/>
              </a:rPr>
              <a:t>减少信息差</a:t>
            </a:r>
            <a:endParaRPr lang="en-US" sz="1220" dirty="0"/>
          </a:p>
        </p:txBody>
      </p:sp>
      <p:sp>
        <p:nvSpPr>
          <p:cNvPr id="15" name="A03_0280_text"/>
          <p:cNvSpPr/>
          <p:nvPr/>
        </p:nvSpPr>
        <p:spPr>
          <a:xfrm>
            <a:off x="731520" y="4517136"/>
            <a:ext cx="384048" cy="256032"/>
          </a:xfrm>
          <a:prstGeom prst="rect">
            <a:avLst/>
          </a:prstGeom>
          <a:noFill/>
          <a:ln/>
        </p:spPr>
        <p:txBody>
          <a:bodyPr wrap="square" lIns="0" tIns="0" rIns="0" bIns="0" rtlCol="0" anchor="ctr">
            <a:normAutofit/>
          </a:bodyPr>
          <a:lstStyle/>
          <a:p>
            <a:pPr marL="0" indent="0" algn="l">
              <a:buNone/>
            </a:pPr>
            <a:r>
              <a:rPr lang="en-US" sz="900" b="1" dirty="0">
                <a:solidFill>
                  <a:srgbClr val="237F69"/>
                </a:solidFill>
                <a:latin typeface="MiSans" pitchFamily="34" charset="0"/>
                <a:ea typeface="MiSans" pitchFamily="34" charset="-122"/>
                <a:cs typeface="MiSans" pitchFamily="34" charset="-120"/>
              </a:rPr>
              <a:t>02</a:t>
            </a:r>
            <a:endParaRPr lang="en-US" sz="900" dirty="0"/>
          </a:p>
        </p:txBody>
      </p:sp>
      <p:sp>
        <p:nvSpPr>
          <p:cNvPr id="16" name="A03_0281_text"/>
          <p:cNvSpPr/>
          <p:nvPr/>
        </p:nvSpPr>
        <p:spPr>
          <a:xfrm>
            <a:off x="1207008" y="4517136"/>
            <a:ext cx="2532888" cy="274320"/>
          </a:xfrm>
          <a:prstGeom prst="rect">
            <a:avLst/>
          </a:prstGeom>
          <a:noFill/>
          <a:ln/>
        </p:spPr>
        <p:txBody>
          <a:bodyPr wrap="square" lIns="0" tIns="0" rIns="0" bIns="0" rtlCol="0" anchor="ctr">
            <a:normAutofit/>
          </a:bodyPr>
          <a:lstStyle/>
          <a:p>
            <a:pPr marL="0" indent="0" algn="l">
              <a:buNone/>
            </a:pPr>
            <a:r>
              <a:rPr lang="en-US" sz="1220" b="1" dirty="0">
                <a:solidFill>
                  <a:srgbClr val="211E1C"/>
                </a:solidFill>
                <a:latin typeface="MiSans" pitchFamily="34" charset="0"/>
                <a:ea typeface="MiSans" pitchFamily="34" charset="-122"/>
                <a:cs typeface="MiSans" pitchFamily="34" charset="-120"/>
              </a:rPr>
              <a:t>减少重复核对</a:t>
            </a:r>
            <a:endParaRPr lang="en-US" sz="1220" dirty="0"/>
          </a:p>
        </p:txBody>
      </p:sp>
      <p:sp>
        <p:nvSpPr>
          <p:cNvPr id="17" name="A03_0282_text"/>
          <p:cNvSpPr/>
          <p:nvPr/>
        </p:nvSpPr>
        <p:spPr>
          <a:xfrm>
            <a:off x="731520" y="4919472"/>
            <a:ext cx="384048" cy="256032"/>
          </a:xfrm>
          <a:prstGeom prst="rect">
            <a:avLst/>
          </a:prstGeom>
          <a:noFill/>
          <a:ln/>
        </p:spPr>
        <p:txBody>
          <a:bodyPr wrap="square" lIns="0" tIns="0" rIns="0" bIns="0" rtlCol="0" anchor="ctr">
            <a:normAutofit/>
          </a:bodyPr>
          <a:lstStyle/>
          <a:p>
            <a:pPr marL="0" indent="0" algn="l">
              <a:buNone/>
            </a:pPr>
            <a:r>
              <a:rPr lang="en-US" sz="900" b="1" dirty="0">
                <a:solidFill>
                  <a:srgbClr val="E65442"/>
                </a:solidFill>
                <a:latin typeface="MiSans" pitchFamily="34" charset="0"/>
                <a:ea typeface="MiSans" pitchFamily="34" charset="-122"/>
                <a:cs typeface="MiSans" pitchFamily="34" charset="-120"/>
              </a:rPr>
              <a:t>03</a:t>
            </a:r>
            <a:endParaRPr lang="en-US" sz="900" dirty="0"/>
          </a:p>
        </p:txBody>
      </p:sp>
      <p:sp>
        <p:nvSpPr>
          <p:cNvPr id="18" name="A03_0283_text"/>
          <p:cNvSpPr/>
          <p:nvPr/>
        </p:nvSpPr>
        <p:spPr>
          <a:xfrm>
            <a:off x="1207008" y="4919472"/>
            <a:ext cx="2532888" cy="274320"/>
          </a:xfrm>
          <a:prstGeom prst="rect">
            <a:avLst/>
          </a:prstGeom>
          <a:noFill/>
          <a:ln/>
        </p:spPr>
        <p:txBody>
          <a:bodyPr wrap="square" lIns="0" tIns="0" rIns="0" bIns="0" rtlCol="0" anchor="ctr">
            <a:normAutofit/>
          </a:bodyPr>
          <a:lstStyle/>
          <a:p>
            <a:pPr marL="0" indent="0" algn="l">
              <a:buNone/>
            </a:pPr>
            <a:r>
              <a:rPr lang="en-US" sz="1220" b="1" dirty="0">
                <a:solidFill>
                  <a:srgbClr val="211E1C"/>
                </a:solidFill>
                <a:latin typeface="MiSans" pitchFamily="34" charset="0"/>
                <a:ea typeface="MiSans" pitchFamily="34" charset="-122"/>
                <a:cs typeface="MiSans" pitchFamily="34" charset="-120"/>
              </a:rPr>
              <a:t>降低协调成本</a:t>
            </a:r>
            <a:endParaRPr lang="en-US" sz="1220" dirty="0"/>
          </a:p>
        </p:txBody>
      </p:sp>
      <p:sp>
        <p:nvSpPr>
          <p:cNvPr id="19" name="A03_0284_text"/>
          <p:cNvSpPr/>
          <p:nvPr/>
        </p:nvSpPr>
        <p:spPr>
          <a:xfrm>
            <a:off x="731520" y="5321808"/>
            <a:ext cx="384048" cy="256032"/>
          </a:xfrm>
          <a:prstGeom prst="rect">
            <a:avLst/>
          </a:prstGeom>
          <a:noFill/>
          <a:ln/>
        </p:spPr>
        <p:txBody>
          <a:bodyPr wrap="square" lIns="0" tIns="0" rIns="0" bIns="0" rtlCol="0" anchor="ctr">
            <a:normAutofit/>
          </a:bodyPr>
          <a:lstStyle/>
          <a:p>
            <a:pPr marL="0" indent="0" algn="l">
              <a:buNone/>
            </a:pPr>
            <a:r>
              <a:rPr lang="en-US" sz="900" b="1" dirty="0">
                <a:solidFill>
                  <a:srgbClr val="237F69"/>
                </a:solidFill>
                <a:latin typeface="MiSans" pitchFamily="34" charset="0"/>
                <a:ea typeface="MiSans" pitchFamily="34" charset="-122"/>
                <a:cs typeface="MiSans" pitchFamily="34" charset="-120"/>
              </a:rPr>
              <a:t>04</a:t>
            </a:r>
            <a:endParaRPr lang="en-US" sz="900" dirty="0"/>
          </a:p>
        </p:txBody>
      </p:sp>
      <p:sp>
        <p:nvSpPr>
          <p:cNvPr id="20" name="A03_0285_text"/>
          <p:cNvSpPr/>
          <p:nvPr/>
        </p:nvSpPr>
        <p:spPr>
          <a:xfrm>
            <a:off x="1207008" y="5321808"/>
            <a:ext cx="2532888" cy="274320"/>
          </a:xfrm>
          <a:prstGeom prst="rect">
            <a:avLst/>
          </a:prstGeom>
          <a:noFill/>
          <a:ln/>
        </p:spPr>
        <p:txBody>
          <a:bodyPr wrap="square" lIns="0" tIns="0" rIns="0" bIns="0" rtlCol="0" anchor="ctr">
            <a:normAutofit/>
          </a:bodyPr>
          <a:lstStyle/>
          <a:p>
            <a:pPr marL="0" indent="0" algn="l">
              <a:buNone/>
            </a:pPr>
            <a:r>
              <a:rPr lang="en-US" sz="1220" b="1" dirty="0">
                <a:solidFill>
                  <a:srgbClr val="211E1C"/>
                </a:solidFill>
                <a:latin typeface="MiSans" pitchFamily="34" charset="0"/>
                <a:ea typeface="MiSans" pitchFamily="34" charset="-122"/>
                <a:cs typeface="MiSans" pitchFamily="34" charset="-120"/>
              </a:rPr>
              <a:t>提前发现风险</a:t>
            </a:r>
            <a:endParaRPr lang="en-US" sz="1220" dirty="0"/>
          </a:p>
        </p:txBody>
      </p:sp>
      <p:sp>
        <p:nvSpPr>
          <p:cNvPr id="21" name="A03_0286_text"/>
          <p:cNvSpPr/>
          <p:nvPr/>
        </p:nvSpPr>
        <p:spPr>
          <a:xfrm>
            <a:off x="731520" y="5724144"/>
            <a:ext cx="384048" cy="256032"/>
          </a:xfrm>
          <a:prstGeom prst="rect">
            <a:avLst/>
          </a:prstGeom>
          <a:noFill/>
          <a:ln/>
        </p:spPr>
        <p:txBody>
          <a:bodyPr wrap="square" lIns="0" tIns="0" rIns="0" bIns="0" rtlCol="0" anchor="ctr">
            <a:normAutofit/>
          </a:bodyPr>
          <a:lstStyle/>
          <a:p>
            <a:pPr marL="0" indent="0" algn="l">
              <a:buNone/>
            </a:pPr>
            <a:r>
              <a:rPr lang="en-US" sz="900" b="1" dirty="0">
                <a:solidFill>
                  <a:srgbClr val="E65442"/>
                </a:solidFill>
                <a:latin typeface="MiSans" pitchFamily="34" charset="0"/>
                <a:ea typeface="MiSans" pitchFamily="34" charset="-122"/>
                <a:cs typeface="MiSans" pitchFamily="34" charset="-120"/>
              </a:rPr>
              <a:t>05</a:t>
            </a:r>
            <a:endParaRPr lang="en-US" sz="900" dirty="0"/>
          </a:p>
        </p:txBody>
      </p:sp>
      <p:sp>
        <p:nvSpPr>
          <p:cNvPr id="22" name="A03_0287_text"/>
          <p:cNvSpPr/>
          <p:nvPr/>
        </p:nvSpPr>
        <p:spPr>
          <a:xfrm>
            <a:off x="1207008" y="5724144"/>
            <a:ext cx="2532888" cy="274320"/>
          </a:xfrm>
          <a:prstGeom prst="rect">
            <a:avLst/>
          </a:prstGeom>
          <a:noFill/>
          <a:ln/>
        </p:spPr>
        <p:txBody>
          <a:bodyPr wrap="square" lIns="0" tIns="0" rIns="0" bIns="0" rtlCol="0" anchor="ctr">
            <a:normAutofit/>
          </a:bodyPr>
          <a:lstStyle/>
          <a:p>
            <a:pPr marL="0" indent="0" algn="l">
              <a:buNone/>
            </a:pPr>
            <a:r>
              <a:rPr lang="en-US" sz="1220" b="1" dirty="0">
                <a:solidFill>
                  <a:srgbClr val="211E1C"/>
                </a:solidFill>
                <a:latin typeface="MiSans" pitchFamily="34" charset="0"/>
                <a:ea typeface="MiSans" pitchFamily="34" charset="-122"/>
                <a:cs typeface="MiSans" pitchFamily="34" charset="-120"/>
              </a:rPr>
              <a:t>让安排更可解释</a:t>
            </a:r>
            <a:endParaRPr lang="en-US" sz="1220" dirty="0"/>
          </a:p>
        </p:txBody>
      </p:sp>
      <p:sp>
        <p:nvSpPr>
          <p:cNvPr id="23" name="A04_0288_screen-base"/>
          <p:cNvSpPr/>
          <p:nvPr/>
        </p:nvSpPr>
        <p:spPr>
          <a:xfrm>
            <a:off x="4261104" y="1664208"/>
            <a:ext cx="7351776" cy="3163824"/>
          </a:xfrm>
          <a:prstGeom prst="rect">
            <a:avLst/>
          </a:prstGeom>
          <a:solidFill>
            <a:srgbClr val="FFFFFF"/>
          </a:solidFill>
          <a:ln w="11430">
            <a:solidFill>
              <a:srgbClr val="DDD2CA"/>
            </a:solidFill>
            <a:prstDash val="solid"/>
          </a:ln>
        </p:spPr>
      </p:sp>
      <p:pic>
        <p:nvPicPr>
          <p:cNvPr id="24" name="A04_0289_screen-image" descr="competition-project\competition\final-delivery\assets\portal-home-1920x1080-final.png"/>
          <p:cNvPicPr>
            <a:picLocks noChangeAspect="1"/>
          </p:cNvPicPr>
          <p:nvPr/>
        </p:nvPicPr>
        <p:blipFill>
          <a:blip r:embed="rId3"/>
          <a:stretch>
            <a:fillRect/>
          </a:stretch>
        </p:blipFill>
        <p:spPr>
          <a:xfrm>
            <a:off x="4297680" y="1700784"/>
            <a:ext cx="7278624" cy="3090672"/>
          </a:xfrm>
          <a:prstGeom prst="rect">
            <a:avLst/>
          </a:prstGeom>
        </p:spPr>
      </p:pic>
      <p:sp>
        <p:nvSpPr>
          <p:cNvPr id="25" name="A02_0290_text"/>
          <p:cNvSpPr/>
          <p:nvPr/>
        </p:nvSpPr>
        <p:spPr>
          <a:xfrm>
            <a:off x="4315968" y="5074920"/>
            <a:ext cx="347472" cy="228600"/>
          </a:xfrm>
          <a:prstGeom prst="rect">
            <a:avLst/>
          </a:prstGeom>
          <a:noFill/>
          <a:ln/>
        </p:spPr>
        <p:txBody>
          <a:bodyPr wrap="square" lIns="0" tIns="0" rIns="0" bIns="0" rtlCol="0" anchor="ctr">
            <a:normAutofit/>
          </a:bodyPr>
          <a:lstStyle/>
          <a:p>
            <a:pPr marL="0" indent="0" algn="l">
              <a:buNone/>
            </a:pPr>
            <a:r>
              <a:rPr lang="en-US" sz="850" b="1" dirty="0">
                <a:solidFill>
                  <a:srgbClr val="E65442"/>
                </a:solidFill>
                <a:latin typeface="MiSans" pitchFamily="34" charset="0"/>
                <a:ea typeface="MiSans" pitchFamily="34" charset="-122"/>
                <a:cs typeface="MiSans" pitchFamily="34" charset="-120"/>
              </a:rPr>
              <a:t>01</a:t>
            </a:r>
            <a:endParaRPr lang="en-US" sz="850" dirty="0"/>
          </a:p>
        </p:txBody>
      </p:sp>
      <p:sp>
        <p:nvSpPr>
          <p:cNvPr id="26" name="A02_0291_line"/>
          <p:cNvSpPr/>
          <p:nvPr/>
        </p:nvSpPr>
        <p:spPr>
          <a:xfrm>
            <a:off x="4315968" y="5404104"/>
            <a:ext cx="1481328" cy="0"/>
          </a:xfrm>
          <a:prstGeom prst="line">
            <a:avLst/>
          </a:prstGeom>
          <a:noFill/>
          <a:ln w="26670">
            <a:solidFill>
              <a:srgbClr val="E65442"/>
            </a:solidFill>
            <a:prstDash val="solid"/>
          </a:ln>
        </p:spPr>
      </p:sp>
      <p:sp>
        <p:nvSpPr>
          <p:cNvPr id="27" name="A02_0292_text"/>
          <p:cNvSpPr/>
          <p:nvPr/>
        </p:nvSpPr>
        <p:spPr>
          <a:xfrm>
            <a:off x="4315968" y="5559552"/>
            <a:ext cx="1572768" cy="530352"/>
          </a:xfrm>
          <a:prstGeom prst="rect">
            <a:avLst/>
          </a:prstGeom>
          <a:noFill/>
          <a:ln/>
        </p:spPr>
        <p:txBody>
          <a:bodyPr wrap="square" lIns="0" tIns="0" rIns="0" bIns="0" rtlCol="0" anchor="t">
            <a:normAutofit/>
          </a:bodyPr>
          <a:lstStyle/>
          <a:p>
            <a:pPr marL="0" indent="0" algn="l">
              <a:buNone/>
            </a:pPr>
            <a:r>
              <a:rPr lang="en-US" sz="1020" b="1" dirty="0">
                <a:solidFill>
                  <a:srgbClr val="544B46"/>
                </a:solidFill>
                <a:latin typeface="MiSans" pitchFamily="34" charset="0"/>
                <a:ea typeface="MiSans" pitchFamily="34" charset="-122"/>
                <a:cs typeface="MiSans" pitchFamily="34" charset="-120"/>
              </a:rPr>
              <a:t>学生高频课表服务</a:t>
            </a:r>
            <a:endParaRPr lang="en-US" sz="1020" dirty="0"/>
          </a:p>
        </p:txBody>
      </p:sp>
      <p:sp>
        <p:nvSpPr>
          <p:cNvPr id="28" name="A03_0293_text"/>
          <p:cNvSpPr/>
          <p:nvPr/>
        </p:nvSpPr>
        <p:spPr>
          <a:xfrm>
            <a:off x="6126480" y="5074920"/>
            <a:ext cx="347472" cy="228600"/>
          </a:xfrm>
          <a:prstGeom prst="rect">
            <a:avLst/>
          </a:prstGeom>
          <a:noFill/>
          <a:ln/>
        </p:spPr>
        <p:txBody>
          <a:bodyPr wrap="square" lIns="0" tIns="0" rIns="0" bIns="0" rtlCol="0" anchor="ctr">
            <a:normAutofit/>
          </a:bodyPr>
          <a:lstStyle/>
          <a:p>
            <a:pPr marL="0" indent="0" algn="l">
              <a:buNone/>
            </a:pPr>
            <a:r>
              <a:rPr lang="en-US" sz="850" b="1" dirty="0">
                <a:solidFill>
                  <a:srgbClr val="E65442"/>
                </a:solidFill>
                <a:latin typeface="MiSans" pitchFamily="34" charset="0"/>
                <a:ea typeface="MiSans" pitchFamily="34" charset="-122"/>
                <a:cs typeface="MiSans" pitchFamily="34" charset="-120"/>
              </a:rPr>
              <a:t>02</a:t>
            </a:r>
            <a:endParaRPr lang="en-US" sz="850" dirty="0"/>
          </a:p>
        </p:txBody>
      </p:sp>
      <p:sp>
        <p:nvSpPr>
          <p:cNvPr id="29" name="A03_0294_line"/>
          <p:cNvSpPr/>
          <p:nvPr/>
        </p:nvSpPr>
        <p:spPr>
          <a:xfrm>
            <a:off x="6126480" y="5404104"/>
            <a:ext cx="1481328" cy="0"/>
          </a:xfrm>
          <a:prstGeom prst="line">
            <a:avLst/>
          </a:prstGeom>
          <a:noFill/>
          <a:ln w="26670">
            <a:solidFill>
              <a:srgbClr val="E65442"/>
            </a:solidFill>
            <a:prstDash val="solid"/>
          </a:ln>
        </p:spPr>
      </p:sp>
      <p:sp>
        <p:nvSpPr>
          <p:cNvPr id="30" name="A03_0295_text"/>
          <p:cNvSpPr/>
          <p:nvPr/>
        </p:nvSpPr>
        <p:spPr>
          <a:xfrm>
            <a:off x="6126480" y="5559552"/>
            <a:ext cx="1572768" cy="530352"/>
          </a:xfrm>
          <a:prstGeom prst="rect">
            <a:avLst/>
          </a:prstGeom>
          <a:noFill/>
          <a:ln/>
        </p:spPr>
        <p:txBody>
          <a:bodyPr wrap="square" lIns="0" tIns="0" rIns="0" bIns="0" rtlCol="0" anchor="t">
            <a:normAutofit/>
          </a:bodyPr>
          <a:lstStyle/>
          <a:p>
            <a:pPr marL="0" indent="0" algn="l">
              <a:buNone/>
            </a:pPr>
            <a:r>
              <a:rPr lang="en-US" sz="1020" b="1" dirty="0">
                <a:solidFill>
                  <a:srgbClr val="544B46"/>
                </a:solidFill>
                <a:latin typeface="MiSans" pitchFamily="34" charset="0"/>
                <a:ea typeface="MiSans" pitchFamily="34" charset="-122"/>
                <a:cs typeface="MiSans" pitchFamily="34" charset="-120"/>
              </a:rPr>
              <a:t>教师协同与资源推荐</a:t>
            </a:r>
            <a:endParaRPr lang="en-US" sz="1020" dirty="0"/>
          </a:p>
        </p:txBody>
      </p:sp>
      <p:sp>
        <p:nvSpPr>
          <p:cNvPr id="31" name="A04_0296_text"/>
          <p:cNvSpPr/>
          <p:nvPr/>
        </p:nvSpPr>
        <p:spPr>
          <a:xfrm>
            <a:off x="7936992" y="5074920"/>
            <a:ext cx="347472" cy="228600"/>
          </a:xfrm>
          <a:prstGeom prst="rect">
            <a:avLst/>
          </a:prstGeom>
          <a:noFill/>
          <a:ln/>
        </p:spPr>
        <p:txBody>
          <a:bodyPr wrap="square" lIns="0" tIns="0" rIns="0" bIns="0" rtlCol="0" anchor="ctr">
            <a:normAutofit/>
          </a:bodyPr>
          <a:lstStyle/>
          <a:p>
            <a:pPr marL="0" indent="0" algn="l">
              <a:buNone/>
            </a:pPr>
            <a:r>
              <a:rPr lang="en-US" sz="850" b="1" dirty="0">
                <a:solidFill>
                  <a:srgbClr val="237F69"/>
                </a:solidFill>
                <a:latin typeface="MiSans" pitchFamily="34" charset="0"/>
                <a:ea typeface="MiSans" pitchFamily="34" charset="-122"/>
                <a:cs typeface="MiSans" pitchFamily="34" charset="-120"/>
              </a:rPr>
              <a:t>03</a:t>
            </a:r>
            <a:endParaRPr lang="en-US" sz="850" dirty="0"/>
          </a:p>
        </p:txBody>
      </p:sp>
      <p:sp>
        <p:nvSpPr>
          <p:cNvPr id="32" name="A04_0297_line"/>
          <p:cNvSpPr/>
          <p:nvPr/>
        </p:nvSpPr>
        <p:spPr>
          <a:xfrm>
            <a:off x="7936992" y="5404104"/>
            <a:ext cx="1481328" cy="0"/>
          </a:xfrm>
          <a:prstGeom prst="line">
            <a:avLst/>
          </a:prstGeom>
          <a:noFill/>
          <a:ln w="26670">
            <a:solidFill>
              <a:srgbClr val="237F69"/>
            </a:solidFill>
            <a:prstDash val="solid"/>
          </a:ln>
        </p:spPr>
      </p:sp>
      <p:sp>
        <p:nvSpPr>
          <p:cNvPr id="33" name="A04_0298_text"/>
          <p:cNvSpPr/>
          <p:nvPr/>
        </p:nvSpPr>
        <p:spPr>
          <a:xfrm>
            <a:off x="7936992" y="5559552"/>
            <a:ext cx="1572768" cy="530352"/>
          </a:xfrm>
          <a:prstGeom prst="rect">
            <a:avLst/>
          </a:prstGeom>
          <a:noFill/>
          <a:ln/>
        </p:spPr>
        <p:txBody>
          <a:bodyPr wrap="square" lIns="0" tIns="0" rIns="0" bIns="0" rtlCol="0" anchor="t">
            <a:normAutofit/>
          </a:bodyPr>
          <a:lstStyle/>
          <a:p>
            <a:pPr marL="0" indent="0" algn="l">
              <a:buNone/>
            </a:pPr>
            <a:r>
              <a:rPr lang="en-US" sz="1020" b="1" dirty="0">
                <a:solidFill>
                  <a:srgbClr val="544B46"/>
                </a:solidFill>
                <a:latin typeface="MiSans" pitchFamily="34" charset="0"/>
                <a:ea typeface="MiSans" pitchFamily="34" charset="-122"/>
                <a:cs typeface="MiSans" pitchFamily="34" charset="-120"/>
              </a:rPr>
              <a:t>教学管理风险预警</a:t>
            </a:r>
            <a:endParaRPr lang="en-US" sz="1020" dirty="0"/>
          </a:p>
        </p:txBody>
      </p:sp>
      <p:sp>
        <p:nvSpPr>
          <p:cNvPr id="34" name="A05_0299_text"/>
          <p:cNvSpPr/>
          <p:nvPr/>
        </p:nvSpPr>
        <p:spPr>
          <a:xfrm>
            <a:off x="9747504" y="5074920"/>
            <a:ext cx="347472" cy="228600"/>
          </a:xfrm>
          <a:prstGeom prst="rect">
            <a:avLst/>
          </a:prstGeom>
          <a:noFill/>
          <a:ln/>
        </p:spPr>
        <p:txBody>
          <a:bodyPr wrap="square" lIns="0" tIns="0" rIns="0" bIns="0" rtlCol="0" anchor="ctr">
            <a:normAutofit/>
          </a:bodyPr>
          <a:lstStyle/>
          <a:p>
            <a:pPr marL="0" indent="0" algn="l">
              <a:buNone/>
            </a:pPr>
            <a:r>
              <a:rPr lang="en-US" sz="850" b="1" dirty="0">
                <a:solidFill>
                  <a:srgbClr val="237F69"/>
                </a:solidFill>
                <a:latin typeface="MiSans" pitchFamily="34" charset="0"/>
                <a:ea typeface="MiSans" pitchFamily="34" charset="-122"/>
                <a:cs typeface="MiSans" pitchFamily="34" charset="-120"/>
              </a:rPr>
              <a:t>04</a:t>
            </a:r>
            <a:endParaRPr lang="en-US" sz="850" dirty="0"/>
          </a:p>
        </p:txBody>
      </p:sp>
      <p:sp>
        <p:nvSpPr>
          <p:cNvPr id="35" name="A05_0300_line"/>
          <p:cNvSpPr/>
          <p:nvPr/>
        </p:nvSpPr>
        <p:spPr>
          <a:xfrm>
            <a:off x="9747504" y="5404104"/>
            <a:ext cx="1481328" cy="0"/>
          </a:xfrm>
          <a:prstGeom prst="line">
            <a:avLst/>
          </a:prstGeom>
          <a:noFill/>
          <a:ln w="26670">
            <a:solidFill>
              <a:srgbClr val="237F69"/>
            </a:solidFill>
            <a:prstDash val="solid"/>
          </a:ln>
        </p:spPr>
      </p:sp>
      <p:sp>
        <p:nvSpPr>
          <p:cNvPr id="36" name="A05_0301_text"/>
          <p:cNvSpPr/>
          <p:nvPr/>
        </p:nvSpPr>
        <p:spPr>
          <a:xfrm>
            <a:off x="9747504" y="5559552"/>
            <a:ext cx="1572768" cy="530352"/>
          </a:xfrm>
          <a:prstGeom prst="rect">
            <a:avLst/>
          </a:prstGeom>
          <a:noFill/>
          <a:ln/>
        </p:spPr>
        <p:txBody>
          <a:bodyPr wrap="square" lIns="0" tIns="0" rIns="0" bIns="0" rtlCol="0" anchor="t">
            <a:normAutofit/>
          </a:bodyPr>
          <a:lstStyle/>
          <a:p>
            <a:pPr marL="0" indent="0" algn="l">
              <a:buNone/>
            </a:pPr>
            <a:r>
              <a:rPr lang="en-US" sz="1020" b="1" dirty="0">
                <a:solidFill>
                  <a:srgbClr val="544B46"/>
                </a:solidFill>
                <a:latin typeface="MiSans" pitchFamily="34" charset="0"/>
                <a:ea typeface="MiSans" pitchFamily="34" charset="-122"/>
                <a:cs typeface="MiSans" pitchFamily="34" charset="-120"/>
              </a:rPr>
              <a:t>教学时空数字化治理</a:t>
            </a:r>
            <a:endParaRPr lang="en-US" sz="10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8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8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380"/>
                                        <p:tgtEl>
                                          <p:spTgt spid="11"/>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38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38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380"/>
                                        <p:tgtEl>
                                          <p:spTgt spid="2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38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38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38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38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38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380"/>
                                        <p:tgtEl>
                                          <p:spTgt spid="1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380"/>
                                        <p:tgtEl>
                                          <p:spTgt spid="1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380"/>
                                        <p:tgtEl>
                                          <p:spTgt spid="1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38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380"/>
                                        <p:tgtEl>
                                          <p:spTgt spid="2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380"/>
                                        <p:tgtEl>
                                          <p:spTgt spid="2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380"/>
                                        <p:tgtEl>
                                          <p:spTgt spid="28"/>
                                        </p:tgtEl>
                                      </p:cBhvr>
                                    </p:animEffect>
                                  </p:childTnLst>
                                </p:cTn>
                              </p:par>
                              <p:par>
                                <p:cTn id="63" presetID="10" presetClass="entr" presetSubtype="0" fill="hold"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380"/>
                                        <p:tgtEl>
                                          <p:spTgt spid="2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380"/>
                                        <p:tgtEl>
                                          <p:spTgt spid="3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380"/>
                                        <p:tgtEl>
                                          <p:spTgt spid="23"/>
                                        </p:tgtEl>
                                      </p:cBhvr>
                                    </p:animEffect>
                                  </p:childTnLst>
                                </p:cTn>
                              </p:par>
                              <p:par>
                                <p:cTn id="74" presetID="10" presetClass="entr" presetSubtype="0" fill="hold" nodeType="with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380"/>
                                        <p:tgtEl>
                                          <p:spTgt spid="2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80"/>
                                        <p:tgtEl>
                                          <p:spTgt spid="31"/>
                                        </p:tgtEl>
                                      </p:cBhvr>
                                    </p:animEffect>
                                  </p:childTnLst>
                                </p:cTn>
                              </p:par>
                              <p:par>
                                <p:cTn id="80" presetID="10" presetClass="entr" presetSubtype="0" fill="hold"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38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380"/>
                                        <p:tgtEl>
                                          <p:spTgt spid="33"/>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34"/>
                                        </p:tgtEl>
                                        <p:attrNameLst>
                                          <p:attrName>style.visibility</p:attrName>
                                        </p:attrNameLst>
                                      </p:cBhvr>
                                      <p:to>
                                        <p:strVal val="visible"/>
                                      </p:to>
                                    </p:set>
                                    <p:animEffect transition="in" filter="fade">
                                      <p:cBhvr>
                                        <p:cTn id="90" dur="380"/>
                                        <p:tgtEl>
                                          <p:spTgt spid="34"/>
                                        </p:tgtEl>
                                      </p:cBhvr>
                                    </p:animEffect>
                                  </p:childTnLst>
                                </p:cTn>
                              </p:par>
                              <p:par>
                                <p:cTn id="91" presetID="10" presetClass="entr" presetSubtype="0" fill="hold" nodeType="withEffect">
                                  <p:stCondLst>
                                    <p:cond delay="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380"/>
                                        <p:tgtEl>
                                          <p:spTgt spid="35"/>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6"/>
                                        </p:tgtEl>
                                        <p:attrNameLst>
                                          <p:attrName>style.visibility</p:attrName>
                                        </p:attrNameLst>
                                      </p:cBhvr>
                                      <p:to>
                                        <p:strVal val="visible"/>
                                      </p:to>
                                    </p:set>
                                    <p:animEffect transition="in" filter="fade">
                                      <p:cBhvr>
                                        <p:cTn id="96" dur="38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5" grpId="0" animBg="1"/>
      <p:bldP spid="27" grpId="0" animBg="1"/>
      <p:bldP spid="28" grpId="0" animBg="1"/>
      <p:bldP spid="30" grpId="0" animBg="1"/>
      <p:bldP spid="31" grpId="0" animBg="1"/>
      <p:bldP spid="33" grpId="0" animBg="1"/>
      <p:bldP spid="34" grpId="0" animBg="1"/>
      <p:bldP spid="3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11E1C"/>
        </a:solidFill>
        <a:effectLst/>
      </p:bgPr>
    </p:bg>
    <p:spTree>
      <p:nvGrpSpPr>
        <p:cNvPr id="1" name=""/>
        <p:cNvGrpSpPr/>
        <p:nvPr/>
      </p:nvGrpSpPr>
      <p:grpSpPr>
        <a:xfrm>
          <a:off x="0" y="0"/>
          <a:ext cx="0" cy="0"/>
          <a:chOff x="0" y="0"/>
          <a:chExt cx="0" cy="0"/>
        </a:xfrm>
      </p:grpSpPr>
      <p:sp>
        <p:nvSpPr>
          <p:cNvPr id="2" name="S00_0302_background-field"/>
          <p:cNvSpPr/>
          <p:nvPr/>
        </p:nvSpPr>
        <p:spPr>
          <a:xfrm>
            <a:off x="7315200" y="-1005840"/>
            <a:ext cx="6217920" cy="6217920"/>
          </a:xfrm>
          <a:prstGeom prst="ellipse">
            <a:avLst/>
          </a:prstGeom>
          <a:solidFill>
            <a:srgbClr val="E65442">
              <a:alpha val="58000"/>
            </a:srgbClr>
          </a:solidFill>
          <a:ln w="12700">
            <a:solidFill>
              <a:srgbClr val="FFFFFF">
                <a:alpha val="0"/>
              </a:srgbClr>
            </a:solidFill>
            <a:prstDash val="solid"/>
          </a:ln>
        </p:spPr>
      </p:sp>
      <p:sp>
        <p:nvSpPr>
          <p:cNvPr id="3" name="S00_0303_background-field"/>
          <p:cNvSpPr/>
          <p:nvPr/>
        </p:nvSpPr>
        <p:spPr>
          <a:xfrm>
            <a:off x="8229600" y="0"/>
            <a:ext cx="4480560" cy="4480560"/>
          </a:xfrm>
          <a:prstGeom prst="ellipse">
            <a:avLst/>
          </a:prstGeom>
          <a:solidFill>
            <a:srgbClr val="B96B2E">
              <a:alpha val="28000"/>
            </a:srgbClr>
          </a:solidFill>
          <a:ln w="12700">
            <a:solidFill>
              <a:srgbClr val="FFFFFF">
                <a:alpha val="0"/>
              </a:srgbClr>
            </a:solidFill>
            <a:prstDash val="solid"/>
          </a:ln>
        </p:spPr>
      </p:sp>
      <p:sp>
        <p:nvSpPr>
          <p:cNvPr id="4" name="S00_0304_text"/>
          <p:cNvSpPr/>
          <p:nvPr/>
        </p:nvSpPr>
        <p:spPr>
          <a:xfrm>
            <a:off x="566928" y="283464"/>
            <a:ext cx="1920240" cy="237744"/>
          </a:xfrm>
          <a:prstGeom prst="rect">
            <a:avLst/>
          </a:prstGeom>
          <a:noFill/>
          <a:ln/>
        </p:spPr>
        <p:txBody>
          <a:bodyPr wrap="square" lIns="0" tIns="0" rIns="0" bIns="0" rtlCol="0" anchor="ctr">
            <a:normAutofit/>
          </a:bodyPr>
          <a:lstStyle/>
          <a:p>
            <a:pPr marL="0" indent="0" algn="l">
              <a:buNone/>
            </a:pPr>
            <a:r>
              <a:rPr lang="en-US" sz="1000" b="1" dirty="0">
                <a:solidFill>
                  <a:srgbClr val="FFB7A7"/>
                </a:solidFill>
                <a:latin typeface="MiSans" pitchFamily="34" charset="0"/>
                <a:ea typeface="MiSans" pitchFamily="34" charset="-122"/>
                <a:cs typeface="MiSans" pitchFamily="34" charset="-120"/>
              </a:rPr>
              <a:t>在线体验</a:t>
            </a:r>
            <a:endParaRPr lang="en-US" sz="1000" dirty="0"/>
          </a:p>
        </p:txBody>
      </p:sp>
      <p:sp>
        <p:nvSpPr>
          <p:cNvPr id="5" name="A01_0305_text"/>
          <p:cNvSpPr/>
          <p:nvPr/>
        </p:nvSpPr>
        <p:spPr>
          <a:xfrm>
            <a:off x="566928" y="704088"/>
            <a:ext cx="4892040" cy="1115568"/>
          </a:xfrm>
          <a:prstGeom prst="rect">
            <a:avLst/>
          </a:prstGeom>
          <a:noFill/>
          <a:ln/>
        </p:spPr>
        <p:txBody>
          <a:bodyPr wrap="square" lIns="0" tIns="0" rIns="0" bIns="0" rtlCol="0" anchor="t">
            <a:normAutofit/>
          </a:bodyPr>
          <a:lstStyle/>
          <a:p>
            <a:pPr marL="0" indent="0" algn="l">
              <a:buNone/>
            </a:pPr>
            <a:r>
              <a:rPr lang="en-US" sz="2900" b="1" dirty="0">
                <a:solidFill>
                  <a:srgbClr val="FFFFFF"/>
                </a:solidFill>
                <a:latin typeface="Noto Serif SC" pitchFamily="34" charset="0"/>
                <a:ea typeface="Noto Serif SC" pitchFamily="34" charset="-122"/>
                <a:cs typeface="Noto Serif SC" pitchFamily="34" charset="-120"/>
              </a:rPr>
              <a:t>评委可以直接问，</a:t>
            </a:r>
            <a:endParaRPr lang="en-US" sz="2900" dirty="0"/>
          </a:p>
          <a:p>
            <a:pPr marL="0" indent="0" algn="l">
              <a:buNone/>
            </a:pPr>
            <a:r>
              <a:rPr lang="en-US" sz="2900" b="1" dirty="0">
                <a:solidFill>
                  <a:srgbClr val="FFFFFF"/>
                </a:solidFill>
                <a:latin typeface="Noto Serif SC" pitchFamily="34" charset="0"/>
                <a:ea typeface="Noto Serif SC" pitchFamily="34" charset="-122"/>
                <a:cs typeface="Noto Serif SC" pitchFamily="34" charset="-120"/>
              </a:rPr>
              <a:t>不需要先懂配置。</a:t>
            </a:r>
            <a:endParaRPr lang="en-US" sz="2900" dirty="0"/>
          </a:p>
        </p:txBody>
      </p:sp>
      <p:sp>
        <p:nvSpPr>
          <p:cNvPr id="6" name="A01_0306_text"/>
          <p:cNvSpPr/>
          <p:nvPr/>
        </p:nvSpPr>
        <p:spPr>
          <a:xfrm>
            <a:off x="603504" y="2002536"/>
            <a:ext cx="4809744" cy="384048"/>
          </a:xfrm>
          <a:prstGeom prst="rect">
            <a:avLst/>
          </a:prstGeom>
          <a:noFill/>
          <a:ln/>
        </p:spPr>
        <p:txBody>
          <a:bodyPr wrap="square" lIns="0" tIns="0" rIns="0" bIns="0" rtlCol="0" anchor="ctr">
            <a:normAutofit/>
          </a:bodyPr>
          <a:lstStyle/>
          <a:p>
            <a:pPr marL="0" indent="0" algn="l">
              <a:buNone/>
            </a:pPr>
            <a:r>
              <a:rPr lang="en-US" sz="1300" dirty="0">
                <a:solidFill>
                  <a:srgbClr val="E9DDD7"/>
                </a:solidFill>
                <a:latin typeface="MiSans" pitchFamily="34" charset="0"/>
                <a:ea typeface="MiSans" pitchFamily="34" charset="-122"/>
                <a:cs typeface="MiSans" pitchFamily="34" charset="-120"/>
              </a:rPr>
              <a:t>匿名访问，无需测试账号；三类角色的问题都可以直接试。</a:t>
            </a:r>
            <a:endParaRPr lang="en-US" sz="1300" dirty="0"/>
          </a:p>
        </p:txBody>
      </p:sp>
      <p:sp>
        <p:nvSpPr>
          <p:cNvPr id="7" name="A02_0307_screen-base"/>
          <p:cNvSpPr/>
          <p:nvPr/>
        </p:nvSpPr>
        <p:spPr>
          <a:xfrm>
            <a:off x="566928" y="2395728"/>
            <a:ext cx="3383280" cy="1938528"/>
          </a:xfrm>
          <a:prstGeom prst="rect">
            <a:avLst/>
          </a:prstGeom>
          <a:solidFill>
            <a:srgbClr val="FFFFFF"/>
          </a:solidFill>
          <a:ln w="11430">
            <a:solidFill>
              <a:srgbClr val="DDD2CA"/>
            </a:solidFill>
            <a:prstDash val="solid"/>
          </a:ln>
        </p:spPr>
      </p:sp>
      <p:pic>
        <p:nvPicPr>
          <p:cNvPr id="8" name="A02_0308_screen-image" descr="competition-project\competition\final-delivery\assets\portal-home-1920x1080-final.png"/>
          <p:cNvPicPr>
            <a:picLocks noChangeAspect="1"/>
          </p:cNvPicPr>
          <p:nvPr/>
        </p:nvPicPr>
        <p:blipFill>
          <a:blip r:embed="rId3"/>
          <a:stretch>
            <a:fillRect/>
          </a:stretch>
        </p:blipFill>
        <p:spPr>
          <a:xfrm>
            <a:off x="603504" y="2432304"/>
            <a:ext cx="3310128" cy="1865376"/>
          </a:xfrm>
          <a:prstGeom prst="rect">
            <a:avLst/>
          </a:prstGeom>
        </p:spPr>
      </p:pic>
      <p:sp>
        <p:nvSpPr>
          <p:cNvPr id="9" name="A03_0309_screen-base"/>
          <p:cNvSpPr/>
          <p:nvPr/>
        </p:nvSpPr>
        <p:spPr>
          <a:xfrm>
            <a:off x="4078224" y="2395728"/>
            <a:ext cx="3383280" cy="1938528"/>
          </a:xfrm>
          <a:prstGeom prst="rect">
            <a:avLst/>
          </a:prstGeom>
          <a:solidFill>
            <a:srgbClr val="FFFFFF"/>
          </a:solidFill>
          <a:ln w="11430">
            <a:solidFill>
              <a:srgbClr val="DDD2CA"/>
            </a:solidFill>
            <a:prstDash val="solid"/>
          </a:ln>
        </p:spPr>
      </p:sp>
      <p:pic>
        <p:nvPicPr>
          <p:cNvPr id="10" name="A03_0310_screen-image" descr="competition-project\competition\final-delivery\assets\portal-capability-1920x1080-final.png"/>
          <p:cNvPicPr>
            <a:picLocks noChangeAspect="1"/>
          </p:cNvPicPr>
          <p:nvPr/>
        </p:nvPicPr>
        <p:blipFill>
          <a:blip r:embed="rId4"/>
          <a:stretch>
            <a:fillRect/>
          </a:stretch>
        </p:blipFill>
        <p:spPr>
          <a:xfrm>
            <a:off x="4114800" y="2432304"/>
            <a:ext cx="3310128" cy="1865376"/>
          </a:xfrm>
          <a:prstGeom prst="rect">
            <a:avLst/>
          </a:prstGeom>
        </p:spPr>
      </p:pic>
      <p:sp>
        <p:nvSpPr>
          <p:cNvPr id="11" name="A03_0311_screen-base"/>
          <p:cNvSpPr/>
          <p:nvPr/>
        </p:nvSpPr>
        <p:spPr>
          <a:xfrm>
            <a:off x="7589520" y="2395728"/>
            <a:ext cx="3383280" cy="1938528"/>
          </a:xfrm>
          <a:prstGeom prst="rect">
            <a:avLst/>
          </a:prstGeom>
          <a:solidFill>
            <a:srgbClr val="FFFFFF"/>
          </a:solidFill>
          <a:ln w="11430">
            <a:solidFill>
              <a:srgbClr val="DDD2CA"/>
            </a:solidFill>
            <a:prstDash val="solid"/>
          </a:ln>
        </p:spPr>
      </p:sp>
      <p:pic>
        <p:nvPicPr>
          <p:cNvPr id="12" name="A03_0312_screen-image" descr="competition-project\competition\final-delivery\assets\portal-verified-widget-1920x1080-final.png"/>
          <p:cNvPicPr>
            <a:picLocks noChangeAspect="1"/>
          </p:cNvPicPr>
          <p:nvPr/>
        </p:nvPicPr>
        <p:blipFill>
          <a:blip r:embed="rId5"/>
          <a:stretch>
            <a:fillRect/>
          </a:stretch>
        </p:blipFill>
        <p:spPr>
          <a:xfrm>
            <a:off x="7626096" y="2432304"/>
            <a:ext cx="3310128" cy="1865376"/>
          </a:xfrm>
          <a:prstGeom prst="rect">
            <a:avLst/>
          </a:prstGeom>
        </p:spPr>
      </p:pic>
      <p:sp>
        <p:nvSpPr>
          <p:cNvPr id="13" name="A05_0313_text"/>
          <p:cNvSpPr/>
          <p:nvPr/>
        </p:nvSpPr>
        <p:spPr>
          <a:xfrm>
            <a:off x="658368" y="4443984"/>
            <a:ext cx="3200400" cy="274320"/>
          </a:xfrm>
          <a:prstGeom prst="rect">
            <a:avLst/>
          </a:prstGeom>
          <a:noFill/>
          <a:ln/>
        </p:spPr>
        <p:txBody>
          <a:bodyPr wrap="square" lIns="0" tIns="0" rIns="0" bIns="0" rtlCol="0" anchor="ctr">
            <a:normAutofit/>
          </a:bodyPr>
          <a:lstStyle/>
          <a:p>
            <a:pPr marL="0" indent="0" algn="l">
              <a:buNone/>
            </a:pPr>
            <a:r>
              <a:rPr lang="en-US" sz="1200" b="1" dirty="0">
                <a:solidFill>
                  <a:srgbClr val="FFB7A7"/>
                </a:solidFill>
                <a:latin typeface="MiSans" pitchFamily="34" charset="0"/>
                <a:ea typeface="MiSans" pitchFamily="34" charset="-122"/>
                <a:cs typeface="MiSans" pitchFamily="34" charset="-120"/>
              </a:rPr>
              <a:t>学生</a:t>
            </a:r>
            <a:endParaRPr lang="en-US" sz="1200" dirty="0"/>
          </a:p>
        </p:txBody>
      </p:sp>
      <p:sp>
        <p:nvSpPr>
          <p:cNvPr id="14" name="A05_0314_text"/>
          <p:cNvSpPr/>
          <p:nvPr/>
        </p:nvSpPr>
        <p:spPr>
          <a:xfrm>
            <a:off x="658368" y="4718304"/>
            <a:ext cx="3200400" cy="566928"/>
          </a:xfrm>
          <a:prstGeom prst="rect">
            <a:avLst/>
          </a:prstGeom>
          <a:noFill/>
          <a:ln/>
        </p:spPr>
        <p:txBody>
          <a:bodyPr wrap="square" lIns="0" tIns="0" rIns="0" bIns="0" rtlCol="0" anchor="t">
            <a:normAutofit/>
          </a:bodyPr>
          <a:lstStyle/>
          <a:p>
            <a:pPr marL="0" indent="0" algn="l">
              <a:buNone/>
            </a:pPr>
            <a:r>
              <a:rPr lang="en-US" sz="1100" dirty="0">
                <a:solidFill>
                  <a:srgbClr val="F2E8E3"/>
                </a:solidFill>
                <a:latin typeface="MiSans" pitchFamily="34" charset="0"/>
                <a:ea typeface="MiSans" pitchFamily="34" charset="-122"/>
                <a:cs typeface="MiSans" pitchFamily="34" charset="-120"/>
              </a:rPr>
              <a:t>“查看2025级计算机类01班</a:t>
            </a:r>
            <a:endParaRPr lang="en-US" sz="1100" dirty="0"/>
          </a:p>
          <a:p>
            <a:pPr marL="0" indent="0" algn="l">
              <a:buNone/>
            </a:pPr>
            <a:r>
              <a:rPr lang="en-US" sz="1100" dirty="0">
                <a:solidFill>
                  <a:srgbClr val="F2E8E3"/>
                </a:solidFill>
                <a:latin typeface="MiSans" pitchFamily="34" charset="0"/>
                <a:ea typeface="MiSans" pitchFamily="34" charset="-122"/>
                <a:cs typeface="MiSans" pitchFamily="34" charset="-120"/>
              </a:rPr>
              <a:t>第1周课表。”</a:t>
            </a:r>
            <a:endParaRPr lang="en-US" sz="1100" dirty="0"/>
          </a:p>
        </p:txBody>
      </p:sp>
      <p:sp>
        <p:nvSpPr>
          <p:cNvPr id="15" name="A06_0315_text"/>
          <p:cNvSpPr/>
          <p:nvPr/>
        </p:nvSpPr>
        <p:spPr>
          <a:xfrm>
            <a:off x="4169664" y="4443984"/>
            <a:ext cx="3200400" cy="274320"/>
          </a:xfrm>
          <a:prstGeom prst="rect">
            <a:avLst/>
          </a:prstGeom>
          <a:noFill/>
          <a:ln/>
        </p:spPr>
        <p:txBody>
          <a:bodyPr wrap="square" lIns="0" tIns="0" rIns="0" bIns="0" rtlCol="0" anchor="ctr">
            <a:normAutofit/>
          </a:bodyPr>
          <a:lstStyle/>
          <a:p>
            <a:pPr marL="0" indent="0" algn="l">
              <a:buNone/>
            </a:pPr>
            <a:r>
              <a:rPr lang="en-US" sz="1200" b="1" dirty="0">
                <a:solidFill>
                  <a:srgbClr val="FFB7A7"/>
                </a:solidFill>
                <a:latin typeface="MiSans" pitchFamily="34" charset="0"/>
                <a:ea typeface="MiSans" pitchFamily="34" charset="-122"/>
                <a:cs typeface="MiSans" pitchFamily="34" charset="-120"/>
              </a:rPr>
              <a:t>教师</a:t>
            </a:r>
            <a:endParaRPr lang="en-US" sz="1200" dirty="0"/>
          </a:p>
        </p:txBody>
      </p:sp>
      <p:sp>
        <p:nvSpPr>
          <p:cNvPr id="16" name="A06_0316_text"/>
          <p:cNvSpPr/>
          <p:nvPr/>
        </p:nvSpPr>
        <p:spPr>
          <a:xfrm>
            <a:off x="4169664" y="4718304"/>
            <a:ext cx="3200400" cy="566928"/>
          </a:xfrm>
          <a:prstGeom prst="rect">
            <a:avLst/>
          </a:prstGeom>
          <a:noFill/>
          <a:ln/>
        </p:spPr>
        <p:txBody>
          <a:bodyPr wrap="square" lIns="0" tIns="0" rIns="0" bIns="0" rtlCol="0" anchor="t">
            <a:normAutofit/>
          </a:bodyPr>
          <a:lstStyle/>
          <a:p>
            <a:pPr marL="0" indent="0" algn="l">
              <a:buNone/>
            </a:pPr>
            <a:r>
              <a:rPr lang="en-US" sz="1100" dirty="0">
                <a:solidFill>
                  <a:srgbClr val="F2E8E3"/>
                </a:solidFill>
                <a:latin typeface="MiSans" pitchFamily="34" charset="0"/>
                <a:ea typeface="MiSans" pitchFamily="34" charset="-122"/>
                <a:cs typeface="MiSans" pitchFamily="34" charset="-120"/>
              </a:rPr>
              <a:t>“帮三位老师找周四上午</a:t>
            </a:r>
            <a:endParaRPr lang="en-US" sz="1100" dirty="0"/>
          </a:p>
          <a:p>
            <a:pPr marL="0" indent="0" algn="l">
              <a:buNone/>
            </a:pPr>
            <a:r>
              <a:rPr lang="en-US" sz="1100" dirty="0">
                <a:solidFill>
                  <a:srgbClr val="F2E8E3"/>
                </a:solidFill>
                <a:latin typeface="MiSans" pitchFamily="34" charset="0"/>
                <a:ea typeface="MiSans" pitchFamily="34" charset="-122"/>
                <a:cs typeface="MiSans" pitchFamily="34" charset="-120"/>
              </a:rPr>
              <a:t>的共同空闲。”</a:t>
            </a:r>
            <a:endParaRPr lang="en-US" sz="1100" dirty="0"/>
          </a:p>
        </p:txBody>
      </p:sp>
      <p:sp>
        <p:nvSpPr>
          <p:cNvPr id="17" name="A07_0317_text"/>
          <p:cNvSpPr/>
          <p:nvPr/>
        </p:nvSpPr>
        <p:spPr>
          <a:xfrm>
            <a:off x="7680960" y="4443984"/>
            <a:ext cx="3200400" cy="274320"/>
          </a:xfrm>
          <a:prstGeom prst="rect">
            <a:avLst/>
          </a:prstGeom>
          <a:noFill/>
          <a:ln/>
        </p:spPr>
        <p:txBody>
          <a:bodyPr wrap="square" lIns="0" tIns="0" rIns="0" bIns="0" rtlCol="0" anchor="ctr">
            <a:normAutofit/>
          </a:bodyPr>
          <a:lstStyle/>
          <a:p>
            <a:pPr marL="0" indent="0" algn="l">
              <a:buNone/>
            </a:pPr>
            <a:r>
              <a:rPr lang="en-US" sz="1200" b="1" dirty="0">
                <a:solidFill>
                  <a:srgbClr val="FFB7A7"/>
                </a:solidFill>
                <a:latin typeface="MiSans" pitchFamily="34" charset="0"/>
                <a:ea typeface="MiSans" pitchFamily="34" charset="-122"/>
                <a:cs typeface="MiSans" pitchFamily="34" charset="-120"/>
              </a:rPr>
              <a:t>教学管理者</a:t>
            </a:r>
            <a:endParaRPr lang="en-US" sz="1200" dirty="0"/>
          </a:p>
        </p:txBody>
      </p:sp>
      <p:sp>
        <p:nvSpPr>
          <p:cNvPr id="18" name="A07_0318_text"/>
          <p:cNvSpPr/>
          <p:nvPr/>
        </p:nvSpPr>
        <p:spPr>
          <a:xfrm>
            <a:off x="7680960" y="4718304"/>
            <a:ext cx="3200400" cy="566928"/>
          </a:xfrm>
          <a:prstGeom prst="rect">
            <a:avLst/>
          </a:prstGeom>
          <a:noFill/>
          <a:ln/>
        </p:spPr>
        <p:txBody>
          <a:bodyPr wrap="square" lIns="0" tIns="0" rIns="0" bIns="0" rtlCol="0" anchor="t">
            <a:normAutofit/>
          </a:bodyPr>
          <a:lstStyle/>
          <a:p>
            <a:pPr marL="0" indent="0" algn="l">
              <a:buNone/>
            </a:pPr>
            <a:r>
              <a:rPr lang="en-US" sz="1100" dirty="0">
                <a:solidFill>
                  <a:srgbClr val="F2E8E3"/>
                </a:solidFill>
                <a:latin typeface="MiSans" pitchFamily="34" charset="0"/>
                <a:ea typeface="MiSans" pitchFamily="34" charset="-122"/>
                <a:cs typeface="MiSans" pitchFamily="34" charset="-120"/>
              </a:rPr>
              <a:t>“未来四周谁的教学负载</a:t>
            </a:r>
            <a:endParaRPr lang="en-US" sz="1100" dirty="0"/>
          </a:p>
          <a:p>
            <a:pPr marL="0" indent="0" algn="l">
              <a:buNone/>
            </a:pPr>
            <a:r>
              <a:rPr lang="en-US" sz="1100" dirty="0">
                <a:solidFill>
                  <a:srgbClr val="F2E8E3"/>
                </a:solidFill>
                <a:latin typeface="MiSans" pitchFamily="34" charset="0"/>
                <a:ea typeface="MiSans" pitchFamily="34" charset="-122"/>
                <a:cs typeface="MiSans" pitchFamily="34" charset="-120"/>
              </a:rPr>
              <a:t>最高？”</a:t>
            </a:r>
            <a:endParaRPr lang="en-US" sz="1100" dirty="0"/>
          </a:p>
        </p:txBody>
      </p:sp>
      <p:pic>
        <p:nvPicPr>
          <p:cNvPr id="19" name="A05_0319_qr" descr="competition-project\competition\final-delivery\assets\在线演示二维码.png"/>
          <p:cNvPicPr>
            <a:picLocks noChangeAspect="1"/>
          </p:cNvPicPr>
          <p:nvPr/>
        </p:nvPicPr>
        <p:blipFill>
          <a:blip r:embed="rId6"/>
          <a:stretch>
            <a:fillRect/>
          </a:stretch>
        </p:blipFill>
        <p:spPr>
          <a:xfrm>
            <a:off x="10003536" y="5468112"/>
            <a:ext cx="1188720" cy="1188720"/>
          </a:xfrm>
          <a:prstGeom prst="rect">
            <a:avLst/>
          </a:prstGeom>
        </p:spPr>
      </p:pic>
      <p:sp>
        <p:nvSpPr>
          <p:cNvPr id="20" name="A05_0320_text"/>
          <p:cNvSpPr/>
          <p:nvPr/>
        </p:nvSpPr>
        <p:spPr>
          <a:xfrm>
            <a:off x="8522208" y="5541264"/>
            <a:ext cx="1261872" cy="274320"/>
          </a:xfrm>
          <a:prstGeom prst="rect">
            <a:avLst/>
          </a:prstGeom>
          <a:noFill/>
          <a:ln/>
        </p:spPr>
        <p:txBody>
          <a:bodyPr wrap="square" lIns="0" tIns="0" rIns="0" bIns="0" rtlCol="0" anchor="ctr">
            <a:normAutofit/>
          </a:bodyPr>
          <a:lstStyle/>
          <a:p>
            <a:pPr marL="0" indent="0" algn="r">
              <a:buNone/>
            </a:pPr>
            <a:r>
              <a:rPr lang="en-US" sz="1300" b="1" dirty="0">
                <a:solidFill>
                  <a:srgbClr val="FFFFFF"/>
                </a:solidFill>
                <a:latin typeface="MiSans" pitchFamily="34" charset="0"/>
                <a:ea typeface="MiSans" pitchFamily="34" charset="-122"/>
                <a:cs typeface="MiSans" pitchFamily="34" charset="-120"/>
              </a:rPr>
              <a:t>扫码体验</a:t>
            </a:r>
            <a:endParaRPr lang="en-US" sz="1300" dirty="0"/>
          </a:p>
        </p:txBody>
      </p:sp>
      <p:sp>
        <p:nvSpPr>
          <p:cNvPr id="21" name="A05_0321_text"/>
          <p:cNvSpPr/>
          <p:nvPr/>
        </p:nvSpPr>
        <p:spPr>
          <a:xfrm>
            <a:off x="8741664" y="5852160"/>
            <a:ext cx="1042416" cy="237744"/>
          </a:xfrm>
          <a:prstGeom prst="rect">
            <a:avLst/>
          </a:prstGeom>
          <a:noFill/>
          <a:ln/>
        </p:spPr>
        <p:txBody>
          <a:bodyPr wrap="square" lIns="0" tIns="0" rIns="0" bIns="0" rtlCol="0" anchor="ctr">
            <a:normAutofit/>
          </a:bodyPr>
          <a:lstStyle/>
          <a:p>
            <a:pPr marL="0" indent="0" algn="r">
              <a:buNone/>
            </a:pPr>
            <a:r>
              <a:rPr lang="en-US" sz="1000" b="1" dirty="0">
                <a:solidFill>
                  <a:srgbClr val="9FDBC8"/>
                </a:solidFill>
                <a:latin typeface="MiSans" pitchFamily="34" charset="0"/>
                <a:ea typeface="MiSans" pitchFamily="34" charset="-122"/>
                <a:cs typeface="MiSans" pitchFamily="34" charset="-120"/>
              </a:rPr>
              <a:t>无需账号</a:t>
            </a:r>
            <a:endParaRPr lang="en-US" sz="1000" dirty="0"/>
          </a:p>
        </p:txBody>
      </p:sp>
      <p:sp>
        <p:nvSpPr>
          <p:cNvPr id="22" name="A06_0322_text"/>
          <p:cNvSpPr/>
          <p:nvPr/>
        </p:nvSpPr>
        <p:spPr>
          <a:xfrm>
            <a:off x="603504" y="5504688"/>
            <a:ext cx="6995160" cy="475488"/>
          </a:xfrm>
          <a:prstGeom prst="rect">
            <a:avLst/>
          </a:prstGeom>
          <a:noFill/>
          <a:ln/>
        </p:spPr>
        <p:txBody>
          <a:bodyPr wrap="square" lIns="0" tIns="0" rIns="0" bIns="0" rtlCol="0" anchor="ctr">
            <a:normAutofit/>
          </a:bodyPr>
          <a:lstStyle/>
          <a:p>
            <a:pPr marL="0" indent="0" algn="l">
              <a:buNone/>
            </a:pPr>
            <a:r>
              <a:rPr lang="en-US" sz="2200" b="1" dirty="0">
                <a:solidFill>
                  <a:srgbClr val="FFD3C8"/>
                </a:solidFill>
                <a:latin typeface="Noto Serif SC" pitchFamily="34" charset="0"/>
                <a:ea typeface="Noto Serif SC" pitchFamily="34" charset="-122"/>
                <a:cs typeface="Noto Serif SC" pitchFamily="34" charset="-120"/>
              </a:rPr>
              <a:t>让教学时空，被理解、被安排。</a:t>
            </a:r>
            <a:endParaRPr lang="en-US" sz="2200" dirty="0"/>
          </a:p>
        </p:txBody>
      </p:sp>
      <p:sp>
        <p:nvSpPr>
          <p:cNvPr id="23" name="A06_0323_text"/>
          <p:cNvSpPr/>
          <p:nvPr/>
        </p:nvSpPr>
        <p:spPr>
          <a:xfrm>
            <a:off x="621792" y="6053328"/>
            <a:ext cx="2926080" cy="256032"/>
          </a:xfrm>
          <a:prstGeom prst="rect">
            <a:avLst/>
          </a:prstGeom>
          <a:noFill/>
          <a:ln/>
        </p:spPr>
        <p:txBody>
          <a:bodyPr wrap="square" lIns="0" tIns="0" rIns="0" bIns="0" rtlCol="0" anchor="ctr">
            <a:normAutofit/>
          </a:bodyPr>
          <a:lstStyle/>
          <a:p>
            <a:pPr marL="0" indent="0" algn="l">
              <a:buNone/>
            </a:pPr>
            <a:r>
              <a:rPr lang="en-US" sz="1200" b="1" dirty="0">
                <a:solidFill>
                  <a:srgbClr val="FFFFFF"/>
                </a:solidFill>
                <a:latin typeface="MiSans" pitchFamily="34" charset="0"/>
                <a:ea typeface="MiSans" pitchFamily="34" charset="-122"/>
                <a:cs typeface="MiSans" pitchFamily="34" charset="-120"/>
              </a:rPr>
              <a:t>adp.katelya.top</a:t>
            </a:r>
            <a:endParaRPr lang="en-US" sz="1200" dirty="0"/>
          </a:p>
        </p:txBody>
      </p:sp>
      <p:sp>
        <p:nvSpPr>
          <p:cNvPr id="24" name="S00_0324_text"/>
          <p:cNvSpPr/>
          <p:nvPr/>
        </p:nvSpPr>
        <p:spPr>
          <a:xfrm>
            <a:off x="512064" y="6510528"/>
            <a:ext cx="1920240" cy="164592"/>
          </a:xfrm>
          <a:prstGeom prst="rect">
            <a:avLst/>
          </a:prstGeom>
          <a:noFill/>
          <a:ln/>
        </p:spPr>
        <p:txBody>
          <a:bodyPr wrap="square" lIns="0" tIns="0" rIns="0" bIns="0" rtlCol="0" anchor="ctr">
            <a:normAutofit/>
          </a:bodyPr>
          <a:lstStyle/>
          <a:p>
            <a:pPr marL="0" indent="0" algn="l">
              <a:buNone/>
            </a:pPr>
            <a:r>
              <a:rPr lang="en-US" sz="850" dirty="0">
                <a:solidFill>
                  <a:srgbClr val="D8CDC7"/>
                </a:solidFill>
                <a:latin typeface="MiSans" pitchFamily="34" charset="0"/>
                <a:ea typeface="MiSans" pitchFamily="34" charset="-122"/>
                <a:cs typeface="MiSans" pitchFamily="34" charset="-120"/>
              </a:rPr>
              <a:t>校园智序·小序</a:t>
            </a:r>
            <a:endParaRPr lang="en-US" sz="850" dirty="0"/>
          </a:p>
        </p:txBody>
      </p:sp>
      <p:sp>
        <p:nvSpPr>
          <p:cNvPr id="25" name="S00_0325_text"/>
          <p:cNvSpPr/>
          <p:nvPr/>
        </p:nvSpPr>
        <p:spPr>
          <a:xfrm>
            <a:off x="10899648" y="6510528"/>
            <a:ext cx="768096" cy="164592"/>
          </a:xfrm>
          <a:prstGeom prst="rect">
            <a:avLst/>
          </a:prstGeom>
          <a:noFill/>
          <a:ln/>
        </p:spPr>
        <p:txBody>
          <a:bodyPr wrap="square" lIns="0" tIns="0" rIns="0" bIns="0" rtlCol="0" anchor="ctr">
            <a:normAutofit/>
          </a:bodyPr>
          <a:lstStyle/>
          <a:p>
            <a:pPr marL="0" indent="0" algn="r">
              <a:buNone/>
            </a:pPr>
            <a:r>
              <a:rPr lang="en-US" sz="850" dirty="0">
                <a:solidFill>
                  <a:srgbClr val="D8CDC7"/>
                </a:solidFill>
                <a:latin typeface="MiSans" pitchFamily="34" charset="0"/>
                <a:ea typeface="MiSans" pitchFamily="34" charset="-122"/>
                <a:cs typeface="MiSans" pitchFamily="34" charset="-120"/>
              </a:rPr>
              <a:t>12 / 12</a:t>
            </a:r>
            <a:endParaRPr lang="en-US" sz="8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8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8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380"/>
                                        <p:tgtEl>
                                          <p:spTgt spid="7"/>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38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380"/>
                                        <p:tgtEl>
                                          <p:spTgt spid="9"/>
                                        </p:tgtEl>
                                      </p:cBhvr>
                                    </p:animEffect>
                                  </p:childTnLst>
                                </p:cTn>
                              </p:par>
                              <p:par>
                                <p:cTn id="24" presetID="10" presetClass="entr" presetSubtype="0"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380"/>
                                        <p:tgtEl>
                                          <p:spTgt spid="10"/>
                                        </p:tgtEl>
                                      </p:cBhvr>
                                    </p:animEffect>
                                  </p:childTnLst>
                                </p:cTn>
                              </p:par>
                              <p:par>
                                <p:cTn id="27" presetID="10"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380"/>
                                        <p:tgtEl>
                                          <p:spTgt spid="11"/>
                                        </p:tgtEl>
                                      </p:cBhvr>
                                    </p:animEffect>
                                  </p:childTnLst>
                                </p:cTn>
                              </p:par>
                              <p:par>
                                <p:cTn id="30" presetID="10" presetClass="entr" presetSubtype="0" fill="hold"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38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38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380"/>
                                        <p:tgtEl>
                                          <p:spTgt spid="14"/>
                                        </p:tgtEl>
                                      </p:cBhvr>
                                    </p:animEffect>
                                  </p:childTnLst>
                                </p:cTn>
                              </p:par>
                              <p:par>
                                <p:cTn id="41" presetID="10" presetClass="entr" presetSubtype="0" fill="hold"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38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8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80"/>
                                        <p:tgtEl>
                                          <p:spTgt spid="2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38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38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380"/>
                                        <p:tgtEl>
                                          <p:spTgt spid="2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380"/>
                                        <p:tgtEl>
                                          <p:spTgt spid="23"/>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380"/>
                                        <p:tgtEl>
                                          <p:spTgt spid="1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38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erif S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635</Words>
  <Application>Microsoft Office PowerPoint</Application>
  <PresentationFormat>宽屏</PresentationFormat>
  <Paragraphs>242</Paragraphs>
  <Slides>12</Slides>
  <Notes>12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12</vt:i4>
      </vt:variant>
    </vt:vector>
  </HeadingPairs>
  <TitlesOfParts>
    <vt:vector size="16" baseType="lpstr">
      <vt:lpstr>MiSans</vt:lpstr>
      <vt:lpstr>Noto Serif SC</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校园智序·小序</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校园智序·小序—答辩</dc:title>
  <dc:subject>校园教学任务智能体比赛答辩</dc:subject>
  <dc:creator>校园智序·小序</dc:creator>
  <cp:lastModifiedBy>校园智序·小序</cp:lastModifiedBy>
  <cp:revision>2</cp:revision>
  <dcterms:created xsi:type="dcterms:W3CDTF">2026-09-01T07:25:26Z</dcterms:created>
  <dcterms:modified xsi:type="dcterms:W3CDTF">2026-09-01T07:26:59Z</dcterms:modified>
</cp:coreProperties>
</file>