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7225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E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01_background-field"/>
          <p:cNvSpPr/>
          <p:nvPr/>
        </p:nvSpPr>
        <p:spPr>
          <a:xfrm>
            <a:off x="7315200" y="-1005840"/>
            <a:ext cx="6217920" cy="6217920"/>
          </a:xfrm>
          <a:prstGeom prst="ellipse">
            <a:avLst/>
          </a:prstGeom>
          <a:solidFill>
            <a:srgbClr val="E65442">
              <a:alpha val="5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02_background-field"/>
          <p:cNvSpPr/>
          <p:nvPr/>
        </p:nvSpPr>
        <p:spPr>
          <a:xfrm>
            <a:off x="8229600" y="0"/>
            <a:ext cx="4480560" cy="4480560"/>
          </a:xfrm>
          <a:prstGeom prst="ellipse">
            <a:avLst/>
          </a:prstGeom>
          <a:solidFill>
            <a:srgbClr val="B96B2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S00_0003_logo" descr="competition-project\competition\demo-portal\public\branding\platform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85216"/>
            <a:ext cx="914400" cy="914400"/>
          </a:xfrm>
          <a:prstGeom prst="rect">
            <a:avLst/>
          </a:prstGeom>
        </p:spPr>
      </p:pic>
      <p:sp>
        <p:nvSpPr>
          <p:cNvPr id="5" name="S00_0004_text"/>
          <p:cNvSpPr/>
          <p:nvPr/>
        </p:nvSpPr>
        <p:spPr>
          <a:xfrm>
            <a:off x="8394192" y="320040"/>
            <a:ext cx="338328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0" b="1" dirty="0">
                <a:solidFill>
                  <a:srgbClr val="FFFFFF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序</a:t>
            </a:r>
            <a:endParaRPr lang="en-US" sz="22000" dirty="0"/>
          </a:p>
        </p:txBody>
      </p:sp>
      <p:sp>
        <p:nvSpPr>
          <p:cNvPr id="6" name="A01_0005_text"/>
          <p:cNvSpPr/>
          <p:nvPr/>
        </p:nvSpPr>
        <p:spPr>
          <a:xfrm>
            <a:off x="713232" y="185623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校园智序·小序</a:t>
            </a:r>
            <a:endParaRPr lang="en-US" sz="3900" dirty="0"/>
          </a:p>
        </p:txBody>
      </p:sp>
      <p:sp>
        <p:nvSpPr>
          <p:cNvPr id="7" name="A02_0006_text"/>
          <p:cNvSpPr/>
          <p:nvPr/>
        </p:nvSpPr>
        <p:spPr>
          <a:xfrm>
            <a:off x="713232" y="2761488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D9C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让教学时空，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FD9C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被理解、被安排。</a:t>
            </a:r>
            <a:endParaRPr lang="en-US" sz="3000" dirty="0"/>
          </a:p>
        </p:txBody>
      </p:sp>
      <p:sp>
        <p:nvSpPr>
          <p:cNvPr id="8" name="A03_0007_line"/>
          <p:cNvSpPr/>
          <p:nvPr/>
        </p:nvSpPr>
        <p:spPr>
          <a:xfrm>
            <a:off x="731520" y="4315968"/>
            <a:ext cx="4389120" cy="0"/>
          </a:xfrm>
          <a:prstGeom prst="line">
            <a:avLst/>
          </a:prstGeom>
          <a:noFill/>
          <a:ln w="16510">
            <a:solidFill>
              <a:srgbClr val="E89989"/>
            </a:solidFill>
            <a:prstDash val="solid"/>
          </a:ln>
        </p:spPr>
      </p:sp>
      <p:sp>
        <p:nvSpPr>
          <p:cNvPr id="9" name="A03_0008_text"/>
          <p:cNvSpPr/>
          <p:nvPr/>
        </p:nvSpPr>
        <p:spPr>
          <a:xfrm>
            <a:off x="731520" y="44805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一句话提出教学任务，系统负责理解关系、计算约束、核验结论。</a:t>
            </a:r>
            <a:endParaRPr lang="en-US" sz="1400" dirty="0"/>
          </a:p>
        </p:txBody>
      </p:sp>
      <p:sp>
        <p:nvSpPr>
          <p:cNvPr id="10" name="A04_0009_text"/>
          <p:cNvSpPr/>
          <p:nvPr/>
        </p:nvSpPr>
        <p:spPr>
          <a:xfrm>
            <a:off x="7891272" y="506577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 个智能体</a:t>
            </a:r>
            <a:endParaRPr lang="en-US" sz="1300" dirty="0"/>
          </a:p>
        </p:txBody>
      </p:sp>
      <p:sp>
        <p:nvSpPr>
          <p:cNvPr id="11" name="A04_0010_text"/>
          <p:cNvSpPr/>
          <p:nvPr/>
        </p:nvSpPr>
        <p:spPr>
          <a:xfrm>
            <a:off x="9162288" y="506577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 个确定性工具</a:t>
            </a:r>
            <a:endParaRPr lang="en-US" sz="1300" dirty="0"/>
          </a:p>
        </p:txBody>
      </p:sp>
      <p:sp>
        <p:nvSpPr>
          <p:cNvPr id="12" name="A04_0011_text"/>
          <p:cNvSpPr/>
          <p:nvPr/>
        </p:nvSpPr>
        <p:spPr>
          <a:xfrm>
            <a:off x="10625328" y="506577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CEB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结果可核验</a:t>
            </a:r>
            <a:endParaRPr lang="en-US" sz="1300" dirty="0"/>
          </a:p>
        </p:txBody>
      </p:sp>
      <p:sp>
        <p:nvSpPr>
          <p:cNvPr id="13" name="S00_0012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14" name="S00_0013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 / 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14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15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16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从一个真实问题开始</a:t>
            </a:r>
            <a:endParaRPr lang="en-US" sz="1000" dirty="0"/>
          </a:p>
        </p:txBody>
      </p:sp>
      <p:sp>
        <p:nvSpPr>
          <p:cNvPr id="5" name="S00_0017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课表能查到，关系却很难算清</a:t>
            </a:r>
            <a:endParaRPr lang="en-US" sz="2700" dirty="0"/>
          </a:p>
        </p:txBody>
      </p:sp>
      <p:sp>
        <p:nvSpPr>
          <p:cNvPr id="6" name="S00_0018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课程、教师、班级、教室与时间彼此牵动；真正困难的是跨对象理解和辅助决策。</a:t>
            </a:r>
            <a:endParaRPr lang="en-US" sz="1220" dirty="0"/>
          </a:p>
        </p:txBody>
      </p:sp>
      <p:sp>
        <p:nvSpPr>
          <p:cNvPr id="7" name="S00_0019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20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 / 12</a:t>
            </a:r>
            <a:endParaRPr lang="en-US" sz="850" dirty="0"/>
          </a:p>
        </p:txBody>
      </p:sp>
      <p:sp>
        <p:nvSpPr>
          <p:cNvPr id="9" name="A01_0021_text"/>
          <p:cNvSpPr/>
          <p:nvPr/>
        </p:nvSpPr>
        <p:spPr>
          <a:xfrm>
            <a:off x="603504" y="17556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1500+</a:t>
            </a:r>
            <a:endParaRPr lang="en-US" sz="6000" dirty="0"/>
          </a:p>
        </p:txBody>
      </p:sp>
      <p:sp>
        <p:nvSpPr>
          <p:cNvPr id="10" name="A01_0022_text"/>
          <p:cNvSpPr/>
          <p:nvPr/>
        </p:nvSpPr>
        <p:spPr>
          <a:xfrm>
            <a:off x="658368" y="267919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累计真实用户</a:t>
            </a:r>
            <a:endParaRPr lang="en-US" sz="1700" dirty="0"/>
          </a:p>
        </p:txBody>
      </p:sp>
      <p:sp>
        <p:nvSpPr>
          <p:cNvPr id="11" name="A02_0023_text"/>
          <p:cNvSpPr/>
          <p:nvPr/>
        </p:nvSpPr>
        <p:spPr>
          <a:xfrm>
            <a:off x="676656" y="31272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作品已在真实校园教学服务场景持续投入使用。</a:t>
            </a:r>
            <a:endParaRPr lang="en-US" sz="1300" dirty="0"/>
          </a:p>
        </p:txBody>
      </p:sp>
      <p:sp>
        <p:nvSpPr>
          <p:cNvPr id="12" name="A02_0024_line"/>
          <p:cNvSpPr/>
          <p:nvPr/>
        </p:nvSpPr>
        <p:spPr>
          <a:xfrm>
            <a:off x="676656" y="3886200"/>
            <a:ext cx="3154680" cy="0"/>
          </a:xfrm>
          <a:prstGeom prst="line">
            <a:avLst/>
          </a:prstGeom>
          <a:noFill/>
          <a:ln w="27940">
            <a:solidFill>
              <a:srgbClr val="E65442"/>
            </a:solidFill>
            <a:prstDash val="solid"/>
          </a:ln>
        </p:spPr>
      </p:sp>
      <p:sp>
        <p:nvSpPr>
          <p:cNvPr id="13" name="A02_0025_text"/>
          <p:cNvSpPr/>
          <p:nvPr/>
        </p:nvSpPr>
        <p:spPr>
          <a:xfrm>
            <a:off x="676656" y="4133088"/>
            <a:ext cx="34930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评委不需要先懂技术。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只要问：谁有空？哪里合适？会不会冲突？能不能调整？</a:t>
            </a:r>
            <a:endParaRPr lang="en-US" sz="1700" dirty="0"/>
          </a:p>
        </p:txBody>
      </p:sp>
      <p:sp>
        <p:nvSpPr>
          <p:cNvPr id="14" name="A03_0026_relation-node"/>
          <p:cNvSpPr/>
          <p:nvPr/>
        </p:nvSpPr>
        <p:spPr>
          <a:xfrm>
            <a:off x="4754880" y="1883664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E65442"/>
            </a:solidFill>
            <a:prstDash val="solid"/>
          </a:ln>
        </p:spPr>
      </p:sp>
      <p:sp>
        <p:nvSpPr>
          <p:cNvPr id="15" name="A03_0027_text"/>
          <p:cNvSpPr/>
          <p:nvPr/>
        </p:nvSpPr>
        <p:spPr>
          <a:xfrm>
            <a:off x="4754880" y="22219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课程</a:t>
            </a:r>
            <a:endParaRPr lang="en-US" sz="1500" dirty="0"/>
          </a:p>
        </p:txBody>
      </p:sp>
      <p:sp>
        <p:nvSpPr>
          <p:cNvPr id="16" name="A03_0028_arrow"/>
          <p:cNvSpPr/>
          <p:nvPr/>
        </p:nvSpPr>
        <p:spPr>
          <a:xfrm>
            <a:off x="5303520" y="2432304"/>
            <a:ext cx="2231136" cy="832104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17" name="A03_0029_relation-node"/>
          <p:cNvSpPr/>
          <p:nvPr/>
        </p:nvSpPr>
        <p:spPr>
          <a:xfrm>
            <a:off x="7379208" y="1719072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B96B2E"/>
            </a:solidFill>
            <a:prstDash val="solid"/>
          </a:ln>
        </p:spPr>
      </p:sp>
      <p:sp>
        <p:nvSpPr>
          <p:cNvPr id="18" name="A03_0030_text"/>
          <p:cNvSpPr/>
          <p:nvPr/>
        </p:nvSpPr>
        <p:spPr>
          <a:xfrm>
            <a:off x="7379208" y="2057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</a:t>
            </a:r>
            <a:endParaRPr lang="en-US" sz="1500" dirty="0"/>
          </a:p>
        </p:txBody>
      </p:sp>
      <p:sp>
        <p:nvSpPr>
          <p:cNvPr id="19" name="A03_0031_arrow"/>
          <p:cNvSpPr/>
          <p:nvPr/>
        </p:nvSpPr>
        <p:spPr>
          <a:xfrm flipH="1">
            <a:off x="7534656" y="2267712"/>
            <a:ext cx="393192" cy="996696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0" name="A03_0032_relation-node"/>
          <p:cNvSpPr/>
          <p:nvPr/>
        </p:nvSpPr>
        <p:spPr>
          <a:xfrm>
            <a:off x="9802368" y="2139696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507BA0"/>
            </a:solidFill>
            <a:prstDash val="solid"/>
          </a:ln>
        </p:spPr>
      </p:sp>
      <p:sp>
        <p:nvSpPr>
          <p:cNvPr id="21" name="A03_0033_text"/>
          <p:cNvSpPr/>
          <p:nvPr/>
        </p:nvSpPr>
        <p:spPr>
          <a:xfrm>
            <a:off x="9802368" y="24780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班级</a:t>
            </a:r>
            <a:endParaRPr lang="en-US" sz="1500" dirty="0"/>
          </a:p>
        </p:txBody>
      </p:sp>
      <p:sp>
        <p:nvSpPr>
          <p:cNvPr id="22" name="A03_0034_arrow"/>
          <p:cNvSpPr/>
          <p:nvPr/>
        </p:nvSpPr>
        <p:spPr>
          <a:xfrm flipH="1">
            <a:off x="7534656" y="2688336"/>
            <a:ext cx="2816352" cy="576072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3" name="A03_0035_relation-node"/>
          <p:cNvSpPr/>
          <p:nvPr/>
        </p:nvSpPr>
        <p:spPr>
          <a:xfrm>
            <a:off x="5504688" y="4608576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237F69"/>
            </a:solidFill>
            <a:prstDash val="solid"/>
          </a:ln>
        </p:spPr>
      </p:sp>
      <p:sp>
        <p:nvSpPr>
          <p:cNvPr id="24" name="A03_0036_text"/>
          <p:cNvSpPr/>
          <p:nvPr/>
        </p:nvSpPr>
        <p:spPr>
          <a:xfrm>
            <a:off x="5504688" y="494690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教室</a:t>
            </a:r>
            <a:endParaRPr lang="en-US" sz="1500" dirty="0"/>
          </a:p>
        </p:txBody>
      </p:sp>
      <p:sp>
        <p:nvSpPr>
          <p:cNvPr id="25" name="A03_0037_arrow"/>
          <p:cNvSpPr/>
          <p:nvPr/>
        </p:nvSpPr>
        <p:spPr>
          <a:xfrm flipV="1">
            <a:off x="6053328" y="3264408"/>
            <a:ext cx="1481328" cy="1892808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6" name="A03_0038_relation-node"/>
          <p:cNvSpPr/>
          <p:nvPr/>
        </p:nvSpPr>
        <p:spPr>
          <a:xfrm>
            <a:off x="8577072" y="4572000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B83E32"/>
            </a:solidFill>
            <a:prstDash val="solid"/>
          </a:ln>
        </p:spPr>
      </p:sp>
      <p:sp>
        <p:nvSpPr>
          <p:cNvPr id="27" name="A03_0039_text"/>
          <p:cNvSpPr/>
          <p:nvPr/>
        </p:nvSpPr>
        <p:spPr>
          <a:xfrm>
            <a:off x="8577072" y="49103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时间</a:t>
            </a:r>
            <a:endParaRPr lang="en-US" sz="1500" dirty="0"/>
          </a:p>
        </p:txBody>
      </p:sp>
      <p:sp>
        <p:nvSpPr>
          <p:cNvPr id="28" name="A03_0040_arrow"/>
          <p:cNvSpPr/>
          <p:nvPr/>
        </p:nvSpPr>
        <p:spPr>
          <a:xfrm flipH="1" flipV="1">
            <a:off x="7534656" y="3264408"/>
            <a:ext cx="1591056" cy="1856232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9" name="A04_0041_relation-center"/>
          <p:cNvSpPr/>
          <p:nvPr/>
        </p:nvSpPr>
        <p:spPr>
          <a:xfrm>
            <a:off x="6784848" y="2688336"/>
            <a:ext cx="1499616" cy="1152144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A04_0042_text"/>
          <p:cNvSpPr/>
          <p:nvPr/>
        </p:nvSpPr>
        <p:spPr>
          <a:xfrm>
            <a:off x="6821424" y="3081528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教学安排</a:t>
            </a:r>
            <a:endParaRPr lang="en-US" sz="1700" dirty="0"/>
          </a:p>
        </p:txBody>
      </p:sp>
      <p:sp>
        <p:nvSpPr>
          <p:cNvPr id="31" name="A05_0043_text"/>
          <p:cNvSpPr/>
          <p:nvPr/>
        </p:nvSpPr>
        <p:spPr>
          <a:xfrm>
            <a:off x="4956048" y="5614416"/>
            <a:ext cx="6355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小序不是把课表换一种方式展示，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而是把这些关系算清楚、讲明白。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5" grpId="0" animBg="1"/>
      <p:bldP spid="18" grpId="0" animBg="1"/>
      <p:bldP spid="21" grpId="0" animBg="1"/>
      <p:bldP spid="24" grpId="0" animBg="1"/>
      <p:bldP spid="27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44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45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46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一句话看懂作品</a:t>
            </a:r>
            <a:endParaRPr lang="en-US" sz="1000" dirty="0"/>
          </a:p>
        </p:txBody>
      </p:sp>
      <p:sp>
        <p:nvSpPr>
          <p:cNvPr id="5" name="S00_0047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用户只管把问题说出来</a:t>
            </a:r>
            <a:endParaRPr lang="en-US" sz="2700" dirty="0"/>
          </a:p>
        </p:txBody>
      </p:sp>
      <p:sp>
        <p:nvSpPr>
          <p:cNvPr id="6" name="S00_0048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后面的理解、分工、计算、核验与继续追问，由系统接住。</a:t>
            </a:r>
            <a:endParaRPr lang="en-US" sz="1220" dirty="0"/>
          </a:p>
        </p:txBody>
      </p:sp>
      <p:sp>
        <p:nvSpPr>
          <p:cNvPr id="7" name="S00_0049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50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 / 12</a:t>
            </a:r>
            <a:endParaRPr lang="en-US" sz="850" dirty="0"/>
          </a:p>
        </p:txBody>
      </p:sp>
      <p:sp>
        <p:nvSpPr>
          <p:cNvPr id="9" name="A01_0051_question"/>
          <p:cNvSpPr/>
          <p:nvPr/>
        </p:nvSpPr>
        <p:spPr>
          <a:xfrm>
            <a:off x="676656" y="1847088"/>
            <a:ext cx="3675888" cy="1097280"/>
          </a:xfrm>
          <a:prstGeom prst="roundRect">
            <a:avLst>
              <a:gd name="adj" fmla="val 15000"/>
            </a:avLst>
          </a:prstGeom>
          <a:solidFill>
            <a:srgbClr val="F6DED8">
              <a:alpha val="96000"/>
            </a:srgbClr>
          </a:solidFill>
          <a:ln w="15240">
            <a:solidFill>
              <a:srgbClr val="E65442"/>
            </a:solidFill>
            <a:prstDash val="solid"/>
          </a:ln>
        </p:spPr>
      </p:sp>
      <p:sp>
        <p:nvSpPr>
          <p:cNvPr id="10" name="A01_0052_text"/>
          <p:cNvSpPr/>
          <p:nvPr/>
        </p:nvSpPr>
        <p:spPr>
          <a:xfrm>
            <a:off x="950976" y="2039112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“帮三位老师找共同空闲，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再推荐一间不少于 120 座的教室。”</a:t>
            </a:r>
            <a:endParaRPr lang="en-US" sz="1600" dirty="0"/>
          </a:p>
        </p:txBody>
      </p:sp>
      <p:sp>
        <p:nvSpPr>
          <p:cNvPr id="11" name="A02_0053_text"/>
          <p:cNvSpPr/>
          <p:nvPr/>
        </p:nvSpPr>
        <p:spPr>
          <a:xfrm>
            <a:off x="722376" y="3172968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一句人话</a:t>
            </a:r>
            <a:endParaRPr lang="en-US" sz="2000" dirty="0"/>
          </a:p>
        </p:txBody>
      </p:sp>
      <p:sp>
        <p:nvSpPr>
          <p:cNvPr id="12" name="A02_0054_text"/>
          <p:cNvSpPr/>
          <p:nvPr/>
        </p:nvSpPr>
        <p:spPr>
          <a:xfrm>
            <a:off x="731520" y="3639312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不需要填写复杂表单，也不需要知道背后有哪些智能体和工具。</a:t>
            </a:r>
            <a:endParaRPr lang="en-US" sz="1300" dirty="0"/>
          </a:p>
        </p:txBody>
      </p:sp>
      <p:sp>
        <p:nvSpPr>
          <p:cNvPr id="13" name="A03_0055_text"/>
          <p:cNvSpPr/>
          <p:nvPr/>
        </p:nvSpPr>
        <p:spPr>
          <a:xfrm>
            <a:off x="4910328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A03_0056_line"/>
          <p:cNvSpPr/>
          <p:nvPr/>
        </p:nvSpPr>
        <p:spPr>
          <a:xfrm>
            <a:off x="4910328" y="2276856"/>
            <a:ext cx="1225296" cy="0"/>
          </a:xfrm>
          <a:prstGeom prst="line">
            <a:avLst/>
          </a:prstGeom>
          <a:noFill/>
          <a:ln w="35560">
            <a:solidFill>
              <a:srgbClr val="E65442"/>
            </a:solidFill>
            <a:prstDash val="solid"/>
          </a:ln>
        </p:spPr>
      </p:sp>
      <p:sp>
        <p:nvSpPr>
          <p:cNvPr id="15" name="A03_0057_text"/>
          <p:cNvSpPr/>
          <p:nvPr/>
        </p:nvSpPr>
        <p:spPr>
          <a:xfrm>
            <a:off x="4910328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听懂问题</a:t>
            </a:r>
            <a:endParaRPr lang="en-US" sz="1700" dirty="0"/>
          </a:p>
        </p:txBody>
      </p:sp>
      <p:sp>
        <p:nvSpPr>
          <p:cNvPr id="16" name="A03_0058_text"/>
          <p:cNvSpPr/>
          <p:nvPr/>
        </p:nvSpPr>
        <p:spPr>
          <a:xfrm>
            <a:off x="4910328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识别对象和目标</a:t>
            </a:r>
            <a:endParaRPr lang="en-US" sz="1120" dirty="0"/>
          </a:p>
        </p:txBody>
      </p:sp>
      <p:sp>
        <p:nvSpPr>
          <p:cNvPr id="17" name="A03_0059_arrow"/>
          <p:cNvSpPr/>
          <p:nvPr/>
        </p:nvSpPr>
        <p:spPr>
          <a:xfrm>
            <a:off x="6172200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18" name="A04_0060_text"/>
          <p:cNvSpPr/>
          <p:nvPr/>
        </p:nvSpPr>
        <p:spPr>
          <a:xfrm>
            <a:off x="6492240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A04_0061_line"/>
          <p:cNvSpPr/>
          <p:nvPr/>
        </p:nvSpPr>
        <p:spPr>
          <a:xfrm>
            <a:off x="6492240" y="2276856"/>
            <a:ext cx="1225296" cy="0"/>
          </a:xfrm>
          <a:prstGeom prst="line">
            <a:avLst/>
          </a:prstGeom>
          <a:noFill/>
          <a:ln w="35560">
            <a:solidFill>
              <a:srgbClr val="B96B2E"/>
            </a:solidFill>
            <a:prstDash val="solid"/>
          </a:ln>
        </p:spPr>
      </p:sp>
      <p:sp>
        <p:nvSpPr>
          <p:cNvPr id="20" name="A04_0062_text"/>
          <p:cNvSpPr/>
          <p:nvPr/>
        </p:nvSpPr>
        <p:spPr>
          <a:xfrm>
            <a:off x="6492240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分给专家</a:t>
            </a:r>
            <a:endParaRPr lang="en-US" sz="1700" dirty="0"/>
          </a:p>
        </p:txBody>
      </p:sp>
      <p:sp>
        <p:nvSpPr>
          <p:cNvPr id="21" name="A04_0063_text"/>
          <p:cNvSpPr/>
          <p:nvPr/>
        </p:nvSpPr>
        <p:spPr>
          <a:xfrm>
            <a:off x="6492240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不同角色接力</a:t>
            </a:r>
            <a:endParaRPr lang="en-US" sz="1120" dirty="0"/>
          </a:p>
        </p:txBody>
      </p:sp>
      <p:sp>
        <p:nvSpPr>
          <p:cNvPr id="22" name="A04_0064_arrow"/>
          <p:cNvSpPr/>
          <p:nvPr/>
        </p:nvSpPr>
        <p:spPr>
          <a:xfrm>
            <a:off x="7754112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3" name="A05_0065_text"/>
          <p:cNvSpPr/>
          <p:nvPr/>
        </p:nvSpPr>
        <p:spPr>
          <a:xfrm>
            <a:off x="8074152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A05_0066_line"/>
          <p:cNvSpPr/>
          <p:nvPr/>
        </p:nvSpPr>
        <p:spPr>
          <a:xfrm>
            <a:off x="8074152" y="2276856"/>
            <a:ext cx="1225296" cy="0"/>
          </a:xfrm>
          <a:prstGeom prst="line">
            <a:avLst/>
          </a:prstGeom>
          <a:noFill/>
          <a:ln w="35560">
            <a:solidFill>
              <a:srgbClr val="237F69"/>
            </a:solidFill>
            <a:prstDash val="solid"/>
          </a:ln>
        </p:spPr>
      </p:sp>
      <p:sp>
        <p:nvSpPr>
          <p:cNvPr id="25" name="A05_0067_text"/>
          <p:cNvSpPr/>
          <p:nvPr/>
        </p:nvSpPr>
        <p:spPr>
          <a:xfrm>
            <a:off x="8074152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算清事实</a:t>
            </a:r>
            <a:endParaRPr lang="en-US" sz="1700" dirty="0"/>
          </a:p>
        </p:txBody>
      </p:sp>
      <p:sp>
        <p:nvSpPr>
          <p:cNvPr id="26" name="A05_0068_text"/>
          <p:cNvSpPr/>
          <p:nvPr/>
        </p:nvSpPr>
        <p:spPr>
          <a:xfrm>
            <a:off x="8074152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工具查询与计算</a:t>
            </a:r>
            <a:endParaRPr lang="en-US" sz="1120" dirty="0"/>
          </a:p>
        </p:txBody>
      </p:sp>
      <p:sp>
        <p:nvSpPr>
          <p:cNvPr id="27" name="A05_0069_arrow"/>
          <p:cNvSpPr/>
          <p:nvPr/>
        </p:nvSpPr>
        <p:spPr>
          <a:xfrm>
            <a:off x="9336024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8" name="A06_0070_text"/>
          <p:cNvSpPr/>
          <p:nvPr/>
        </p:nvSpPr>
        <p:spPr>
          <a:xfrm>
            <a:off x="9656064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A06_0071_line"/>
          <p:cNvSpPr/>
          <p:nvPr/>
        </p:nvSpPr>
        <p:spPr>
          <a:xfrm>
            <a:off x="9656064" y="2276856"/>
            <a:ext cx="1225296" cy="0"/>
          </a:xfrm>
          <a:prstGeom prst="line">
            <a:avLst/>
          </a:prstGeom>
          <a:noFill/>
          <a:ln w="35560">
            <a:solidFill>
              <a:srgbClr val="507BA0"/>
            </a:solidFill>
            <a:prstDash val="solid"/>
          </a:ln>
        </p:spPr>
      </p:sp>
      <p:sp>
        <p:nvSpPr>
          <p:cNvPr id="30" name="A06_0072_text"/>
          <p:cNvSpPr/>
          <p:nvPr/>
        </p:nvSpPr>
        <p:spPr>
          <a:xfrm>
            <a:off x="9656064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核验结论</a:t>
            </a:r>
            <a:endParaRPr lang="en-US" sz="1700" dirty="0"/>
          </a:p>
        </p:txBody>
      </p:sp>
      <p:sp>
        <p:nvSpPr>
          <p:cNvPr id="31" name="A06_0073_text"/>
          <p:cNvSpPr/>
          <p:nvPr/>
        </p:nvSpPr>
        <p:spPr>
          <a:xfrm>
            <a:off x="9656064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结果可追溯</a:t>
            </a:r>
            <a:endParaRPr lang="en-US" sz="1120" dirty="0"/>
          </a:p>
        </p:txBody>
      </p:sp>
      <p:sp>
        <p:nvSpPr>
          <p:cNvPr id="32" name="A07_0074_line"/>
          <p:cNvSpPr/>
          <p:nvPr/>
        </p:nvSpPr>
        <p:spPr>
          <a:xfrm>
            <a:off x="4882896" y="4224528"/>
            <a:ext cx="6080760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3" name="A07_0075_text"/>
          <p:cNvSpPr/>
          <p:nvPr/>
        </p:nvSpPr>
        <p:spPr>
          <a:xfrm>
            <a:off x="4901184" y="4453128"/>
            <a:ext cx="6108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模型负责听懂人话和组织协作；CampusTools 负责把动态校园事实算清楚。</a:t>
            </a:r>
            <a:endParaRPr lang="en-US" sz="1400" dirty="0"/>
          </a:p>
        </p:txBody>
      </p:sp>
      <p:sp>
        <p:nvSpPr>
          <p:cNvPr id="34" name="A08_0076_text"/>
          <p:cNvSpPr/>
          <p:nvPr/>
        </p:nvSpPr>
        <p:spPr>
          <a:xfrm>
            <a:off x="4901184" y="506577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结果进入统一结果卡，用户可以继续说“那看看他的课表”“再查一下风险”。</a:t>
            </a:r>
            <a:endParaRPr lang="en-US" sz="1300" dirty="0"/>
          </a:p>
        </p:txBody>
      </p:sp>
      <p:sp>
        <p:nvSpPr>
          <p:cNvPr id="35" name="A08_0077_label-bg"/>
          <p:cNvSpPr/>
          <p:nvPr/>
        </p:nvSpPr>
        <p:spPr>
          <a:xfrm>
            <a:off x="7562088" y="5669280"/>
            <a:ext cx="2615184" cy="283464"/>
          </a:xfrm>
          <a:prstGeom prst="rect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A08_0078_text"/>
          <p:cNvSpPr/>
          <p:nvPr/>
        </p:nvSpPr>
        <p:spPr>
          <a:xfrm>
            <a:off x="7635240" y="56875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主协调 → 专业角色 → 主协调</a:t>
            </a:r>
            <a:endParaRPr lang="en-US" sz="9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3" grpId="0" animBg="1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79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80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81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系统怎样协作</a:t>
            </a:r>
            <a:endParaRPr lang="en-US" sz="1000" dirty="0"/>
          </a:p>
        </p:txBody>
      </p:sp>
      <p:sp>
        <p:nvSpPr>
          <p:cNvPr id="5" name="S00_0082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主协调听懂任务，专业角色把事情办完</a:t>
            </a:r>
            <a:endParaRPr lang="en-US" sz="2700" dirty="0"/>
          </a:p>
        </p:txBody>
      </p:sp>
      <p:sp>
        <p:nvSpPr>
          <p:cNvPr id="6" name="S00_0083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四个智能体各有边界；主协调不直接调用 CampusTools，所有结果都回到主协调统一解释。</a:t>
            </a:r>
            <a:endParaRPr lang="en-US" sz="1220" dirty="0"/>
          </a:p>
        </p:txBody>
      </p:sp>
      <p:sp>
        <p:nvSpPr>
          <p:cNvPr id="7" name="S00_0084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85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 / 12</a:t>
            </a:r>
            <a:endParaRPr lang="en-US" sz="850" dirty="0"/>
          </a:p>
        </p:txBody>
      </p:sp>
      <p:sp>
        <p:nvSpPr>
          <p:cNvPr id="9" name="A01_0086_main"/>
          <p:cNvSpPr/>
          <p:nvPr/>
        </p:nvSpPr>
        <p:spPr>
          <a:xfrm>
            <a:off x="4160520" y="1865376"/>
            <a:ext cx="1947672" cy="1325880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087_text"/>
          <p:cNvSpPr/>
          <p:nvPr/>
        </p:nvSpPr>
        <p:spPr>
          <a:xfrm>
            <a:off x="4261104" y="21305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小序·主协调</a:t>
            </a:r>
            <a:endParaRPr lang="en-US" sz="1700" dirty="0"/>
          </a:p>
        </p:txBody>
      </p:sp>
      <p:sp>
        <p:nvSpPr>
          <p:cNvPr id="11" name="A01_0088_text"/>
          <p:cNvSpPr/>
          <p:nvPr/>
        </p:nvSpPr>
        <p:spPr>
          <a:xfrm>
            <a:off x="4334256" y="2578608"/>
            <a:ext cx="1581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E5D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理解 · 分工 · 汇总</a:t>
            </a:r>
            <a:endParaRPr lang="en-US" sz="1000" dirty="0"/>
          </a:p>
        </p:txBody>
      </p:sp>
      <p:sp>
        <p:nvSpPr>
          <p:cNvPr id="12" name="A02_0089_text"/>
          <p:cNvSpPr/>
          <p:nvPr/>
        </p:nvSpPr>
        <p:spPr>
          <a:xfrm>
            <a:off x="713232" y="187452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课程空间</a:t>
            </a:r>
            <a:endParaRPr lang="en-US" sz="2000" dirty="0"/>
          </a:p>
        </p:txBody>
      </p:sp>
      <p:sp>
        <p:nvSpPr>
          <p:cNvPr id="13" name="A02_0090_line"/>
          <p:cNvSpPr/>
          <p:nvPr/>
        </p:nvSpPr>
        <p:spPr>
          <a:xfrm>
            <a:off x="713232" y="2432304"/>
            <a:ext cx="2468880" cy="0"/>
          </a:xfrm>
          <a:prstGeom prst="line">
            <a:avLst/>
          </a:prstGeom>
          <a:noFill/>
          <a:ln w="29210">
            <a:solidFill>
              <a:srgbClr val="B83E32"/>
            </a:solidFill>
            <a:prstDash val="solid"/>
          </a:ln>
        </p:spPr>
      </p:sp>
      <p:sp>
        <p:nvSpPr>
          <p:cNvPr id="14" name="A02_0091_text"/>
          <p:cNvSpPr/>
          <p:nvPr/>
        </p:nvSpPr>
        <p:spPr>
          <a:xfrm>
            <a:off x="713232" y="2615184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查课表、找教室、算共同空闲</a:t>
            </a:r>
            <a:endParaRPr lang="en-US" sz="1200" dirty="0"/>
          </a:p>
        </p:txBody>
      </p:sp>
      <p:sp>
        <p:nvSpPr>
          <p:cNvPr id="15" name="A02_0092_double-arrow"/>
          <p:cNvSpPr/>
          <p:nvPr/>
        </p:nvSpPr>
        <p:spPr>
          <a:xfrm>
            <a:off x="3310128" y="2404872"/>
            <a:ext cx="850392" cy="118872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16" name="A03_0093_text"/>
          <p:cNvSpPr/>
          <p:nvPr/>
        </p:nvSpPr>
        <p:spPr>
          <a:xfrm>
            <a:off x="713232" y="3986784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风险规划</a:t>
            </a:r>
            <a:endParaRPr lang="en-US" sz="2000" dirty="0"/>
          </a:p>
        </p:txBody>
      </p:sp>
      <p:sp>
        <p:nvSpPr>
          <p:cNvPr id="17" name="A03_0094_line"/>
          <p:cNvSpPr/>
          <p:nvPr/>
        </p:nvSpPr>
        <p:spPr>
          <a:xfrm>
            <a:off x="713232" y="4544568"/>
            <a:ext cx="2468880" cy="0"/>
          </a:xfrm>
          <a:prstGeom prst="line">
            <a:avLst/>
          </a:prstGeom>
          <a:noFill/>
          <a:ln w="29210">
            <a:solidFill>
              <a:srgbClr val="B96B2E"/>
            </a:solidFill>
            <a:prstDash val="solid"/>
          </a:ln>
        </p:spPr>
      </p:sp>
      <p:sp>
        <p:nvSpPr>
          <p:cNvPr id="18" name="A03_0095_text"/>
          <p:cNvSpPr/>
          <p:nvPr/>
        </p:nvSpPr>
        <p:spPr>
          <a:xfrm>
            <a:off x="713232" y="4727448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查冲突、识别赶场、模拟调课</a:t>
            </a:r>
            <a:endParaRPr lang="en-US" sz="1200" dirty="0"/>
          </a:p>
        </p:txBody>
      </p:sp>
      <p:sp>
        <p:nvSpPr>
          <p:cNvPr id="19" name="A03_0096_double-arrow"/>
          <p:cNvSpPr/>
          <p:nvPr/>
        </p:nvSpPr>
        <p:spPr>
          <a:xfrm flipV="1">
            <a:off x="3310128" y="2523744"/>
            <a:ext cx="850392" cy="1993392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20" name="A04_0097_text"/>
          <p:cNvSpPr/>
          <p:nvPr/>
        </p:nvSpPr>
        <p:spPr>
          <a:xfrm>
            <a:off x="4096512" y="422452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校园洞察</a:t>
            </a:r>
            <a:endParaRPr lang="en-US" sz="2000" dirty="0"/>
          </a:p>
        </p:txBody>
      </p:sp>
      <p:sp>
        <p:nvSpPr>
          <p:cNvPr id="21" name="A04_0098_line"/>
          <p:cNvSpPr/>
          <p:nvPr/>
        </p:nvSpPr>
        <p:spPr>
          <a:xfrm>
            <a:off x="4096512" y="4782312"/>
            <a:ext cx="2468880" cy="0"/>
          </a:xfrm>
          <a:prstGeom prst="line">
            <a:avLst/>
          </a:prstGeom>
          <a:noFill/>
          <a:ln w="29210">
            <a:solidFill>
              <a:srgbClr val="507BA0"/>
            </a:solidFill>
            <a:prstDash val="solid"/>
          </a:ln>
        </p:spPr>
      </p:sp>
      <p:sp>
        <p:nvSpPr>
          <p:cNvPr id="22" name="A04_0099_text"/>
          <p:cNvSpPr/>
          <p:nvPr/>
        </p:nvSpPr>
        <p:spPr>
          <a:xfrm>
            <a:off x="4096512" y="496519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看负载、找第一名、继续下钻</a:t>
            </a:r>
            <a:endParaRPr lang="en-US" sz="1200" dirty="0"/>
          </a:p>
        </p:txBody>
      </p:sp>
      <p:sp>
        <p:nvSpPr>
          <p:cNvPr id="23" name="A04_0100_double-arrow"/>
          <p:cNvSpPr/>
          <p:nvPr/>
        </p:nvSpPr>
        <p:spPr>
          <a:xfrm flipH="1" flipV="1">
            <a:off x="5129784" y="2523744"/>
            <a:ext cx="274320" cy="2231136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24" name="A05_0101_tools-band"/>
          <p:cNvSpPr/>
          <p:nvPr/>
        </p:nvSpPr>
        <p:spPr>
          <a:xfrm>
            <a:off x="6830568" y="1755648"/>
            <a:ext cx="4745736" cy="4389120"/>
          </a:xfrm>
          <a:prstGeom prst="rect">
            <a:avLst/>
          </a:prstGeom>
          <a:solidFill>
            <a:srgbClr val="DDECE6">
              <a:alpha val="7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A05_0102_text"/>
          <p:cNvSpPr/>
          <p:nvPr/>
        </p:nvSpPr>
        <p:spPr>
          <a:xfrm>
            <a:off x="7159752" y="1984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CampusTools</a:t>
            </a:r>
            <a:endParaRPr lang="en-US" sz="2300" dirty="0"/>
          </a:p>
        </p:txBody>
      </p:sp>
      <p:sp>
        <p:nvSpPr>
          <p:cNvPr id="26" name="A05_0103_text"/>
          <p:cNvSpPr/>
          <p:nvPr/>
        </p:nvSpPr>
        <p:spPr>
          <a:xfrm>
            <a:off x="7178040" y="2459736"/>
            <a:ext cx="3328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 个面向智能体的确定性工具</a:t>
            </a:r>
            <a:endParaRPr lang="en-US" sz="1150" dirty="0"/>
          </a:p>
        </p:txBody>
      </p:sp>
      <p:sp>
        <p:nvSpPr>
          <p:cNvPr id="27" name="A05_0104_line"/>
          <p:cNvSpPr/>
          <p:nvPr/>
        </p:nvSpPr>
        <p:spPr>
          <a:xfrm>
            <a:off x="7168896" y="3529584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28" name="A05_0105_text"/>
          <p:cNvSpPr/>
          <p:nvPr/>
        </p:nvSpPr>
        <p:spPr>
          <a:xfrm>
            <a:off x="7187184" y="299923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课表与对象</a:t>
            </a:r>
            <a:endParaRPr lang="en-US" sz="1220" dirty="0"/>
          </a:p>
        </p:txBody>
      </p:sp>
      <p:sp>
        <p:nvSpPr>
          <p:cNvPr id="29" name="A05_0106_text"/>
          <p:cNvSpPr/>
          <p:nvPr/>
        </p:nvSpPr>
        <p:spPr>
          <a:xfrm>
            <a:off x="8540496" y="299923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查课表 · 找对象 · 衔接上下文</a:t>
            </a:r>
            <a:endParaRPr lang="en-US" sz="1070" dirty="0"/>
          </a:p>
        </p:txBody>
      </p:sp>
      <p:sp>
        <p:nvSpPr>
          <p:cNvPr id="30" name="A05_0107_line"/>
          <p:cNvSpPr/>
          <p:nvPr/>
        </p:nvSpPr>
        <p:spPr>
          <a:xfrm>
            <a:off x="7168896" y="4206240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31" name="A05_0108_text"/>
          <p:cNvSpPr/>
          <p:nvPr/>
        </p:nvSpPr>
        <p:spPr>
          <a:xfrm>
            <a:off x="7187184" y="367588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空间与协同</a:t>
            </a:r>
            <a:endParaRPr lang="en-US" sz="1220" dirty="0"/>
          </a:p>
        </p:txBody>
      </p:sp>
      <p:sp>
        <p:nvSpPr>
          <p:cNvPr id="32" name="A05_0109_text"/>
          <p:cNvSpPr/>
          <p:nvPr/>
        </p:nvSpPr>
        <p:spPr>
          <a:xfrm>
            <a:off x="8540496" y="367588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找空教室 · 求共同空闲 · 生成方案</a:t>
            </a:r>
            <a:endParaRPr lang="en-US" sz="1070" dirty="0"/>
          </a:p>
        </p:txBody>
      </p:sp>
      <p:sp>
        <p:nvSpPr>
          <p:cNvPr id="33" name="A05_0110_line"/>
          <p:cNvSpPr/>
          <p:nvPr/>
        </p:nvSpPr>
        <p:spPr>
          <a:xfrm>
            <a:off x="7168896" y="4882896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34" name="A05_0111_text"/>
          <p:cNvSpPr/>
          <p:nvPr/>
        </p:nvSpPr>
        <p:spPr>
          <a:xfrm>
            <a:off x="7187184" y="4352544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风险与调课</a:t>
            </a:r>
            <a:endParaRPr lang="en-US" sz="1220" dirty="0"/>
          </a:p>
        </p:txBody>
      </p:sp>
      <p:sp>
        <p:nvSpPr>
          <p:cNvPr id="35" name="A05_0112_text"/>
          <p:cNvSpPr/>
          <p:nvPr/>
        </p:nvSpPr>
        <p:spPr>
          <a:xfrm>
            <a:off x="8540496" y="435254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查冲突 · 识别赶场 · 模拟可行性</a:t>
            </a:r>
            <a:endParaRPr lang="en-US" sz="1070" dirty="0"/>
          </a:p>
        </p:txBody>
      </p:sp>
      <p:sp>
        <p:nvSpPr>
          <p:cNvPr id="36" name="A05_0113_line"/>
          <p:cNvSpPr/>
          <p:nvPr/>
        </p:nvSpPr>
        <p:spPr>
          <a:xfrm>
            <a:off x="7168896" y="5559552"/>
            <a:ext cx="3977640" cy="0"/>
          </a:xfrm>
          <a:prstGeom prst="line">
            <a:avLst/>
          </a:prstGeom>
          <a:noFill/>
          <a:ln w="27940">
            <a:solidFill>
              <a:srgbClr val="237F69"/>
            </a:solidFill>
            <a:prstDash val="solid"/>
          </a:ln>
        </p:spPr>
      </p:sp>
      <p:sp>
        <p:nvSpPr>
          <p:cNvPr id="37" name="A05_0114_text"/>
          <p:cNvSpPr/>
          <p:nvPr/>
        </p:nvSpPr>
        <p:spPr>
          <a:xfrm>
            <a:off x="7187184" y="502920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校园洞察</a:t>
            </a:r>
            <a:endParaRPr lang="en-US" sz="1220" dirty="0"/>
          </a:p>
        </p:txBody>
      </p:sp>
      <p:sp>
        <p:nvSpPr>
          <p:cNvPr id="38" name="A05_0115_text"/>
          <p:cNvSpPr/>
          <p:nvPr/>
        </p:nvSpPr>
        <p:spPr>
          <a:xfrm>
            <a:off x="8540496" y="502920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看总览 · 算负载 · 分析空间利用</a:t>
            </a:r>
            <a:endParaRPr lang="en-US" sz="1070" dirty="0"/>
          </a:p>
        </p:txBody>
      </p:sp>
      <p:sp>
        <p:nvSpPr>
          <p:cNvPr id="39" name="A06_0116_text"/>
          <p:cNvSpPr/>
          <p:nvPr/>
        </p:nvSpPr>
        <p:spPr>
          <a:xfrm>
            <a:off x="7351776" y="5504688"/>
            <a:ext cx="512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2600" dirty="0"/>
          </a:p>
        </p:txBody>
      </p:sp>
      <p:sp>
        <p:nvSpPr>
          <p:cNvPr id="40" name="A06_0117_text"/>
          <p:cNvSpPr/>
          <p:nvPr/>
        </p:nvSpPr>
        <p:spPr>
          <a:xfrm>
            <a:off x="7818120" y="55686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智能体</a:t>
            </a:r>
            <a:endParaRPr lang="en-US" sz="1050" dirty="0"/>
          </a:p>
        </p:txBody>
      </p:sp>
      <p:sp>
        <p:nvSpPr>
          <p:cNvPr id="41" name="A06_0118_text"/>
          <p:cNvSpPr/>
          <p:nvPr/>
        </p:nvSpPr>
        <p:spPr>
          <a:xfrm>
            <a:off x="8668512" y="5504688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</a:t>
            </a:r>
            <a:endParaRPr lang="en-US" sz="2600" dirty="0"/>
          </a:p>
        </p:txBody>
      </p:sp>
      <p:sp>
        <p:nvSpPr>
          <p:cNvPr id="42" name="A06_0119_text"/>
          <p:cNvSpPr/>
          <p:nvPr/>
        </p:nvSpPr>
        <p:spPr>
          <a:xfrm>
            <a:off x="9290304" y="556869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工具</a:t>
            </a:r>
            <a:endParaRPr lang="en-US" sz="1050" dirty="0"/>
          </a:p>
        </p:txBody>
      </p:sp>
      <p:sp>
        <p:nvSpPr>
          <p:cNvPr id="43" name="A06_0120_text"/>
          <p:cNvSpPr/>
          <p:nvPr/>
        </p:nvSpPr>
        <p:spPr>
          <a:xfrm>
            <a:off x="9985248" y="5504688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14</a:t>
            </a:r>
            <a:endParaRPr lang="en-US" sz="2600" dirty="0"/>
          </a:p>
        </p:txBody>
      </p:sp>
      <p:sp>
        <p:nvSpPr>
          <p:cNvPr id="44" name="A06_0121_text"/>
          <p:cNvSpPr/>
          <p:nvPr/>
        </p:nvSpPr>
        <p:spPr>
          <a:xfrm>
            <a:off x="10616184" y="5568696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绑定关系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8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8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22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23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24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四种核心能力</a:t>
            </a:r>
            <a:endParaRPr lang="en-US" sz="1000" dirty="0"/>
          </a:p>
        </p:txBody>
      </p:sp>
      <p:sp>
        <p:nvSpPr>
          <p:cNvPr id="5" name="S00_0125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查得清、算得出、验得过、接得住</a:t>
            </a:r>
            <a:endParaRPr lang="en-US" sz="2700" dirty="0"/>
          </a:p>
        </p:txBody>
      </p:sp>
      <p:sp>
        <p:nvSpPr>
          <p:cNvPr id="6" name="S00_0126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这四句话，就是评委理解作品最短的路径。</a:t>
            </a:r>
            <a:endParaRPr lang="en-US" sz="1220" dirty="0"/>
          </a:p>
        </p:txBody>
      </p:sp>
      <p:sp>
        <p:nvSpPr>
          <p:cNvPr id="7" name="S00_012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2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 / 12</a:t>
            </a:r>
            <a:endParaRPr lang="en-US" sz="850" dirty="0"/>
          </a:p>
        </p:txBody>
      </p:sp>
      <p:sp>
        <p:nvSpPr>
          <p:cNvPr id="9" name="A01_0129_text"/>
          <p:cNvSpPr/>
          <p:nvPr/>
        </p:nvSpPr>
        <p:spPr>
          <a:xfrm>
            <a:off x="640080" y="185623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A01_0130_text"/>
          <p:cNvSpPr/>
          <p:nvPr/>
        </p:nvSpPr>
        <p:spPr>
          <a:xfrm>
            <a:off x="640080" y="241401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查得清</a:t>
            </a:r>
            <a:endParaRPr lang="en-US" sz="2700" dirty="0"/>
          </a:p>
        </p:txBody>
      </p:sp>
      <p:sp>
        <p:nvSpPr>
          <p:cNvPr id="11" name="A01_0131_line"/>
          <p:cNvSpPr/>
          <p:nvPr/>
        </p:nvSpPr>
        <p:spPr>
          <a:xfrm>
            <a:off x="640080" y="3182112"/>
            <a:ext cx="713232" cy="0"/>
          </a:xfrm>
          <a:prstGeom prst="line">
            <a:avLst/>
          </a:prstGeom>
          <a:noFill/>
          <a:ln w="40640">
            <a:solidFill>
              <a:srgbClr val="E65442"/>
            </a:solidFill>
            <a:prstDash val="solid"/>
          </a:ln>
        </p:spPr>
      </p:sp>
      <p:sp>
        <p:nvSpPr>
          <p:cNvPr id="12" name="A01_0132_text"/>
          <p:cNvSpPr/>
          <p:nvPr/>
        </p:nvSpPr>
        <p:spPr>
          <a:xfrm>
            <a:off x="640080" y="35387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课程空间</a:t>
            </a:r>
            <a:endParaRPr lang="en-US" sz="1500" dirty="0"/>
          </a:p>
        </p:txBody>
      </p:sp>
      <p:sp>
        <p:nvSpPr>
          <p:cNvPr id="13" name="A01_0133_text"/>
          <p:cNvSpPr/>
          <p:nvPr/>
        </p:nvSpPr>
        <p:spPr>
          <a:xfrm>
            <a:off x="640080" y="4169664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把课程、教师、班级和教室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变成可以继续追问的教学对象。</a:t>
            </a:r>
            <a:endParaRPr lang="en-US" sz="1200" dirty="0"/>
          </a:p>
        </p:txBody>
      </p:sp>
      <p:sp>
        <p:nvSpPr>
          <p:cNvPr id="14" name="A02_0134_divider"/>
          <p:cNvSpPr/>
          <p:nvPr/>
        </p:nvSpPr>
        <p:spPr>
          <a:xfrm>
            <a:off x="3255264" y="1847088"/>
            <a:ext cx="0" cy="352044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15" name="A02_0135_text"/>
          <p:cNvSpPr/>
          <p:nvPr/>
        </p:nvSpPr>
        <p:spPr>
          <a:xfrm>
            <a:off x="3511296" y="185623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A02_0136_text"/>
          <p:cNvSpPr/>
          <p:nvPr/>
        </p:nvSpPr>
        <p:spPr>
          <a:xfrm>
            <a:off x="3511296" y="241401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算得出</a:t>
            </a:r>
            <a:endParaRPr lang="en-US" sz="2700" dirty="0"/>
          </a:p>
        </p:txBody>
      </p:sp>
      <p:sp>
        <p:nvSpPr>
          <p:cNvPr id="17" name="A02_0137_line"/>
          <p:cNvSpPr/>
          <p:nvPr/>
        </p:nvSpPr>
        <p:spPr>
          <a:xfrm>
            <a:off x="3511296" y="3182112"/>
            <a:ext cx="713232" cy="0"/>
          </a:xfrm>
          <a:prstGeom prst="line">
            <a:avLst/>
          </a:prstGeom>
          <a:noFill/>
          <a:ln w="40640">
            <a:solidFill>
              <a:srgbClr val="237F69"/>
            </a:solidFill>
            <a:prstDash val="solid"/>
          </a:ln>
        </p:spPr>
      </p:sp>
      <p:sp>
        <p:nvSpPr>
          <p:cNvPr id="18" name="A02_0138_text"/>
          <p:cNvSpPr/>
          <p:nvPr/>
        </p:nvSpPr>
        <p:spPr>
          <a:xfrm>
            <a:off x="3511296" y="35387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多人协同</a:t>
            </a:r>
            <a:endParaRPr lang="en-US" sz="1500" dirty="0"/>
          </a:p>
        </p:txBody>
      </p:sp>
      <p:sp>
        <p:nvSpPr>
          <p:cNvPr id="19" name="A02_0139_text"/>
          <p:cNvSpPr/>
          <p:nvPr/>
        </p:nvSpPr>
        <p:spPr>
          <a:xfrm>
            <a:off x="3511296" y="4169664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先求多张课表的交集，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再叠加时间、容量和空间约束。</a:t>
            </a:r>
            <a:endParaRPr lang="en-US" sz="1200" dirty="0"/>
          </a:p>
        </p:txBody>
      </p:sp>
      <p:sp>
        <p:nvSpPr>
          <p:cNvPr id="20" name="A03_0140_divider"/>
          <p:cNvSpPr/>
          <p:nvPr/>
        </p:nvSpPr>
        <p:spPr>
          <a:xfrm>
            <a:off x="6126480" y="1847088"/>
            <a:ext cx="0" cy="352044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21" name="A03_0141_text"/>
          <p:cNvSpPr/>
          <p:nvPr/>
        </p:nvSpPr>
        <p:spPr>
          <a:xfrm>
            <a:off x="6382512" y="185623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A03_0142_text"/>
          <p:cNvSpPr/>
          <p:nvPr/>
        </p:nvSpPr>
        <p:spPr>
          <a:xfrm>
            <a:off x="6382512" y="241401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验得过</a:t>
            </a:r>
            <a:endParaRPr lang="en-US" sz="2700" dirty="0"/>
          </a:p>
        </p:txBody>
      </p:sp>
      <p:sp>
        <p:nvSpPr>
          <p:cNvPr id="23" name="A03_0143_line"/>
          <p:cNvSpPr/>
          <p:nvPr/>
        </p:nvSpPr>
        <p:spPr>
          <a:xfrm>
            <a:off x="6382512" y="3182112"/>
            <a:ext cx="713232" cy="0"/>
          </a:xfrm>
          <a:prstGeom prst="line">
            <a:avLst/>
          </a:prstGeom>
          <a:noFill/>
          <a:ln w="40640">
            <a:solidFill>
              <a:srgbClr val="B96B2E"/>
            </a:solidFill>
            <a:prstDash val="solid"/>
          </a:ln>
        </p:spPr>
      </p:sp>
      <p:sp>
        <p:nvSpPr>
          <p:cNvPr id="24" name="A03_0144_text"/>
          <p:cNvSpPr/>
          <p:nvPr/>
        </p:nvSpPr>
        <p:spPr>
          <a:xfrm>
            <a:off x="6382512" y="35387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风险与调课</a:t>
            </a:r>
            <a:endParaRPr lang="en-US" sz="1500" dirty="0"/>
          </a:p>
        </p:txBody>
      </p:sp>
      <p:sp>
        <p:nvSpPr>
          <p:cNvPr id="25" name="A03_0145_text"/>
          <p:cNvSpPr/>
          <p:nvPr/>
        </p:nvSpPr>
        <p:spPr>
          <a:xfrm>
            <a:off x="6382512" y="4169664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冲突、赶场和模拟调课，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每一步都说清通过还是提醒。</a:t>
            </a:r>
            <a:endParaRPr lang="en-US" sz="1200" dirty="0"/>
          </a:p>
        </p:txBody>
      </p:sp>
      <p:sp>
        <p:nvSpPr>
          <p:cNvPr id="26" name="A04_0146_divider"/>
          <p:cNvSpPr/>
          <p:nvPr/>
        </p:nvSpPr>
        <p:spPr>
          <a:xfrm>
            <a:off x="8997696" y="1847088"/>
            <a:ext cx="0" cy="352044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27" name="A04_0147_text"/>
          <p:cNvSpPr/>
          <p:nvPr/>
        </p:nvSpPr>
        <p:spPr>
          <a:xfrm>
            <a:off x="9253728" y="185623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A04_0148_text"/>
          <p:cNvSpPr/>
          <p:nvPr/>
        </p:nvSpPr>
        <p:spPr>
          <a:xfrm>
            <a:off x="9253728" y="241401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接得住</a:t>
            </a:r>
            <a:endParaRPr lang="en-US" sz="2700" dirty="0"/>
          </a:p>
        </p:txBody>
      </p:sp>
      <p:sp>
        <p:nvSpPr>
          <p:cNvPr id="29" name="A04_0149_line"/>
          <p:cNvSpPr/>
          <p:nvPr/>
        </p:nvSpPr>
        <p:spPr>
          <a:xfrm>
            <a:off x="9253728" y="3182112"/>
            <a:ext cx="713232" cy="0"/>
          </a:xfrm>
          <a:prstGeom prst="line">
            <a:avLst/>
          </a:prstGeom>
          <a:noFill/>
          <a:ln w="40640">
            <a:solidFill>
              <a:srgbClr val="507BA0"/>
            </a:solidFill>
            <a:prstDash val="solid"/>
          </a:ln>
        </p:spPr>
      </p:sp>
      <p:sp>
        <p:nvSpPr>
          <p:cNvPr id="30" name="A04_0150_text"/>
          <p:cNvSpPr/>
          <p:nvPr/>
        </p:nvSpPr>
        <p:spPr>
          <a:xfrm>
            <a:off x="9253728" y="35387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连续追问</a:t>
            </a:r>
            <a:endParaRPr lang="en-US" sz="1500" dirty="0"/>
          </a:p>
        </p:txBody>
      </p:sp>
      <p:sp>
        <p:nvSpPr>
          <p:cNvPr id="31" name="A04_0151_text"/>
          <p:cNvSpPr/>
          <p:nvPr/>
        </p:nvSpPr>
        <p:spPr>
          <a:xfrm>
            <a:off x="9253728" y="4169664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从第一名到课表再到风险，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用户不用反复说明“他是谁”。</a:t>
            </a:r>
            <a:endParaRPr lang="en-US" sz="1200" dirty="0"/>
          </a:p>
        </p:txBody>
      </p:sp>
      <p:sp>
        <p:nvSpPr>
          <p:cNvPr id="32" name="A05_0152_text"/>
          <p:cNvSpPr/>
          <p:nvPr/>
        </p:nvSpPr>
        <p:spPr>
          <a:xfrm>
            <a:off x="2084832" y="5779008"/>
            <a:ext cx="8010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用户不需要理解智能体或工具配置，只要把教学任务说清楚。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53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54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55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案例一｜风险发现</a:t>
            </a:r>
            <a:endParaRPr lang="en-US" sz="1000" dirty="0"/>
          </a:p>
        </p:txBody>
      </p:sp>
      <p:sp>
        <p:nvSpPr>
          <p:cNvPr id="5" name="S00_0156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没有冲突，也可能赶不及下一节课</a:t>
            </a:r>
            <a:endParaRPr lang="en-US" sz="2700" dirty="0"/>
          </a:p>
        </p:txBody>
      </p:sp>
      <p:sp>
        <p:nvSpPr>
          <p:cNvPr id="6" name="S00_0157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教师025 · 第1—4周 · 每周14课次；系统同时检查硬冲突与跨校区转场。</a:t>
            </a:r>
            <a:endParaRPr lang="en-US" sz="1220" dirty="0"/>
          </a:p>
        </p:txBody>
      </p:sp>
      <p:sp>
        <p:nvSpPr>
          <p:cNvPr id="7" name="S00_0158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59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 / 12</a:t>
            </a:r>
            <a:endParaRPr lang="en-US" sz="850" dirty="0"/>
          </a:p>
        </p:txBody>
      </p:sp>
      <p:sp>
        <p:nvSpPr>
          <p:cNvPr id="9" name="A01_0160_text"/>
          <p:cNvSpPr/>
          <p:nvPr/>
        </p:nvSpPr>
        <p:spPr>
          <a:xfrm>
            <a:off x="749808" y="1664208"/>
            <a:ext cx="138988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</a:t>
            </a:r>
            <a:endParaRPr lang="en-US" sz="7000" dirty="0"/>
          </a:p>
        </p:txBody>
      </p:sp>
      <p:sp>
        <p:nvSpPr>
          <p:cNvPr id="10" name="A01_0161_text"/>
          <p:cNvSpPr/>
          <p:nvPr/>
        </p:nvSpPr>
        <p:spPr>
          <a:xfrm>
            <a:off x="2039112" y="20848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课表硬冲突</a:t>
            </a:r>
            <a:endParaRPr lang="en-US" sz="1600" dirty="0"/>
          </a:p>
        </p:txBody>
      </p:sp>
      <p:sp>
        <p:nvSpPr>
          <p:cNvPr id="11" name="A02_0162_line"/>
          <p:cNvSpPr/>
          <p:nvPr/>
        </p:nvSpPr>
        <p:spPr>
          <a:xfrm>
            <a:off x="786384" y="2962656"/>
            <a:ext cx="3127248" cy="0"/>
          </a:xfrm>
          <a:prstGeom prst="line">
            <a:avLst/>
          </a:prstGeom>
          <a:noFill/>
          <a:ln w="13970">
            <a:solidFill>
              <a:srgbClr val="DDD2CA"/>
            </a:solidFill>
            <a:prstDash val="solid"/>
          </a:ln>
        </p:spPr>
      </p:sp>
      <p:sp>
        <p:nvSpPr>
          <p:cNvPr id="12" name="A02_0163_text"/>
          <p:cNvSpPr/>
          <p:nvPr/>
        </p:nvSpPr>
        <p:spPr>
          <a:xfrm>
            <a:off x="749808" y="3090672"/>
            <a:ext cx="138988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7000" dirty="0"/>
          </a:p>
        </p:txBody>
      </p:sp>
      <p:sp>
        <p:nvSpPr>
          <p:cNvPr id="13" name="A02_0164_text"/>
          <p:cNvSpPr/>
          <p:nvPr/>
        </p:nvSpPr>
        <p:spPr>
          <a:xfrm>
            <a:off x="2029968" y="351129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每周赶场风险</a:t>
            </a:r>
            <a:endParaRPr lang="en-US" sz="1600" dirty="0"/>
          </a:p>
        </p:txBody>
      </p:sp>
      <p:sp>
        <p:nvSpPr>
          <p:cNvPr id="14" name="A03_0165_text"/>
          <p:cNvSpPr/>
          <p:nvPr/>
        </p:nvSpPr>
        <p:spPr>
          <a:xfrm>
            <a:off x="786384" y="449884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连续间隔只有 20 分钟</a:t>
            </a:r>
            <a:endParaRPr lang="en-US" sz="1300" dirty="0"/>
          </a:p>
        </p:txBody>
      </p:sp>
      <p:sp>
        <p:nvSpPr>
          <p:cNvPr id="15" name="A03_0166_text"/>
          <p:cNvSpPr/>
          <p:nvPr/>
        </p:nvSpPr>
        <p:spPr>
          <a:xfrm>
            <a:off x="786384" y="4965192"/>
            <a:ext cx="3246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“课表没有打架”不等于“人来得及赶到”。</a:t>
            </a:r>
            <a:endParaRPr lang="en-US" sz="1550" dirty="0"/>
          </a:p>
          <a:p>
            <a:pPr marL="0" indent="0" algn="l">
              <a:buNone/>
            </a:pPr>
            <a:r>
              <a:rPr lang="en-US" sz="15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小序把这种容易被忽略的风险提前说出来。</a:t>
            </a:r>
            <a:endParaRPr lang="en-US" sz="1550" dirty="0"/>
          </a:p>
        </p:txBody>
      </p:sp>
      <p:sp>
        <p:nvSpPr>
          <p:cNvPr id="16" name="A04_0167_screen-base"/>
          <p:cNvSpPr/>
          <p:nvPr/>
        </p:nvSpPr>
        <p:spPr>
          <a:xfrm>
            <a:off x="4334256" y="1682496"/>
            <a:ext cx="7278624" cy="449884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7" name="A04_0168_screen-image" descr="competition-project\competition\final-delivery\qa\final-cut\4173-risk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19072"/>
            <a:ext cx="7205472" cy="4425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69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70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71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案例二｜多人协同</a:t>
            </a:r>
            <a:endParaRPr lang="en-US" sz="1000" dirty="0"/>
          </a:p>
        </p:txBody>
      </p:sp>
      <p:sp>
        <p:nvSpPr>
          <p:cNvPr id="5" name="S00_0172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三位教师的一次共同空闲，最后落到一间教室</a:t>
            </a:r>
            <a:endParaRPr lang="en-US" sz="2700" dirty="0"/>
          </a:p>
        </p:txBody>
      </p:sp>
      <p:sp>
        <p:nvSpPr>
          <p:cNvPr id="6" name="S00_0173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第1周周四1—4节；先找人都空的时间，再按容量筛选教室。</a:t>
            </a:r>
            <a:endParaRPr lang="en-US" sz="1220" dirty="0"/>
          </a:p>
        </p:txBody>
      </p:sp>
      <p:sp>
        <p:nvSpPr>
          <p:cNvPr id="7" name="S00_0174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75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 / 12</a:t>
            </a:r>
            <a:endParaRPr lang="en-US" sz="850" dirty="0"/>
          </a:p>
        </p:txBody>
      </p:sp>
      <p:sp>
        <p:nvSpPr>
          <p:cNvPr id="9" name="A01_0176_text"/>
          <p:cNvSpPr/>
          <p:nvPr/>
        </p:nvSpPr>
        <p:spPr>
          <a:xfrm>
            <a:off x="658368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A01_0177_text"/>
          <p:cNvSpPr/>
          <p:nvPr/>
        </p:nvSpPr>
        <p:spPr>
          <a:xfrm>
            <a:off x="658368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位教师</a:t>
            </a:r>
            <a:endParaRPr lang="en-US" sz="1200" dirty="0"/>
          </a:p>
        </p:txBody>
      </p:sp>
      <p:sp>
        <p:nvSpPr>
          <p:cNvPr id="11" name="A01_0178_arrow"/>
          <p:cNvSpPr/>
          <p:nvPr/>
        </p:nvSpPr>
        <p:spPr>
          <a:xfrm>
            <a:off x="232257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2" name="A02_0179_text"/>
          <p:cNvSpPr/>
          <p:nvPr/>
        </p:nvSpPr>
        <p:spPr>
          <a:xfrm>
            <a:off x="3072384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63</a:t>
            </a:r>
            <a:endParaRPr lang="en-US" sz="4800" dirty="0"/>
          </a:p>
        </p:txBody>
      </p:sp>
      <p:sp>
        <p:nvSpPr>
          <p:cNvPr id="13" name="A02_0180_text"/>
          <p:cNvSpPr/>
          <p:nvPr/>
        </p:nvSpPr>
        <p:spPr>
          <a:xfrm>
            <a:off x="3072384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间可用教室</a:t>
            </a:r>
            <a:endParaRPr lang="en-US" sz="1200" dirty="0"/>
          </a:p>
        </p:txBody>
      </p:sp>
      <p:sp>
        <p:nvSpPr>
          <p:cNvPr id="14" name="A02_0181_arrow"/>
          <p:cNvSpPr/>
          <p:nvPr/>
        </p:nvSpPr>
        <p:spPr>
          <a:xfrm>
            <a:off x="506577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5" name="A03_0182_text"/>
          <p:cNvSpPr/>
          <p:nvPr/>
        </p:nvSpPr>
        <p:spPr>
          <a:xfrm>
            <a:off x="5769864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</a:t>
            </a:r>
            <a:endParaRPr lang="en-US" sz="4800" dirty="0"/>
          </a:p>
        </p:txBody>
      </p:sp>
      <p:sp>
        <p:nvSpPr>
          <p:cNvPr id="16" name="A03_0183_text"/>
          <p:cNvSpPr/>
          <p:nvPr/>
        </p:nvSpPr>
        <p:spPr>
          <a:xfrm>
            <a:off x="5769864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间不少于120座</a:t>
            </a:r>
            <a:endParaRPr lang="en-US" sz="1200" dirty="0"/>
          </a:p>
        </p:txBody>
      </p:sp>
      <p:sp>
        <p:nvSpPr>
          <p:cNvPr id="17" name="A03_0184_arrow"/>
          <p:cNvSpPr/>
          <p:nvPr/>
        </p:nvSpPr>
        <p:spPr>
          <a:xfrm>
            <a:off x="776325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8" name="A04_0185_text"/>
          <p:cNvSpPr/>
          <p:nvPr/>
        </p:nvSpPr>
        <p:spPr>
          <a:xfrm>
            <a:off x="8540496" y="1700784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A1-201</a:t>
            </a:r>
            <a:endParaRPr lang="en-US" sz="3600" dirty="0"/>
          </a:p>
        </p:txBody>
      </p:sp>
      <p:sp>
        <p:nvSpPr>
          <p:cNvPr id="19" name="A04_0186_text"/>
          <p:cNvSpPr/>
          <p:nvPr/>
        </p:nvSpPr>
        <p:spPr>
          <a:xfrm>
            <a:off x="8540496" y="250545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推荐教室 · 120座</a:t>
            </a:r>
            <a:endParaRPr lang="en-US" sz="1200" dirty="0"/>
          </a:p>
        </p:txBody>
      </p:sp>
      <p:sp>
        <p:nvSpPr>
          <p:cNvPr id="20" name="A05_0187_line"/>
          <p:cNvSpPr/>
          <p:nvPr/>
        </p:nvSpPr>
        <p:spPr>
          <a:xfrm>
            <a:off x="658368" y="2971800"/>
            <a:ext cx="10844784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21" name="A05_0188_screen-base"/>
          <p:cNvSpPr/>
          <p:nvPr/>
        </p:nvSpPr>
        <p:spPr>
          <a:xfrm>
            <a:off x="960120" y="3218688"/>
            <a:ext cx="10277856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2" name="A05_0189_screen-image" descr="competition-project\competition\final-delivery\qa\final-cut\4173-collaboration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5264"/>
            <a:ext cx="10204704" cy="2542032"/>
          </a:xfrm>
          <a:prstGeom prst="rect">
            <a:avLst/>
          </a:prstGeom>
        </p:spPr>
      </p:pic>
      <p:sp>
        <p:nvSpPr>
          <p:cNvPr id="23" name="A06_0190_text"/>
          <p:cNvSpPr/>
          <p:nvPr/>
        </p:nvSpPr>
        <p:spPr>
          <a:xfrm>
            <a:off x="3081528" y="5943600"/>
            <a:ext cx="6053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共同空闲 → 空间可用 → 容量过滤 → 给出推荐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91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92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93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案例三｜模拟调课</a:t>
            </a:r>
            <a:endParaRPr lang="en-US" sz="1000" dirty="0"/>
          </a:p>
        </p:txBody>
      </p:sp>
      <p:sp>
        <p:nvSpPr>
          <p:cNvPr id="5" name="S00_0194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可以调，但仍然要提醒</a:t>
            </a:r>
            <a:endParaRPr lang="en-US" sz="2700" dirty="0"/>
          </a:p>
        </p:txBody>
      </p:sp>
      <p:sp>
        <p:nvSpPr>
          <p:cNvPr id="6" name="S00_0195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周一5—6节 → 周四7—8节；先把约束模拟一遍，再决定是否执行，真实课表不会被改动。</a:t>
            </a:r>
            <a:endParaRPr lang="en-US" sz="1220" dirty="0"/>
          </a:p>
        </p:txBody>
      </p:sp>
      <p:sp>
        <p:nvSpPr>
          <p:cNvPr id="7" name="S00_0196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97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08 / 12</a:t>
            </a:r>
            <a:endParaRPr lang="en-US" sz="850" dirty="0"/>
          </a:p>
        </p:txBody>
      </p:sp>
      <p:sp>
        <p:nvSpPr>
          <p:cNvPr id="9" name="A01_0198_text"/>
          <p:cNvSpPr/>
          <p:nvPr/>
        </p:nvSpPr>
        <p:spPr>
          <a:xfrm>
            <a:off x="713232" y="1801368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5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可以调</a:t>
            </a:r>
            <a:endParaRPr lang="en-US" sz="3500" dirty="0"/>
          </a:p>
        </p:txBody>
      </p:sp>
      <p:sp>
        <p:nvSpPr>
          <p:cNvPr id="10" name="A01_0199_text"/>
          <p:cNvSpPr/>
          <p:nvPr/>
        </p:nvSpPr>
        <p:spPr>
          <a:xfrm>
            <a:off x="731520" y="262432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 项约束通过</a:t>
            </a:r>
            <a:endParaRPr lang="en-US" sz="1400" dirty="0"/>
          </a:p>
        </p:txBody>
      </p:sp>
      <p:sp>
        <p:nvSpPr>
          <p:cNvPr id="11" name="A02_0200_line"/>
          <p:cNvSpPr/>
          <p:nvPr/>
        </p:nvSpPr>
        <p:spPr>
          <a:xfrm>
            <a:off x="731520" y="3182112"/>
            <a:ext cx="3145536" cy="0"/>
          </a:xfrm>
          <a:prstGeom prst="line">
            <a:avLst/>
          </a:prstGeom>
          <a:noFill/>
          <a:ln w="13970">
            <a:solidFill>
              <a:srgbClr val="DDD2CA"/>
            </a:solidFill>
            <a:prstDash val="solid"/>
          </a:ln>
        </p:spPr>
      </p:sp>
      <p:sp>
        <p:nvSpPr>
          <p:cNvPr id="12" name="A02_0201_text"/>
          <p:cNvSpPr/>
          <p:nvPr/>
        </p:nvSpPr>
        <p:spPr>
          <a:xfrm>
            <a:off x="713232" y="340156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5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但有提醒</a:t>
            </a:r>
            <a:endParaRPr lang="en-US" sz="3500" dirty="0"/>
          </a:p>
        </p:txBody>
      </p:sp>
      <p:sp>
        <p:nvSpPr>
          <p:cNvPr id="13" name="A02_0202_text"/>
          <p:cNvSpPr/>
          <p:nvPr/>
        </p:nvSpPr>
        <p:spPr>
          <a:xfrm>
            <a:off x="731520" y="4224528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调整后教师连续 4 节课，可能存在连堂负荷。</a:t>
            </a:r>
            <a:endParaRPr lang="en-US" sz="1300" dirty="0"/>
          </a:p>
        </p:txBody>
      </p:sp>
      <p:sp>
        <p:nvSpPr>
          <p:cNvPr id="14" name="A03_0203_text"/>
          <p:cNvSpPr/>
          <p:nvPr/>
        </p:nvSpPr>
        <p:spPr>
          <a:xfrm>
            <a:off x="731520" y="50749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feasible=true   ·   warning=1   ·   mutatedData=false</a:t>
            </a:r>
            <a:endParaRPr lang="en-US" sz="1050" dirty="0"/>
          </a:p>
        </p:txBody>
      </p:sp>
      <p:sp>
        <p:nvSpPr>
          <p:cNvPr id="15" name="A03_0204_text"/>
          <p:cNvSpPr/>
          <p:nvPr/>
        </p:nvSpPr>
        <p:spPr>
          <a:xfrm>
            <a:off x="731520" y="5559552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18 间可用 → 8 间合格 → A1-201</a:t>
            </a:r>
            <a:endParaRPr lang="en-US" sz="1300" dirty="0"/>
          </a:p>
        </p:txBody>
      </p:sp>
      <p:sp>
        <p:nvSpPr>
          <p:cNvPr id="16" name="A04_0205_screen-base"/>
          <p:cNvSpPr/>
          <p:nvPr/>
        </p:nvSpPr>
        <p:spPr>
          <a:xfrm>
            <a:off x="4334256" y="1682496"/>
            <a:ext cx="7278624" cy="449884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7" name="A04_0206_screen-image" descr="competition-project\competition\final-delivery\qa\final-cut\4173-reschedule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19072"/>
            <a:ext cx="7205472" cy="4425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07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08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09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案例四｜连续追问</a:t>
            </a:r>
            <a:endParaRPr lang="en-US" sz="1000" dirty="0"/>
          </a:p>
        </p:txBody>
      </p:sp>
      <p:sp>
        <p:nvSpPr>
          <p:cNvPr id="5" name="S00_0210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用户只说一次“他是谁”，系统就能一路接住</a:t>
            </a:r>
            <a:endParaRPr lang="en-US" sz="2700" dirty="0"/>
          </a:p>
        </p:txBody>
      </p:sp>
      <p:sp>
        <p:nvSpPr>
          <p:cNvPr id="6" name="S00_0211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同一上下文下，校园洞察、课程空间和风险规划三个角色接力完成任务。</a:t>
            </a:r>
            <a:endParaRPr lang="en-US" sz="1220" dirty="0"/>
          </a:p>
        </p:txBody>
      </p:sp>
      <p:sp>
        <p:nvSpPr>
          <p:cNvPr id="7" name="S00_0212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13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09 / 12</a:t>
            </a:r>
            <a:endParaRPr lang="en-US" sz="850" dirty="0"/>
          </a:p>
        </p:txBody>
      </p:sp>
      <p:sp>
        <p:nvSpPr>
          <p:cNvPr id="9" name="A01_0214_stage-dot"/>
          <p:cNvSpPr/>
          <p:nvPr/>
        </p:nvSpPr>
        <p:spPr>
          <a:xfrm>
            <a:off x="749808" y="1783080"/>
            <a:ext cx="493776" cy="493776"/>
          </a:xfrm>
          <a:prstGeom prst="ellipse">
            <a:avLst/>
          </a:prstGeom>
          <a:solidFill>
            <a:srgbClr val="507BA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215_text"/>
          <p:cNvSpPr/>
          <p:nvPr/>
        </p:nvSpPr>
        <p:spPr>
          <a:xfrm>
            <a:off x="813816" y="18928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A01_0216_text"/>
          <p:cNvSpPr/>
          <p:nvPr/>
        </p:nvSpPr>
        <p:spPr>
          <a:xfrm>
            <a:off x="1481328" y="177393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先找出最忙的人</a:t>
            </a:r>
            <a:endParaRPr lang="en-US" sz="1800" dirty="0"/>
          </a:p>
        </p:txBody>
      </p:sp>
      <p:sp>
        <p:nvSpPr>
          <p:cNvPr id="12" name="A01_0217_text"/>
          <p:cNvSpPr/>
          <p:nvPr/>
        </p:nvSpPr>
        <p:spPr>
          <a:xfrm>
            <a:off x="1481328" y="228600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教师025 · 56课次 / 112课时</a:t>
            </a:r>
            <a:endParaRPr lang="en-US" sz="1220" dirty="0"/>
          </a:p>
        </p:txBody>
      </p:sp>
      <p:sp>
        <p:nvSpPr>
          <p:cNvPr id="13" name="A01_0218_stage-line"/>
          <p:cNvSpPr/>
          <p:nvPr/>
        </p:nvSpPr>
        <p:spPr>
          <a:xfrm>
            <a:off x="996696" y="2304288"/>
            <a:ext cx="0" cy="859536"/>
          </a:xfrm>
          <a:prstGeom prst="line">
            <a:avLst/>
          </a:prstGeom>
          <a:noFill/>
          <a:ln w="17780">
            <a:solidFill>
              <a:srgbClr val="DDD2CA"/>
            </a:solidFill>
            <a:prstDash val="solid"/>
          </a:ln>
        </p:spPr>
      </p:sp>
      <p:sp>
        <p:nvSpPr>
          <p:cNvPr id="14" name="A02_0219_stage-dot"/>
          <p:cNvSpPr/>
          <p:nvPr/>
        </p:nvSpPr>
        <p:spPr>
          <a:xfrm>
            <a:off x="749808" y="3172968"/>
            <a:ext cx="493776" cy="493776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A02_0220_text"/>
          <p:cNvSpPr/>
          <p:nvPr/>
        </p:nvSpPr>
        <p:spPr>
          <a:xfrm>
            <a:off x="813816" y="328269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A02_0221_text"/>
          <p:cNvSpPr/>
          <p:nvPr/>
        </p:nvSpPr>
        <p:spPr>
          <a:xfrm>
            <a:off x="1481328" y="316382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再看他的课表</a:t>
            </a:r>
            <a:endParaRPr lang="en-US" sz="1800" dirty="0"/>
          </a:p>
        </p:txBody>
      </p:sp>
      <p:sp>
        <p:nvSpPr>
          <p:cNvPr id="17" name="A02_0222_text"/>
          <p:cNvSpPr/>
          <p:nvPr/>
        </p:nvSpPr>
        <p:spPr>
          <a:xfrm>
            <a:off x="1481328" y="3675888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沿用同一教师对象，不用重新输入</a:t>
            </a:r>
            <a:endParaRPr lang="en-US" sz="1220" dirty="0"/>
          </a:p>
        </p:txBody>
      </p:sp>
      <p:sp>
        <p:nvSpPr>
          <p:cNvPr id="18" name="A02_0223_stage-line"/>
          <p:cNvSpPr/>
          <p:nvPr/>
        </p:nvSpPr>
        <p:spPr>
          <a:xfrm>
            <a:off x="996696" y="3694176"/>
            <a:ext cx="0" cy="859536"/>
          </a:xfrm>
          <a:prstGeom prst="line">
            <a:avLst/>
          </a:prstGeom>
          <a:noFill/>
          <a:ln w="17780">
            <a:solidFill>
              <a:srgbClr val="DDD2CA"/>
            </a:solidFill>
            <a:prstDash val="solid"/>
          </a:ln>
        </p:spPr>
      </p:sp>
      <p:sp>
        <p:nvSpPr>
          <p:cNvPr id="19" name="A03_0224_stage-dot"/>
          <p:cNvSpPr/>
          <p:nvPr/>
        </p:nvSpPr>
        <p:spPr>
          <a:xfrm>
            <a:off x="749808" y="4562856"/>
            <a:ext cx="493776" cy="493776"/>
          </a:xfrm>
          <a:prstGeom prst="ellipse">
            <a:avLst/>
          </a:prstGeom>
          <a:solidFill>
            <a:srgbClr val="237F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A03_0225_text"/>
          <p:cNvSpPr/>
          <p:nvPr/>
        </p:nvSpPr>
        <p:spPr>
          <a:xfrm>
            <a:off x="813816" y="46725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850" dirty="0"/>
          </a:p>
        </p:txBody>
      </p:sp>
      <p:sp>
        <p:nvSpPr>
          <p:cNvPr id="21" name="A03_0226_text"/>
          <p:cNvSpPr/>
          <p:nvPr/>
        </p:nvSpPr>
        <p:spPr>
          <a:xfrm>
            <a:off x="1481328" y="45537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最后检查他的风险</a:t>
            </a:r>
            <a:endParaRPr lang="en-US" sz="1800" dirty="0"/>
          </a:p>
        </p:txBody>
      </p:sp>
      <p:sp>
        <p:nvSpPr>
          <p:cNvPr id="22" name="A03_0227_text"/>
          <p:cNvSpPr/>
          <p:nvPr/>
        </p:nvSpPr>
        <p:spPr>
          <a:xfrm>
            <a:off x="1481328" y="5065776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0冲突 / 4次赶场风险</a:t>
            </a:r>
            <a:endParaRPr lang="en-US" sz="1220" dirty="0"/>
          </a:p>
        </p:txBody>
      </p:sp>
      <p:sp>
        <p:nvSpPr>
          <p:cNvPr id="23" name="A04_0228_text"/>
          <p:cNvSpPr/>
          <p:nvPr/>
        </p:nvSpPr>
        <p:spPr>
          <a:xfrm>
            <a:off x="758952" y="5806440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“他”没有丢，任务也没有断。</a:t>
            </a:r>
            <a:endParaRPr lang="en-US" sz="1700" dirty="0"/>
          </a:p>
        </p:txBody>
      </p:sp>
      <p:sp>
        <p:nvSpPr>
          <p:cNvPr id="24" name="A04_0229_screen-base"/>
          <p:cNvSpPr/>
          <p:nvPr/>
        </p:nvSpPr>
        <p:spPr>
          <a:xfrm>
            <a:off x="5102352" y="1682496"/>
            <a:ext cx="6510528" cy="449884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5" name="A04_0230_screen-image" descr="competition-project\competition\final-delivery\qa\final-cut\4173-insight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719072"/>
            <a:ext cx="6437376" cy="4425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31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32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33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为什么结果值得相信</a:t>
            </a:r>
            <a:endParaRPr lang="en-US" sz="1000" dirty="0"/>
          </a:p>
        </p:txBody>
      </p:sp>
      <p:sp>
        <p:nvSpPr>
          <p:cNvPr id="5" name="S00_0234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三层各做自己最擅长的事</a:t>
            </a:r>
            <a:endParaRPr lang="en-US" sz="2700" dirty="0"/>
          </a:p>
        </p:txBody>
      </p:sp>
      <p:sp>
        <p:nvSpPr>
          <p:cNvPr id="6" name="S00_0235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不是把技术名词堆在一起，而是把“理解、计算、表达”三件事真正分开。</a:t>
            </a:r>
            <a:endParaRPr lang="en-US" sz="1220" dirty="0"/>
          </a:p>
        </p:txBody>
      </p:sp>
      <p:sp>
        <p:nvSpPr>
          <p:cNvPr id="7" name="S00_0236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37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9" name="A01_0238_layer"/>
          <p:cNvSpPr/>
          <p:nvPr/>
        </p:nvSpPr>
        <p:spPr>
          <a:xfrm>
            <a:off x="658368" y="1746504"/>
            <a:ext cx="10881360" cy="1225296"/>
          </a:xfrm>
          <a:prstGeom prst="rect">
            <a:avLst/>
          </a:prstGeom>
          <a:solidFill>
            <a:srgbClr val="F6DED8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239_text"/>
          <p:cNvSpPr/>
          <p:nvPr/>
        </p:nvSpPr>
        <p:spPr>
          <a:xfrm>
            <a:off x="932688" y="1929384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A01_0240_text"/>
          <p:cNvSpPr/>
          <p:nvPr/>
        </p:nvSpPr>
        <p:spPr>
          <a:xfrm>
            <a:off x="1481328" y="1947672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模型听懂人话</a:t>
            </a:r>
            <a:endParaRPr lang="en-US" sz="2100" dirty="0"/>
          </a:p>
        </p:txBody>
      </p:sp>
      <p:sp>
        <p:nvSpPr>
          <p:cNvPr id="12" name="A01_0241_text"/>
          <p:cNvSpPr/>
          <p:nvPr/>
        </p:nvSpPr>
        <p:spPr>
          <a:xfrm>
            <a:off x="4645152" y="1929384"/>
            <a:ext cx="5084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识别用户想解决什么问题，决定由谁来处理，再把结果解释清楚。</a:t>
            </a:r>
            <a:endParaRPr lang="en-US" sz="1240" dirty="0"/>
          </a:p>
        </p:txBody>
      </p:sp>
      <p:sp>
        <p:nvSpPr>
          <p:cNvPr id="13" name="A01_0242_text"/>
          <p:cNvSpPr/>
          <p:nvPr/>
        </p:nvSpPr>
        <p:spPr>
          <a:xfrm>
            <a:off x="9985248" y="1947672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多智能体协作</a:t>
            </a:r>
            <a:endParaRPr lang="en-US" sz="1050" dirty="0"/>
          </a:p>
        </p:txBody>
      </p:sp>
      <p:sp>
        <p:nvSpPr>
          <p:cNvPr id="14" name="A02_0243_layer"/>
          <p:cNvSpPr/>
          <p:nvPr/>
        </p:nvSpPr>
        <p:spPr>
          <a:xfrm>
            <a:off x="658368" y="3099816"/>
            <a:ext cx="10881360" cy="1426464"/>
          </a:xfrm>
          <a:prstGeom prst="rect">
            <a:avLst/>
          </a:prstGeom>
          <a:solidFill>
            <a:srgbClr val="DDECE6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A02_0244_text"/>
          <p:cNvSpPr/>
          <p:nvPr/>
        </p:nvSpPr>
        <p:spPr>
          <a:xfrm>
            <a:off x="932688" y="3282696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A02_0245_text"/>
          <p:cNvSpPr/>
          <p:nvPr/>
        </p:nvSpPr>
        <p:spPr>
          <a:xfrm>
            <a:off x="1481328" y="3300984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工具把事实算清</a:t>
            </a:r>
            <a:endParaRPr lang="en-US" sz="2100" dirty="0"/>
          </a:p>
        </p:txBody>
      </p:sp>
      <p:sp>
        <p:nvSpPr>
          <p:cNvPr id="17" name="A02_0246_text"/>
          <p:cNvSpPr/>
          <p:nvPr/>
        </p:nvSpPr>
        <p:spPr>
          <a:xfrm>
            <a:off x="4645152" y="3282696"/>
            <a:ext cx="5084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课表、教室、时间、容量与风险都由确定性工具查询和计算，模型不能自行猜。</a:t>
            </a:r>
            <a:endParaRPr lang="en-US" sz="1240" dirty="0"/>
          </a:p>
        </p:txBody>
      </p:sp>
      <p:sp>
        <p:nvSpPr>
          <p:cNvPr id="18" name="A02_0247_text"/>
          <p:cNvSpPr/>
          <p:nvPr/>
        </p:nvSpPr>
        <p:spPr>
          <a:xfrm>
            <a:off x="9985248" y="330098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CampusTools</a:t>
            </a:r>
            <a:endParaRPr lang="en-US" sz="1050" dirty="0"/>
          </a:p>
        </p:txBody>
      </p:sp>
      <p:sp>
        <p:nvSpPr>
          <p:cNvPr id="19" name="A03_0248_layer"/>
          <p:cNvSpPr/>
          <p:nvPr/>
        </p:nvSpPr>
        <p:spPr>
          <a:xfrm>
            <a:off x="658368" y="4654296"/>
            <a:ext cx="10881360" cy="1225296"/>
          </a:xfrm>
          <a:prstGeom prst="rect">
            <a:avLst/>
          </a:prstGeom>
          <a:solidFill>
            <a:srgbClr val="DFE8F0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A03_0249_text"/>
          <p:cNvSpPr/>
          <p:nvPr/>
        </p:nvSpPr>
        <p:spPr>
          <a:xfrm>
            <a:off x="932688" y="4837176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A03_0250_text"/>
          <p:cNvSpPr/>
          <p:nvPr/>
        </p:nvSpPr>
        <p:spPr>
          <a:xfrm>
            <a:off x="1481328" y="4855464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结果让人放心复核</a:t>
            </a:r>
            <a:endParaRPr lang="en-US" sz="2100" dirty="0"/>
          </a:p>
        </p:txBody>
      </p:sp>
      <p:sp>
        <p:nvSpPr>
          <p:cNvPr id="22" name="A03_0251_text"/>
          <p:cNvSpPr/>
          <p:nvPr/>
        </p:nvSpPr>
        <p:spPr>
          <a:xfrm>
            <a:off x="4645152" y="4837176"/>
            <a:ext cx="5084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结论、提醒和证据一起进入统一结果卡；失败时不会伪装成成功。</a:t>
            </a:r>
            <a:endParaRPr lang="en-US" sz="1240" dirty="0"/>
          </a:p>
        </p:txBody>
      </p:sp>
      <p:sp>
        <p:nvSpPr>
          <p:cNvPr id="23" name="A03_0252_text"/>
          <p:cNvSpPr/>
          <p:nvPr/>
        </p:nvSpPr>
        <p:spPr>
          <a:xfrm>
            <a:off x="9985248" y="485546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结果卡与证据</a:t>
            </a:r>
            <a:endParaRPr lang="en-US" sz="1050" dirty="0"/>
          </a:p>
        </p:txBody>
      </p:sp>
      <p:sp>
        <p:nvSpPr>
          <p:cNvPr id="24" name="A04_0253_text"/>
          <p:cNvSpPr/>
          <p:nvPr/>
        </p:nvSpPr>
        <p:spPr>
          <a:xfrm>
            <a:off x="3922776" y="6007608"/>
            <a:ext cx="4315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听懂人话 + 算清事实 + 说清证据</a:t>
            </a:r>
            <a:endParaRPr lang="en-US" sz="13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54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55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56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真实落地与推广价值</a:t>
            </a:r>
            <a:endParaRPr lang="en-US" sz="1000" dirty="0"/>
          </a:p>
        </p:txBody>
      </p:sp>
      <p:sp>
        <p:nvSpPr>
          <p:cNvPr id="5" name="S00_0257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1500+ 真实用户，证明这不是一页概念稿</a:t>
            </a:r>
            <a:endParaRPr lang="en-US" sz="2700" dirty="0"/>
          </a:p>
        </p:txBody>
      </p:sp>
      <p:sp>
        <p:nvSpPr>
          <p:cNvPr id="6" name="S00_0258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只呈现已发生的真实使用，不虚构活跃度、满意度或增长率。</a:t>
            </a:r>
            <a:endParaRPr lang="en-US" sz="1220" dirty="0"/>
          </a:p>
        </p:txBody>
      </p:sp>
      <p:sp>
        <p:nvSpPr>
          <p:cNvPr id="7" name="S00_0259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60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9" name="A01_0261_text"/>
          <p:cNvSpPr/>
          <p:nvPr/>
        </p:nvSpPr>
        <p:spPr>
          <a:xfrm>
            <a:off x="640080" y="1719072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1500+</a:t>
            </a:r>
            <a:endParaRPr lang="en-US" sz="6000" dirty="0"/>
          </a:p>
        </p:txBody>
      </p:sp>
      <p:sp>
        <p:nvSpPr>
          <p:cNvPr id="10" name="A01_0262_text"/>
          <p:cNvSpPr/>
          <p:nvPr/>
        </p:nvSpPr>
        <p:spPr>
          <a:xfrm>
            <a:off x="694944" y="2642616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累计真实用户</a:t>
            </a:r>
            <a:endParaRPr lang="en-US" sz="1700" dirty="0"/>
          </a:p>
        </p:txBody>
      </p:sp>
      <p:sp>
        <p:nvSpPr>
          <p:cNvPr id="11" name="A02_0263_text"/>
          <p:cNvSpPr/>
          <p:nvPr/>
        </p:nvSpPr>
        <p:spPr>
          <a:xfrm>
            <a:off x="713232" y="3108960"/>
            <a:ext cx="3127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已在真实校园教学服务场景投入使用。</a:t>
            </a:r>
            <a:endParaRPr lang="en-US" sz="1300" dirty="0"/>
          </a:p>
        </p:txBody>
      </p:sp>
      <p:sp>
        <p:nvSpPr>
          <p:cNvPr id="12" name="A02_0264_line"/>
          <p:cNvSpPr/>
          <p:nvPr/>
        </p:nvSpPr>
        <p:spPr>
          <a:xfrm>
            <a:off x="713232" y="3794760"/>
            <a:ext cx="3081528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13" name="A03_0265_text"/>
          <p:cNvSpPr/>
          <p:nvPr/>
        </p:nvSpPr>
        <p:spPr>
          <a:xfrm>
            <a:off x="731520" y="405079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900" dirty="0"/>
          </a:p>
        </p:txBody>
      </p:sp>
      <p:sp>
        <p:nvSpPr>
          <p:cNvPr id="14" name="A03_0266_text"/>
          <p:cNvSpPr/>
          <p:nvPr/>
        </p:nvSpPr>
        <p:spPr>
          <a:xfrm>
            <a:off x="1207008" y="4050792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教师排课辅助</a:t>
            </a:r>
            <a:endParaRPr lang="en-US" sz="1220" dirty="0"/>
          </a:p>
        </p:txBody>
      </p:sp>
      <p:sp>
        <p:nvSpPr>
          <p:cNvPr id="15" name="A03_0267_text"/>
          <p:cNvSpPr/>
          <p:nvPr/>
        </p:nvSpPr>
        <p:spPr>
          <a:xfrm>
            <a:off x="731520" y="448970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A03_0268_text"/>
          <p:cNvSpPr/>
          <p:nvPr/>
        </p:nvSpPr>
        <p:spPr>
          <a:xfrm>
            <a:off x="1207008" y="448970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教室资源使用</a:t>
            </a:r>
            <a:endParaRPr lang="en-US" sz="1220" dirty="0"/>
          </a:p>
        </p:txBody>
      </p:sp>
      <p:sp>
        <p:nvSpPr>
          <p:cNvPr id="17" name="A03_0269_text"/>
          <p:cNvSpPr/>
          <p:nvPr/>
        </p:nvSpPr>
        <p:spPr>
          <a:xfrm>
            <a:off x="731520" y="492861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A03_0270_text"/>
          <p:cNvSpPr/>
          <p:nvPr/>
        </p:nvSpPr>
        <p:spPr>
          <a:xfrm>
            <a:off x="1207008" y="492861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学生自然语言查询</a:t>
            </a:r>
            <a:endParaRPr lang="en-US" sz="1220" dirty="0"/>
          </a:p>
        </p:txBody>
      </p:sp>
      <p:sp>
        <p:nvSpPr>
          <p:cNvPr id="19" name="A03_0271_text"/>
          <p:cNvSpPr/>
          <p:nvPr/>
        </p:nvSpPr>
        <p:spPr>
          <a:xfrm>
            <a:off x="731520" y="536752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A03_0272_text"/>
          <p:cNvSpPr/>
          <p:nvPr/>
        </p:nvSpPr>
        <p:spPr>
          <a:xfrm>
            <a:off x="1207008" y="53675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教学管理与校园态势</a:t>
            </a:r>
            <a:endParaRPr lang="en-US" sz="1220" dirty="0"/>
          </a:p>
        </p:txBody>
      </p:sp>
      <p:sp>
        <p:nvSpPr>
          <p:cNvPr id="21" name="A04_0273_screen-base"/>
          <p:cNvSpPr/>
          <p:nvPr/>
        </p:nvSpPr>
        <p:spPr>
          <a:xfrm>
            <a:off x="4261104" y="1682496"/>
            <a:ext cx="7351776" cy="449884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2" name="A04_0274_screen-image" descr="competition-project\competition\final-delivery\assets\portal-home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19072"/>
            <a:ext cx="7278624" cy="4425696"/>
          </a:xfrm>
          <a:prstGeom prst="rect">
            <a:avLst/>
          </a:prstGeom>
        </p:spPr>
      </p:pic>
      <p:sp>
        <p:nvSpPr>
          <p:cNvPr id="23" name="A05_0275_text"/>
          <p:cNvSpPr/>
          <p:nvPr/>
        </p:nvSpPr>
        <p:spPr>
          <a:xfrm>
            <a:off x="7699248" y="5925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可直接体验的真实产品界面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1E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76_background-field"/>
          <p:cNvSpPr/>
          <p:nvPr/>
        </p:nvSpPr>
        <p:spPr>
          <a:xfrm>
            <a:off x="7315200" y="-1005840"/>
            <a:ext cx="6217920" cy="6217920"/>
          </a:xfrm>
          <a:prstGeom prst="ellipse">
            <a:avLst/>
          </a:prstGeom>
          <a:solidFill>
            <a:srgbClr val="E65442">
              <a:alpha val="5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77_background-field"/>
          <p:cNvSpPr/>
          <p:nvPr/>
        </p:nvSpPr>
        <p:spPr>
          <a:xfrm>
            <a:off x="8229600" y="0"/>
            <a:ext cx="4480560" cy="4480560"/>
          </a:xfrm>
          <a:prstGeom prst="ellipse">
            <a:avLst/>
          </a:prstGeom>
          <a:solidFill>
            <a:srgbClr val="B96B2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00_0278_text"/>
          <p:cNvSpPr/>
          <p:nvPr/>
        </p:nvSpPr>
        <p:spPr>
          <a:xfrm>
            <a:off x="566928" y="2834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在线体验</a:t>
            </a:r>
            <a:endParaRPr lang="en-US" sz="1000" dirty="0"/>
          </a:p>
        </p:txBody>
      </p:sp>
      <p:sp>
        <p:nvSpPr>
          <p:cNvPr id="5" name="A01_0279_text"/>
          <p:cNvSpPr/>
          <p:nvPr/>
        </p:nvSpPr>
        <p:spPr>
          <a:xfrm>
            <a:off x="566928" y="704088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评委可以直接问，</a:t>
            </a:r>
            <a:endParaRPr lang="en-US" sz="2900" dirty="0"/>
          </a:p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不需要先懂配置。</a:t>
            </a:r>
            <a:endParaRPr lang="en-US" sz="2900" dirty="0"/>
          </a:p>
        </p:txBody>
      </p:sp>
      <p:sp>
        <p:nvSpPr>
          <p:cNvPr id="6" name="A01_0280_text"/>
          <p:cNvSpPr/>
          <p:nvPr/>
        </p:nvSpPr>
        <p:spPr>
          <a:xfrm>
            <a:off x="603504" y="2002536"/>
            <a:ext cx="4809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9DDD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首页、真实体验与已核验结果卡均可匿名访问。</a:t>
            </a:r>
            <a:endParaRPr lang="en-US" sz="1300" dirty="0"/>
          </a:p>
        </p:txBody>
      </p:sp>
      <p:sp>
        <p:nvSpPr>
          <p:cNvPr id="7" name="A02_0281_screen-base"/>
          <p:cNvSpPr/>
          <p:nvPr/>
        </p:nvSpPr>
        <p:spPr>
          <a:xfrm>
            <a:off x="566928" y="2624328"/>
            <a:ext cx="3383280" cy="192938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8" name="A02_0282_screen-image" descr="competition-project\competition\final-delivery\assets\portal-capability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660904"/>
            <a:ext cx="3310128" cy="1856232"/>
          </a:xfrm>
          <a:prstGeom prst="rect">
            <a:avLst/>
          </a:prstGeom>
        </p:spPr>
      </p:pic>
      <p:sp>
        <p:nvSpPr>
          <p:cNvPr id="9" name="A03_0283_screen-base"/>
          <p:cNvSpPr/>
          <p:nvPr/>
        </p:nvSpPr>
        <p:spPr>
          <a:xfrm>
            <a:off x="4078224" y="2624328"/>
            <a:ext cx="3383280" cy="192938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0" name="A03_0284_screen-image" descr="competition-project\competition\final-delivery\assets\portal-experience-1920x1080-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660904"/>
            <a:ext cx="3310128" cy="1856232"/>
          </a:xfrm>
          <a:prstGeom prst="rect">
            <a:avLst/>
          </a:prstGeom>
        </p:spPr>
      </p:pic>
      <p:sp>
        <p:nvSpPr>
          <p:cNvPr id="11" name="A04_0285_screen-base"/>
          <p:cNvSpPr/>
          <p:nvPr/>
        </p:nvSpPr>
        <p:spPr>
          <a:xfrm>
            <a:off x="7589520" y="2624328"/>
            <a:ext cx="3383280" cy="192938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2" name="A04_0286_screen-image" descr="competition-project\competition\final-delivery\assets\portal-verified-widget-1920x1080-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096" y="2660904"/>
            <a:ext cx="3310128" cy="1856232"/>
          </a:xfrm>
          <a:prstGeom prst="rect">
            <a:avLst/>
          </a:prstGeom>
        </p:spPr>
      </p:pic>
      <p:pic>
        <p:nvPicPr>
          <p:cNvPr id="13" name="A05_0287_qr" descr="competition-project\competition\final-delivery\assets\在线演示二维码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0656" y="4736592"/>
            <a:ext cx="1389888" cy="1389888"/>
          </a:xfrm>
          <a:prstGeom prst="rect">
            <a:avLst/>
          </a:prstGeom>
        </p:spPr>
      </p:pic>
      <p:sp>
        <p:nvSpPr>
          <p:cNvPr id="14" name="A05_0288_text"/>
          <p:cNvSpPr/>
          <p:nvPr/>
        </p:nvSpPr>
        <p:spPr>
          <a:xfrm>
            <a:off x="8284464" y="484632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扫码体验</a:t>
            </a:r>
            <a:endParaRPr lang="en-US" sz="1600" dirty="0"/>
          </a:p>
        </p:txBody>
      </p:sp>
      <p:sp>
        <p:nvSpPr>
          <p:cNvPr id="15" name="A05_0289_text"/>
          <p:cNvSpPr/>
          <p:nvPr/>
        </p:nvSpPr>
        <p:spPr>
          <a:xfrm>
            <a:off x="7836408" y="5294376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9FDBC8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无需测试账号</a:t>
            </a:r>
            <a:endParaRPr lang="en-US" sz="1150" dirty="0"/>
          </a:p>
        </p:txBody>
      </p:sp>
      <p:sp>
        <p:nvSpPr>
          <p:cNvPr id="16" name="A06_0290_text"/>
          <p:cNvSpPr/>
          <p:nvPr/>
        </p:nvSpPr>
        <p:spPr>
          <a:xfrm>
            <a:off x="603504" y="5074920"/>
            <a:ext cx="6995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D3C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让教学时空，被理解、被安排。</a:t>
            </a:r>
            <a:endParaRPr lang="en-US" sz="2400" dirty="0"/>
          </a:p>
        </p:txBody>
      </p:sp>
      <p:sp>
        <p:nvSpPr>
          <p:cNvPr id="17" name="A06_0291_text"/>
          <p:cNvSpPr/>
          <p:nvPr/>
        </p:nvSpPr>
        <p:spPr>
          <a:xfrm>
            <a:off x="621792" y="5760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adp.katelya.top</a:t>
            </a:r>
            <a:endParaRPr lang="en-US" sz="1200" dirty="0"/>
          </a:p>
        </p:txBody>
      </p:sp>
      <p:sp>
        <p:nvSpPr>
          <p:cNvPr id="18" name="S00_0292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19" name="S00_0293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12 / 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587</Words>
  <Application>Microsoft Office PowerPoint</Application>
  <PresentationFormat>宽屏</PresentationFormat>
  <Paragraphs>216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MiSans</vt:lpstr>
      <vt:lpstr>Noto Serif SC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校园智序·小序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校园智序·小序—答辩</dc:title>
  <dc:subject>校园教学任务智能体比赛答辩</dc:subject>
  <dc:creator>校园智序·小序</dc:creator>
  <cp:lastModifiedBy>校园智序·小序</cp:lastModifiedBy>
  <cp:revision>2</cp:revision>
  <dcterms:created xsi:type="dcterms:W3CDTF">2026-08-29T04:41:36Z</dcterms:created>
  <dcterms:modified xsi:type="dcterms:W3CDTF">2026-08-29T04:41:47Z</dcterms:modified>
</cp:coreProperties>
</file>