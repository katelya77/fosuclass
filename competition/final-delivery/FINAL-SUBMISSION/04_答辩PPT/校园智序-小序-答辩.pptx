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3518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1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0_0001_background-field"/>
          <p:cNvSpPr/>
          <p:nvPr/>
        </p:nvSpPr>
        <p:spPr>
          <a:xfrm>
            <a:off x="7315200" y="-1005840"/>
            <a:ext cx="6217920" cy="6217920"/>
          </a:xfrm>
          <a:prstGeom prst="ellipse">
            <a:avLst/>
          </a:prstGeom>
          <a:solidFill>
            <a:srgbClr val="E65442">
              <a:alpha val="5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00_0002_background-field"/>
          <p:cNvSpPr/>
          <p:nvPr/>
        </p:nvSpPr>
        <p:spPr>
          <a:xfrm>
            <a:off x="8229600" y="0"/>
            <a:ext cx="4480560" cy="4480560"/>
          </a:xfrm>
          <a:prstGeom prst="ellipse">
            <a:avLst/>
          </a:prstGeom>
          <a:solidFill>
            <a:srgbClr val="B96B2E">
              <a:alpha val="2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S00_0003_logo" descr="platform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85216"/>
            <a:ext cx="914400" cy="914400"/>
          </a:xfrm>
          <a:prstGeom prst="rect">
            <a:avLst/>
          </a:prstGeom>
        </p:spPr>
      </p:pic>
      <p:sp>
        <p:nvSpPr>
          <p:cNvPr id="5" name="S00_0004_text"/>
          <p:cNvSpPr/>
          <p:nvPr/>
        </p:nvSpPr>
        <p:spPr>
          <a:xfrm>
            <a:off x="8394192" y="320040"/>
            <a:ext cx="338328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0" b="1" dirty="0">
                <a:solidFill>
                  <a:srgbClr val="FFFFFF">
                    <a:alpha val="12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序</a:t>
            </a:r>
            <a:endParaRPr lang="en-US" sz="22000" dirty="0"/>
          </a:p>
        </p:txBody>
      </p:sp>
      <p:sp>
        <p:nvSpPr>
          <p:cNvPr id="6" name="A01_0005_text"/>
          <p:cNvSpPr/>
          <p:nvPr/>
        </p:nvSpPr>
        <p:spPr>
          <a:xfrm>
            <a:off x="713232" y="1719072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校园智序·小序</a:t>
            </a:r>
            <a:endParaRPr lang="en-US" sz="3900" dirty="0"/>
          </a:p>
        </p:txBody>
      </p:sp>
      <p:sp>
        <p:nvSpPr>
          <p:cNvPr id="7" name="A02_0006_text"/>
          <p:cNvSpPr/>
          <p:nvPr/>
        </p:nvSpPr>
        <p:spPr>
          <a:xfrm>
            <a:off x="713232" y="2670048"/>
            <a:ext cx="7223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D9C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面向学生、教师与教学管理者的</a:t>
            </a:r>
            <a:endParaRPr lang="en-US" sz="2500" dirty="0"/>
          </a:p>
          <a:p>
            <a:pPr marL="0" indent="0" algn="l">
              <a:buNone/>
            </a:pPr>
            <a:r>
              <a:rPr lang="en-US" sz="2500" b="1" dirty="0">
                <a:solidFill>
                  <a:srgbClr val="FFD9C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校园教学时空资源智能体</a:t>
            </a:r>
            <a:endParaRPr lang="en-US" sz="2500" dirty="0"/>
          </a:p>
        </p:txBody>
      </p:sp>
      <p:sp>
        <p:nvSpPr>
          <p:cNvPr id="8" name="A03_0007_line"/>
          <p:cNvSpPr/>
          <p:nvPr/>
        </p:nvSpPr>
        <p:spPr>
          <a:xfrm>
            <a:off x="731520" y="4261104"/>
            <a:ext cx="4389120" cy="0"/>
          </a:xfrm>
          <a:prstGeom prst="line">
            <a:avLst/>
          </a:prstGeom>
          <a:noFill/>
          <a:ln w="16510">
            <a:solidFill>
              <a:srgbClr val="E89989"/>
            </a:solidFill>
            <a:prstDash val="solid"/>
          </a:ln>
        </p:spPr>
      </p:sp>
      <p:sp>
        <p:nvSpPr>
          <p:cNvPr id="9" name="A03_0008_text"/>
          <p:cNvSpPr/>
          <p:nvPr/>
        </p:nvSpPr>
        <p:spPr>
          <a:xfrm>
            <a:off x="731520" y="4425696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2E8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一句自然语言，统一完成课表查询、空间查找、多人协同、调课核验与教学运行分析。</a:t>
            </a:r>
            <a:endParaRPr lang="en-US" sz="1350" dirty="0"/>
          </a:p>
        </p:txBody>
      </p:sp>
      <p:sp>
        <p:nvSpPr>
          <p:cNvPr id="10" name="A04_0009_text"/>
          <p:cNvSpPr/>
          <p:nvPr/>
        </p:nvSpPr>
        <p:spPr>
          <a:xfrm>
            <a:off x="731520" y="508406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让教学时空，被理解、被安排。</a:t>
            </a:r>
            <a:endParaRPr lang="en-US" sz="1900" dirty="0"/>
          </a:p>
        </p:txBody>
      </p:sp>
      <p:sp>
        <p:nvSpPr>
          <p:cNvPr id="11" name="S00_0010_text"/>
          <p:cNvSpPr/>
          <p:nvPr/>
        </p:nvSpPr>
        <p:spPr>
          <a:xfrm>
            <a:off x="512064" y="651052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D8CDC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校园智序·小序</a:t>
            </a:r>
            <a:endParaRPr lang="en-US" sz="850" dirty="0"/>
          </a:p>
        </p:txBody>
      </p:sp>
      <p:sp>
        <p:nvSpPr>
          <p:cNvPr id="12" name="S00_0011_text"/>
          <p:cNvSpPr/>
          <p:nvPr/>
        </p:nvSpPr>
        <p:spPr>
          <a:xfrm>
            <a:off x="10899648" y="6510528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D8CDC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 / 12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0_0012_background-field"/>
          <p:cNvSpPr/>
          <p:nvPr/>
        </p:nvSpPr>
        <p:spPr>
          <a:xfrm>
            <a:off x="-1600200" y="4434840"/>
            <a:ext cx="5303520" cy="3749040"/>
          </a:xfrm>
          <a:prstGeom prst="ellipse">
            <a:avLst/>
          </a:prstGeom>
          <a:solidFill>
            <a:srgbClr val="F6DED8">
              <a:alpha val="3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00_0013_background-arc"/>
          <p:cNvSpPr/>
          <p:nvPr/>
        </p:nvSpPr>
        <p:spPr>
          <a:xfrm rot="11880000">
            <a:off x="9326880" y="-548640"/>
            <a:ext cx="3291840" cy="2286000"/>
          </a:xfrm>
          <a:prstGeom prst="arc">
            <a:avLst/>
          </a:prstGeom>
          <a:solidFill>
            <a:srgbClr val="FFFFFF">
              <a:alpha val="0"/>
            </a:srgbClr>
          </a:solidFill>
          <a:ln w="13970">
            <a:solidFill>
              <a:srgbClr val="E65442">
                <a:alpha val="30000"/>
              </a:srgbClr>
            </a:solidFill>
            <a:prstDash val="solid"/>
          </a:ln>
        </p:spPr>
      </p:sp>
      <p:sp>
        <p:nvSpPr>
          <p:cNvPr id="4" name="S00_0014_text"/>
          <p:cNvSpPr/>
          <p:nvPr/>
        </p:nvSpPr>
        <p:spPr>
          <a:xfrm>
            <a:off x="530352" y="2560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70" dirty="0">
                <a:solidFill>
                  <a:srgbClr val="E654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它从哪里来</a:t>
            </a:r>
            <a:endParaRPr lang="en-US" sz="1000" dirty="0"/>
          </a:p>
        </p:txBody>
      </p:sp>
      <p:sp>
        <p:nvSpPr>
          <p:cNvPr id="5" name="S00_0015_text"/>
          <p:cNvSpPr/>
          <p:nvPr/>
        </p:nvSpPr>
        <p:spPr>
          <a:xfrm>
            <a:off x="512064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11E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从真实使用的课表服务里长出来</a:t>
            </a:r>
            <a:endParaRPr lang="en-US" sz="2700" dirty="0"/>
          </a:p>
        </p:txBody>
      </p:sp>
      <p:sp>
        <p:nvSpPr>
          <p:cNvPr id="6" name="S00_0016_text"/>
          <p:cNvSpPr/>
          <p:nvPr/>
        </p:nvSpPr>
        <p:spPr>
          <a:xfrm>
            <a:off x="530352" y="1207008"/>
            <a:ext cx="10881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544B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项目源于已经真实投入使用的校园课表服务；真实需求让作品不断生长。</a:t>
            </a:r>
            <a:endParaRPr lang="en-US" sz="1220" dirty="0"/>
          </a:p>
        </p:txBody>
      </p:sp>
      <p:sp>
        <p:nvSpPr>
          <p:cNvPr id="7" name="S00_0017_text"/>
          <p:cNvSpPr/>
          <p:nvPr/>
        </p:nvSpPr>
        <p:spPr>
          <a:xfrm>
            <a:off x="512064" y="651052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887C7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校园智序·小序</a:t>
            </a:r>
            <a:endParaRPr lang="en-US" sz="850" dirty="0"/>
          </a:p>
        </p:txBody>
      </p:sp>
      <p:sp>
        <p:nvSpPr>
          <p:cNvPr id="8" name="S00_0018_text"/>
          <p:cNvSpPr/>
          <p:nvPr/>
        </p:nvSpPr>
        <p:spPr>
          <a:xfrm>
            <a:off x="10899648" y="6510528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887C7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 / 12</a:t>
            </a:r>
            <a:endParaRPr lang="en-US" sz="850" dirty="0"/>
          </a:p>
        </p:txBody>
      </p:sp>
      <p:sp>
        <p:nvSpPr>
          <p:cNvPr id="9" name="A01_0019_text"/>
          <p:cNvSpPr/>
          <p:nvPr/>
        </p:nvSpPr>
        <p:spPr>
          <a:xfrm>
            <a:off x="603504" y="1700784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B83E3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1500+</a:t>
            </a:r>
            <a:endParaRPr lang="en-US" sz="6000" dirty="0"/>
          </a:p>
        </p:txBody>
      </p:sp>
      <p:sp>
        <p:nvSpPr>
          <p:cNvPr id="10" name="A01_0020_text"/>
          <p:cNvSpPr/>
          <p:nvPr/>
        </p:nvSpPr>
        <p:spPr>
          <a:xfrm>
            <a:off x="658368" y="263347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11E1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底层课表服务累计用户</a:t>
            </a:r>
            <a:endParaRPr lang="en-US" sz="1600" dirty="0"/>
          </a:p>
        </p:txBody>
      </p:sp>
      <p:sp>
        <p:nvSpPr>
          <p:cNvPr id="11" name="A02_0021_text"/>
          <p:cNvSpPr/>
          <p:nvPr/>
        </p:nvSpPr>
        <p:spPr>
          <a:xfrm>
            <a:off x="676656" y="320040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B83E3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查到课表，只是第一步。</a:t>
            </a:r>
            <a:endParaRPr lang="en-US" sz="2400" dirty="0"/>
          </a:p>
        </p:txBody>
      </p:sp>
      <p:sp>
        <p:nvSpPr>
          <p:cNvPr id="12" name="A02_0022_line"/>
          <p:cNvSpPr/>
          <p:nvPr/>
        </p:nvSpPr>
        <p:spPr>
          <a:xfrm>
            <a:off x="713232" y="3877056"/>
            <a:ext cx="3154680" cy="0"/>
          </a:xfrm>
          <a:prstGeom prst="line">
            <a:avLst/>
          </a:prstGeom>
          <a:noFill/>
          <a:ln w="27940">
            <a:solidFill>
              <a:srgbClr val="E65442"/>
            </a:solidFill>
            <a:prstDash val="solid"/>
          </a:ln>
        </p:spPr>
      </p:sp>
      <p:sp>
        <p:nvSpPr>
          <p:cNvPr id="13" name="A03_0023_text"/>
          <p:cNvSpPr/>
          <p:nvPr/>
        </p:nvSpPr>
        <p:spPr>
          <a:xfrm>
            <a:off x="731520" y="407822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B83E3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谁有空？</a:t>
            </a:r>
            <a:endParaRPr lang="en-US" sz="1650" dirty="0"/>
          </a:p>
        </p:txBody>
      </p:sp>
      <p:sp>
        <p:nvSpPr>
          <p:cNvPr id="14" name="A03_0024_text"/>
          <p:cNvSpPr/>
          <p:nvPr/>
        </p:nvSpPr>
        <p:spPr>
          <a:xfrm>
            <a:off x="731520" y="44988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B96B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哪里有空？</a:t>
            </a:r>
            <a:endParaRPr lang="en-US" sz="1650" dirty="0"/>
          </a:p>
        </p:txBody>
      </p:sp>
      <p:sp>
        <p:nvSpPr>
          <p:cNvPr id="15" name="A03_0025_text"/>
          <p:cNvSpPr/>
          <p:nvPr/>
        </p:nvSpPr>
        <p:spPr>
          <a:xfrm>
            <a:off x="731520" y="49194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B83E3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会不会赶不及？</a:t>
            </a:r>
            <a:endParaRPr lang="en-US" sz="1650" dirty="0"/>
          </a:p>
        </p:txBody>
      </p:sp>
      <p:sp>
        <p:nvSpPr>
          <p:cNvPr id="16" name="A03_0026_text"/>
          <p:cNvSpPr/>
          <p:nvPr/>
        </p:nvSpPr>
        <p:spPr>
          <a:xfrm>
            <a:off x="731520" y="534009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B96B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能不能调？</a:t>
            </a:r>
            <a:endParaRPr lang="en-US" sz="1650" dirty="0"/>
          </a:p>
        </p:txBody>
      </p:sp>
      <p:sp>
        <p:nvSpPr>
          <p:cNvPr id="17" name="A03_0027_text"/>
          <p:cNvSpPr/>
          <p:nvPr/>
        </p:nvSpPr>
        <p:spPr>
          <a:xfrm>
            <a:off x="731520" y="5760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B83E3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哪里最忙？</a:t>
            </a:r>
            <a:endParaRPr lang="en-US" sz="1650" dirty="0"/>
          </a:p>
        </p:txBody>
      </p:sp>
      <p:sp>
        <p:nvSpPr>
          <p:cNvPr id="18" name="A04_0028_relation-node"/>
          <p:cNvSpPr/>
          <p:nvPr/>
        </p:nvSpPr>
        <p:spPr>
          <a:xfrm>
            <a:off x="4754880" y="1883664"/>
            <a:ext cx="1097280" cy="1097280"/>
          </a:xfrm>
          <a:prstGeom prst="ellipse">
            <a:avLst/>
          </a:prstGeom>
          <a:solidFill>
            <a:srgbClr val="FBF7F1">
              <a:alpha val="96000"/>
            </a:srgbClr>
          </a:solidFill>
          <a:ln w="19050">
            <a:solidFill>
              <a:srgbClr val="E65442"/>
            </a:solidFill>
            <a:prstDash val="solid"/>
          </a:ln>
        </p:spPr>
      </p:sp>
      <p:sp>
        <p:nvSpPr>
          <p:cNvPr id="19" name="A04_0029_text"/>
          <p:cNvSpPr/>
          <p:nvPr/>
        </p:nvSpPr>
        <p:spPr>
          <a:xfrm>
            <a:off x="4754880" y="222199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54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课程</a:t>
            </a:r>
            <a:endParaRPr lang="en-US" sz="1500" dirty="0"/>
          </a:p>
        </p:txBody>
      </p:sp>
      <p:sp>
        <p:nvSpPr>
          <p:cNvPr id="20" name="A04_0030_arrow"/>
          <p:cNvSpPr/>
          <p:nvPr/>
        </p:nvSpPr>
        <p:spPr>
          <a:xfrm>
            <a:off x="5303520" y="2432304"/>
            <a:ext cx="2231136" cy="832104"/>
          </a:xfrm>
          <a:prstGeom prst="line">
            <a:avLst/>
          </a:prstGeom>
          <a:noFill/>
          <a:ln w="12700">
            <a:solidFill>
              <a:srgbClr val="DDD2CA"/>
            </a:solidFill>
            <a:prstDash val="solid"/>
            <a:headEnd type="none"/>
            <a:tailEnd type="triangle"/>
          </a:ln>
        </p:spPr>
      </p:sp>
      <p:sp>
        <p:nvSpPr>
          <p:cNvPr id="21" name="A04_0031_relation-node"/>
          <p:cNvSpPr/>
          <p:nvPr/>
        </p:nvSpPr>
        <p:spPr>
          <a:xfrm>
            <a:off x="7379208" y="1719072"/>
            <a:ext cx="1097280" cy="1097280"/>
          </a:xfrm>
          <a:prstGeom prst="ellipse">
            <a:avLst/>
          </a:prstGeom>
          <a:solidFill>
            <a:srgbClr val="FBF7F1">
              <a:alpha val="96000"/>
            </a:srgbClr>
          </a:solidFill>
          <a:ln w="19050">
            <a:solidFill>
              <a:srgbClr val="B96B2E"/>
            </a:solidFill>
            <a:prstDash val="solid"/>
          </a:ln>
        </p:spPr>
      </p:sp>
      <p:sp>
        <p:nvSpPr>
          <p:cNvPr id="22" name="A04_0032_text"/>
          <p:cNvSpPr/>
          <p:nvPr/>
        </p:nvSpPr>
        <p:spPr>
          <a:xfrm>
            <a:off x="7379208" y="20574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96B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教师</a:t>
            </a:r>
            <a:endParaRPr lang="en-US" sz="1500" dirty="0"/>
          </a:p>
        </p:txBody>
      </p:sp>
      <p:sp>
        <p:nvSpPr>
          <p:cNvPr id="23" name="A04_0033_arrow"/>
          <p:cNvSpPr/>
          <p:nvPr/>
        </p:nvSpPr>
        <p:spPr>
          <a:xfrm flipH="1">
            <a:off x="7534656" y="2267712"/>
            <a:ext cx="393192" cy="996696"/>
          </a:xfrm>
          <a:prstGeom prst="line">
            <a:avLst/>
          </a:prstGeom>
          <a:noFill/>
          <a:ln w="12700">
            <a:solidFill>
              <a:srgbClr val="DDD2CA"/>
            </a:solidFill>
            <a:prstDash val="solid"/>
            <a:headEnd type="none"/>
            <a:tailEnd type="triangle"/>
          </a:ln>
        </p:spPr>
      </p:sp>
      <p:sp>
        <p:nvSpPr>
          <p:cNvPr id="24" name="A04_0034_relation-node"/>
          <p:cNvSpPr/>
          <p:nvPr/>
        </p:nvSpPr>
        <p:spPr>
          <a:xfrm>
            <a:off x="9802368" y="2139696"/>
            <a:ext cx="1097280" cy="1097280"/>
          </a:xfrm>
          <a:prstGeom prst="ellipse">
            <a:avLst/>
          </a:prstGeom>
          <a:solidFill>
            <a:srgbClr val="FBF7F1">
              <a:alpha val="96000"/>
            </a:srgbClr>
          </a:solidFill>
          <a:ln w="19050">
            <a:solidFill>
              <a:srgbClr val="507BA0"/>
            </a:solidFill>
            <a:prstDash val="solid"/>
          </a:ln>
        </p:spPr>
      </p:sp>
      <p:sp>
        <p:nvSpPr>
          <p:cNvPr id="25" name="A04_0035_text"/>
          <p:cNvSpPr/>
          <p:nvPr/>
        </p:nvSpPr>
        <p:spPr>
          <a:xfrm>
            <a:off x="9802368" y="247802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07BA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班级</a:t>
            </a:r>
            <a:endParaRPr lang="en-US" sz="1500" dirty="0"/>
          </a:p>
        </p:txBody>
      </p:sp>
      <p:sp>
        <p:nvSpPr>
          <p:cNvPr id="26" name="A04_0036_arrow"/>
          <p:cNvSpPr/>
          <p:nvPr/>
        </p:nvSpPr>
        <p:spPr>
          <a:xfrm flipH="1">
            <a:off x="7534656" y="2688336"/>
            <a:ext cx="2816352" cy="576072"/>
          </a:xfrm>
          <a:prstGeom prst="line">
            <a:avLst/>
          </a:prstGeom>
          <a:noFill/>
          <a:ln w="12700">
            <a:solidFill>
              <a:srgbClr val="DDD2CA"/>
            </a:solidFill>
            <a:prstDash val="solid"/>
            <a:headEnd type="none"/>
            <a:tailEnd type="triangle"/>
          </a:ln>
        </p:spPr>
      </p:sp>
      <p:sp>
        <p:nvSpPr>
          <p:cNvPr id="27" name="A04_0037_relation-node"/>
          <p:cNvSpPr/>
          <p:nvPr/>
        </p:nvSpPr>
        <p:spPr>
          <a:xfrm>
            <a:off x="5504688" y="4608576"/>
            <a:ext cx="1097280" cy="1097280"/>
          </a:xfrm>
          <a:prstGeom prst="ellipse">
            <a:avLst/>
          </a:prstGeom>
          <a:solidFill>
            <a:srgbClr val="FBF7F1">
              <a:alpha val="96000"/>
            </a:srgbClr>
          </a:solidFill>
          <a:ln w="19050">
            <a:solidFill>
              <a:srgbClr val="237F69"/>
            </a:solidFill>
            <a:prstDash val="solid"/>
          </a:ln>
        </p:spPr>
      </p:sp>
      <p:sp>
        <p:nvSpPr>
          <p:cNvPr id="28" name="A04_0038_text"/>
          <p:cNvSpPr/>
          <p:nvPr/>
        </p:nvSpPr>
        <p:spPr>
          <a:xfrm>
            <a:off x="5504688" y="494690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7F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教室</a:t>
            </a:r>
            <a:endParaRPr lang="en-US" sz="1500" dirty="0"/>
          </a:p>
        </p:txBody>
      </p:sp>
      <p:sp>
        <p:nvSpPr>
          <p:cNvPr id="29" name="A04_0039_arrow"/>
          <p:cNvSpPr/>
          <p:nvPr/>
        </p:nvSpPr>
        <p:spPr>
          <a:xfrm flipV="1">
            <a:off x="6053328" y="3264408"/>
            <a:ext cx="1481328" cy="1892808"/>
          </a:xfrm>
          <a:prstGeom prst="line">
            <a:avLst/>
          </a:prstGeom>
          <a:noFill/>
          <a:ln w="12700">
            <a:solidFill>
              <a:srgbClr val="DDD2CA"/>
            </a:solidFill>
            <a:prstDash val="solid"/>
            <a:headEnd type="none"/>
            <a:tailEnd type="triangle"/>
          </a:ln>
        </p:spPr>
      </p:sp>
      <p:sp>
        <p:nvSpPr>
          <p:cNvPr id="30" name="A04_0040_relation-node"/>
          <p:cNvSpPr/>
          <p:nvPr/>
        </p:nvSpPr>
        <p:spPr>
          <a:xfrm>
            <a:off x="8577072" y="4572000"/>
            <a:ext cx="1097280" cy="1097280"/>
          </a:xfrm>
          <a:prstGeom prst="ellipse">
            <a:avLst/>
          </a:prstGeom>
          <a:solidFill>
            <a:srgbClr val="FBF7F1">
              <a:alpha val="96000"/>
            </a:srgbClr>
          </a:solidFill>
          <a:ln w="19050">
            <a:solidFill>
              <a:srgbClr val="B83E32"/>
            </a:solidFill>
            <a:prstDash val="solid"/>
          </a:ln>
        </p:spPr>
      </p:sp>
      <p:sp>
        <p:nvSpPr>
          <p:cNvPr id="31" name="A04_0041_text"/>
          <p:cNvSpPr/>
          <p:nvPr/>
        </p:nvSpPr>
        <p:spPr>
          <a:xfrm>
            <a:off x="8577072" y="491032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83E3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</a:t>
            </a:r>
            <a:endParaRPr lang="en-US" sz="1500" dirty="0"/>
          </a:p>
        </p:txBody>
      </p:sp>
      <p:sp>
        <p:nvSpPr>
          <p:cNvPr id="32" name="A04_0042_arrow"/>
          <p:cNvSpPr/>
          <p:nvPr/>
        </p:nvSpPr>
        <p:spPr>
          <a:xfrm flipH="1" flipV="1">
            <a:off x="7534656" y="3264408"/>
            <a:ext cx="1591056" cy="1856232"/>
          </a:xfrm>
          <a:prstGeom prst="line">
            <a:avLst/>
          </a:prstGeom>
          <a:noFill/>
          <a:ln w="12700">
            <a:solidFill>
              <a:srgbClr val="DDD2CA"/>
            </a:solidFill>
            <a:prstDash val="solid"/>
            <a:headEnd type="none"/>
            <a:tailEnd type="triangle"/>
          </a:ln>
        </p:spPr>
      </p:sp>
      <p:sp>
        <p:nvSpPr>
          <p:cNvPr id="33" name="A05_0043_relation-center"/>
          <p:cNvSpPr/>
          <p:nvPr/>
        </p:nvSpPr>
        <p:spPr>
          <a:xfrm>
            <a:off x="6784848" y="2688336"/>
            <a:ext cx="1499616" cy="1152144"/>
          </a:xfrm>
          <a:prstGeom prst="ellipse">
            <a:avLst/>
          </a:prstGeom>
          <a:solidFill>
            <a:srgbClr val="E654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A05_0044_text"/>
          <p:cNvSpPr/>
          <p:nvPr/>
        </p:nvSpPr>
        <p:spPr>
          <a:xfrm>
            <a:off x="6821424" y="3081528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教学安排</a:t>
            </a:r>
            <a:endParaRPr lang="en-US" sz="1700" dirty="0"/>
          </a:p>
        </p:txBody>
      </p:sp>
      <p:sp>
        <p:nvSpPr>
          <p:cNvPr id="35" name="A06_0045_text"/>
          <p:cNvSpPr/>
          <p:nvPr/>
        </p:nvSpPr>
        <p:spPr>
          <a:xfrm>
            <a:off x="4956048" y="6053328"/>
            <a:ext cx="6355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B83E3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真实需求从“查得到”，长成“算得清、调得动、看得全”。</a:t>
            </a:r>
            <a:endParaRPr lang="en-US" sz="15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8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8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8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8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2" grpId="0" animBg="1"/>
      <p:bldP spid="25" grpId="0" animBg="1"/>
      <p:bldP spid="28" grpId="0" animBg="1"/>
      <p:bldP spid="31" grpId="0" animBg="1"/>
      <p:bldP spid="34" grpId="0" animBg="1"/>
      <p:bldP spid="3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0_0046_background-field"/>
          <p:cNvSpPr/>
          <p:nvPr/>
        </p:nvSpPr>
        <p:spPr>
          <a:xfrm>
            <a:off x="8641080" y="-1554480"/>
            <a:ext cx="5303520" cy="3749040"/>
          </a:xfrm>
          <a:prstGeom prst="ellipse">
            <a:avLst/>
          </a:prstGeom>
          <a:solidFill>
            <a:srgbClr val="F6E8D8">
              <a:alpha val="3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00_0047_background-arc"/>
          <p:cNvSpPr/>
          <p:nvPr/>
        </p:nvSpPr>
        <p:spPr>
          <a:xfrm rot="1080000">
            <a:off x="-640080" y="4389120"/>
            <a:ext cx="3291840" cy="2286000"/>
          </a:xfrm>
          <a:prstGeom prst="arc">
            <a:avLst/>
          </a:prstGeom>
          <a:solidFill>
            <a:srgbClr val="FFFFFF">
              <a:alpha val="0"/>
            </a:srgbClr>
          </a:solidFill>
          <a:ln w="13970">
            <a:solidFill>
              <a:srgbClr val="E65442">
                <a:alpha val="30000"/>
              </a:srgbClr>
            </a:solidFill>
            <a:prstDash val="solid"/>
          </a:ln>
        </p:spPr>
      </p:sp>
      <p:sp>
        <p:nvSpPr>
          <p:cNvPr id="4" name="S00_0048_text"/>
          <p:cNvSpPr/>
          <p:nvPr/>
        </p:nvSpPr>
        <p:spPr>
          <a:xfrm>
            <a:off x="530352" y="2560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70" dirty="0">
                <a:solidFill>
                  <a:srgbClr val="E654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谁在用它</a:t>
            </a:r>
            <a:endParaRPr lang="en-US" sz="1000" dirty="0"/>
          </a:p>
        </p:txBody>
      </p:sp>
      <p:sp>
        <p:nvSpPr>
          <p:cNvPr id="5" name="S00_0049_text"/>
          <p:cNvSpPr/>
          <p:nvPr/>
        </p:nvSpPr>
        <p:spPr>
          <a:xfrm>
            <a:off x="512064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11E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学生、教师与教学管理者</a:t>
            </a:r>
            <a:endParaRPr lang="en-US" sz="2700" dirty="0"/>
          </a:p>
        </p:txBody>
      </p:sp>
      <p:sp>
        <p:nvSpPr>
          <p:cNvPr id="6" name="S00_0050_text"/>
          <p:cNvSpPr/>
          <p:nvPr/>
        </p:nvSpPr>
        <p:spPr>
          <a:xfrm>
            <a:off x="530352" y="1207008"/>
            <a:ext cx="10881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544B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同一个系统，回答三类人每天最真实的问题。</a:t>
            </a:r>
            <a:endParaRPr lang="en-US" sz="1220" dirty="0"/>
          </a:p>
        </p:txBody>
      </p:sp>
      <p:sp>
        <p:nvSpPr>
          <p:cNvPr id="7" name="S00_0051_text"/>
          <p:cNvSpPr/>
          <p:nvPr/>
        </p:nvSpPr>
        <p:spPr>
          <a:xfrm>
            <a:off x="512064" y="651052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887C7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校园智序·小序</a:t>
            </a:r>
            <a:endParaRPr lang="en-US" sz="850" dirty="0"/>
          </a:p>
        </p:txBody>
      </p:sp>
      <p:sp>
        <p:nvSpPr>
          <p:cNvPr id="8" name="S00_0052_text"/>
          <p:cNvSpPr/>
          <p:nvPr/>
        </p:nvSpPr>
        <p:spPr>
          <a:xfrm>
            <a:off x="10899648" y="6510528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887C7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 / 12</a:t>
            </a:r>
            <a:endParaRPr lang="en-US" sz="850" dirty="0"/>
          </a:p>
        </p:txBody>
      </p:sp>
      <p:sp>
        <p:nvSpPr>
          <p:cNvPr id="9" name="A01_0053_text"/>
          <p:cNvSpPr/>
          <p:nvPr/>
        </p:nvSpPr>
        <p:spPr>
          <a:xfrm>
            <a:off x="640080" y="181051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6544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学生</a:t>
            </a:r>
            <a:endParaRPr lang="en-US" sz="3000" dirty="0"/>
          </a:p>
        </p:txBody>
      </p:sp>
      <p:sp>
        <p:nvSpPr>
          <p:cNvPr id="10" name="A01_0054_line"/>
          <p:cNvSpPr/>
          <p:nvPr/>
        </p:nvSpPr>
        <p:spPr>
          <a:xfrm>
            <a:off x="658368" y="2487168"/>
            <a:ext cx="786384" cy="0"/>
          </a:xfrm>
          <a:prstGeom prst="line">
            <a:avLst/>
          </a:prstGeom>
          <a:noFill/>
          <a:ln w="40640">
            <a:solidFill>
              <a:srgbClr val="E65442"/>
            </a:solidFill>
            <a:prstDash val="solid"/>
          </a:ln>
        </p:spPr>
      </p:sp>
      <p:sp>
        <p:nvSpPr>
          <p:cNvPr id="11" name="A01_0055_text"/>
          <p:cNvSpPr/>
          <p:nvPr/>
        </p:nvSpPr>
        <p:spPr>
          <a:xfrm>
            <a:off x="640080" y="2724912"/>
            <a:ext cx="3154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11E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“我今天有什么课？</a:t>
            </a:r>
            <a:endParaRPr lang="en-US" sz="1650" dirty="0"/>
          </a:p>
          <a:p>
            <a:pPr marL="0" indent="0" algn="l">
              <a:buNone/>
            </a:pPr>
            <a:r>
              <a:rPr lang="en-US" sz="1650" b="1" dirty="0">
                <a:solidFill>
                  <a:srgbClr val="211E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附近哪里有空教室？”</a:t>
            </a:r>
            <a:endParaRPr lang="en-US" sz="1650" dirty="0"/>
          </a:p>
        </p:txBody>
      </p:sp>
      <p:sp>
        <p:nvSpPr>
          <p:cNvPr id="12" name="A01_0056_text"/>
          <p:cNvSpPr/>
          <p:nvPr/>
        </p:nvSpPr>
        <p:spPr>
          <a:xfrm>
            <a:off x="658368" y="39136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44B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· 一句话查课表</a:t>
            </a:r>
            <a:endParaRPr lang="en-US" sz="1300" dirty="0"/>
          </a:p>
        </p:txBody>
      </p:sp>
      <p:sp>
        <p:nvSpPr>
          <p:cNvPr id="13" name="A01_0057_text"/>
          <p:cNvSpPr/>
          <p:nvPr/>
        </p:nvSpPr>
        <p:spPr>
          <a:xfrm>
            <a:off x="658368" y="43708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44B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· 连续追问不丢上下文</a:t>
            </a:r>
            <a:endParaRPr lang="en-US" sz="1300" dirty="0"/>
          </a:p>
        </p:txBody>
      </p:sp>
      <p:sp>
        <p:nvSpPr>
          <p:cNvPr id="14" name="A01_0058_text"/>
          <p:cNvSpPr/>
          <p:nvPr/>
        </p:nvSpPr>
        <p:spPr>
          <a:xfrm>
            <a:off x="658368" y="48280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44B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· 找空教室与可用空间</a:t>
            </a:r>
            <a:endParaRPr lang="en-US" sz="1300" dirty="0"/>
          </a:p>
        </p:txBody>
      </p:sp>
      <p:sp>
        <p:nvSpPr>
          <p:cNvPr id="15" name="A01_0059_text"/>
          <p:cNvSpPr/>
          <p:nvPr/>
        </p:nvSpPr>
        <p:spPr>
          <a:xfrm>
            <a:off x="658368" y="52852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44B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· 今天课程与安排</a:t>
            </a:r>
            <a:endParaRPr lang="en-US" sz="1300" dirty="0"/>
          </a:p>
        </p:txBody>
      </p:sp>
      <p:sp>
        <p:nvSpPr>
          <p:cNvPr id="16" name="A02_0060_text"/>
          <p:cNvSpPr/>
          <p:nvPr/>
        </p:nvSpPr>
        <p:spPr>
          <a:xfrm>
            <a:off x="4498848" y="181051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37F69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教师</a:t>
            </a:r>
            <a:endParaRPr lang="en-US" sz="3000" dirty="0"/>
          </a:p>
        </p:txBody>
      </p:sp>
      <p:sp>
        <p:nvSpPr>
          <p:cNvPr id="17" name="A02_0061_line"/>
          <p:cNvSpPr/>
          <p:nvPr/>
        </p:nvSpPr>
        <p:spPr>
          <a:xfrm>
            <a:off x="4517136" y="2487168"/>
            <a:ext cx="786384" cy="0"/>
          </a:xfrm>
          <a:prstGeom prst="line">
            <a:avLst/>
          </a:prstGeom>
          <a:noFill/>
          <a:ln w="40640">
            <a:solidFill>
              <a:srgbClr val="237F69"/>
            </a:solidFill>
            <a:prstDash val="solid"/>
          </a:ln>
        </p:spPr>
      </p:sp>
      <p:sp>
        <p:nvSpPr>
          <p:cNvPr id="18" name="A02_0062_text"/>
          <p:cNvSpPr/>
          <p:nvPr/>
        </p:nvSpPr>
        <p:spPr>
          <a:xfrm>
            <a:off x="4498848" y="2724912"/>
            <a:ext cx="3154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11E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“我们什么时候都空？</a:t>
            </a:r>
            <a:endParaRPr lang="en-US" sz="1650" dirty="0"/>
          </a:p>
          <a:p>
            <a:pPr marL="0" indent="0" algn="l">
              <a:buNone/>
            </a:pPr>
            <a:r>
              <a:rPr lang="en-US" sz="1650" b="1" dirty="0">
                <a:solidFill>
                  <a:srgbClr val="211E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能不能调整？”</a:t>
            </a:r>
            <a:endParaRPr lang="en-US" sz="1650" dirty="0"/>
          </a:p>
        </p:txBody>
      </p:sp>
      <p:sp>
        <p:nvSpPr>
          <p:cNvPr id="19" name="A02_0063_text"/>
          <p:cNvSpPr/>
          <p:nvPr/>
        </p:nvSpPr>
        <p:spPr>
          <a:xfrm>
            <a:off x="4517136" y="39136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44B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· 多人共同空闲</a:t>
            </a:r>
            <a:endParaRPr lang="en-US" sz="1300" dirty="0"/>
          </a:p>
        </p:txBody>
      </p:sp>
      <p:sp>
        <p:nvSpPr>
          <p:cNvPr id="20" name="A02_0064_text"/>
          <p:cNvSpPr/>
          <p:nvPr/>
        </p:nvSpPr>
        <p:spPr>
          <a:xfrm>
            <a:off x="4517136" y="43708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44B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· 教室空间推荐</a:t>
            </a:r>
            <a:endParaRPr lang="en-US" sz="1300" dirty="0"/>
          </a:p>
        </p:txBody>
      </p:sp>
      <p:sp>
        <p:nvSpPr>
          <p:cNvPr id="21" name="A02_0065_text"/>
          <p:cNvSpPr/>
          <p:nvPr/>
        </p:nvSpPr>
        <p:spPr>
          <a:xfrm>
            <a:off x="4517136" y="48280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44B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· 教学空间转场风险</a:t>
            </a:r>
            <a:endParaRPr lang="en-US" sz="1300" dirty="0"/>
          </a:p>
        </p:txBody>
      </p:sp>
      <p:sp>
        <p:nvSpPr>
          <p:cNvPr id="22" name="A02_0066_text"/>
          <p:cNvSpPr/>
          <p:nvPr/>
        </p:nvSpPr>
        <p:spPr>
          <a:xfrm>
            <a:off x="4517136" y="52852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44B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· 调课前模拟核验</a:t>
            </a:r>
            <a:endParaRPr lang="en-US" sz="1300" dirty="0"/>
          </a:p>
        </p:txBody>
      </p:sp>
      <p:sp>
        <p:nvSpPr>
          <p:cNvPr id="23" name="A03_0067_text"/>
          <p:cNvSpPr/>
          <p:nvPr/>
        </p:nvSpPr>
        <p:spPr>
          <a:xfrm>
            <a:off x="8357616" y="181051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507BA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教学管理者</a:t>
            </a:r>
            <a:endParaRPr lang="en-US" sz="3000" dirty="0"/>
          </a:p>
        </p:txBody>
      </p:sp>
      <p:sp>
        <p:nvSpPr>
          <p:cNvPr id="24" name="A03_0068_line"/>
          <p:cNvSpPr/>
          <p:nvPr/>
        </p:nvSpPr>
        <p:spPr>
          <a:xfrm>
            <a:off x="8375904" y="2487168"/>
            <a:ext cx="786384" cy="0"/>
          </a:xfrm>
          <a:prstGeom prst="line">
            <a:avLst/>
          </a:prstGeom>
          <a:noFill/>
          <a:ln w="40640">
            <a:solidFill>
              <a:srgbClr val="507BA0"/>
            </a:solidFill>
            <a:prstDash val="solid"/>
          </a:ln>
        </p:spPr>
      </p:sp>
      <p:sp>
        <p:nvSpPr>
          <p:cNvPr id="25" name="A03_0069_text"/>
          <p:cNvSpPr/>
          <p:nvPr/>
        </p:nvSpPr>
        <p:spPr>
          <a:xfrm>
            <a:off x="8357616" y="2724912"/>
            <a:ext cx="3154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11E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“谁最忙？</a:t>
            </a:r>
            <a:endParaRPr lang="en-US" sz="1650" dirty="0"/>
          </a:p>
          <a:p>
            <a:pPr marL="0" indent="0" algn="l">
              <a:buNone/>
            </a:pPr>
            <a:r>
              <a:rPr lang="en-US" sz="1650" b="1" dirty="0">
                <a:solidFill>
                  <a:srgbClr val="211E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哪里可能有风险？”</a:t>
            </a:r>
            <a:endParaRPr lang="en-US" sz="1650" dirty="0"/>
          </a:p>
        </p:txBody>
      </p:sp>
      <p:sp>
        <p:nvSpPr>
          <p:cNvPr id="26" name="A03_0070_text"/>
          <p:cNvSpPr/>
          <p:nvPr/>
        </p:nvSpPr>
        <p:spPr>
          <a:xfrm>
            <a:off x="8375904" y="39136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44B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· 全局负载总览</a:t>
            </a:r>
            <a:endParaRPr lang="en-US" sz="1300" dirty="0"/>
          </a:p>
        </p:txBody>
      </p:sp>
      <p:sp>
        <p:nvSpPr>
          <p:cNvPr id="27" name="A03_0071_text"/>
          <p:cNvSpPr/>
          <p:nvPr/>
        </p:nvSpPr>
        <p:spPr>
          <a:xfrm>
            <a:off x="8375904" y="43708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44B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· 教室资源分布</a:t>
            </a:r>
            <a:endParaRPr lang="en-US" sz="1300" dirty="0"/>
          </a:p>
        </p:txBody>
      </p:sp>
      <p:sp>
        <p:nvSpPr>
          <p:cNvPr id="28" name="A03_0072_text"/>
          <p:cNvSpPr/>
          <p:nvPr/>
        </p:nvSpPr>
        <p:spPr>
          <a:xfrm>
            <a:off x="8375904" y="48280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44B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· 风险对象定位</a:t>
            </a:r>
            <a:endParaRPr lang="en-US" sz="1300" dirty="0"/>
          </a:p>
        </p:txBody>
      </p:sp>
      <p:sp>
        <p:nvSpPr>
          <p:cNvPr id="29" name="A03_0073_text"/>
          <p:cNvSpPr/>
          <p:nvPr/>
        </p:nvSpPr>
        <p:spPr>
          <a:xfrm>
            <a:off x="8375904" y="52852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44B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· 下钻原因分析</a:t>
            </a:r>
            <a:endParaRPr lang="en-US" sz="1300" dirty="0"/>
          </a:p>
        </p:txBody>
      </p:sp>
      <p:sp>
        <p:nvSpPr>
          <p:cNvPr id="30" name="A04_0074_divider-1"/>
          <p:cNvSpPr/>
          <p:nvPr/>
        </p:nvSpPr>
        <p:spPr>
          <a:xfrm>
            <a:off x="4261104" y="1847088"/>
            <a:ext cx="0" cy="3383280"/>
          </a:xfrm>
          <a:prstGeom prst="line">
            <a:avLst/>
          </a:prstGeom>
          <a:noFill/>
          <a:ln w="12700">
            <a:solidFill>
              <a:srgbClr val="DDD2CA"/>
            </a:solidFill>
            <a:prstDash val="solid"/>
          </a:ln>
        </p:spPr>
      </p:sp>
      <p:sp>
        <p:nvSpPr>
          <p:cNvPr id="31" name="A04_0075_divider-2"/>
          <p:cNvSpPr/>
          <p:nvPr/>
        </p:nvSpPr>
        <p:spPr>
          <a:xfrm>
            <a:off x="8119872" y="1847088"/>
            <a:ext cx="0" cy="3383280"/>
          </a:xfrm>
          <a:prstGeom prst="line">
            <a:avLst/>
          </a:prstGeom>
          <a:noFill/>
          <a:ln w="12700">
            <a:solidFill>
              <a:srgbClr val="DDD2CA"/>
            </a:solidFill>
            <a:prstDash val="solid"/>
          </a:ln>
        </p:spPr>
      </p:sp>
      <p:sp>
        <p:nvSpPr>
          <p:cNvPr id="32" name="A05_0076_text"/>
          <p:cNvSpPr/>
          <p:nvPr/>
        </p:nvSpPr>
        <p:spPr>
          <a:xfrm>
            <a:off x="2084832" y="5742432"/>
            <a:ext cx="8010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83E3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他们不需要学会教务系统的操作，只要把问题说出来。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38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0_0077_background-field"/>
          <p:cNvSpPr/>
          <p:nvPr/>
        </p:nvSpPr>
        <p:spPr>
          <a:xfrm>
            <a:off x="-1600200" y="4434840"/>
            <a:ext cx="5303520" cy="3749040"/>
          </a:xfrm>
          <a:prstGeom prst="ellipse">
            <a:avLst/>
          </a:prstGeom>
          <a:solidFill>
            <a:srgbClr val="F6DED8">
              <a:alpha val="3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00_0078_background-arc"/>
          <p:cNvSpPr/>
          <p:nvPr/>
        </p:nvSpPr>
        <p:spPr>
          <a:xfrm rot="11880000">
            <a:off x="9326880" y="-548640"/>
            <a:ext cx="3291840" cy="2286000"/>
          </a:xfrm>
          <a:prstGeom prst="arc">
            <a:avLst/>
          </a:prstGeom>
          <a:solidFill>
            <a:srgbClr val="FFFFFF">
              <a:alpha val="0"/>
            </a:srgbClr>
          </a:solidFill>
          <a:ln w="13970">
            <a:solidFill>
              <a:srgbClr val="E65442">
                <a:alpha val="30000"/>
              </a:srgbClr>
            </a:solidFill>
            <a:prstDash val="solid"/>
          </a:ln>
        </p:spPr>
      </p:sp>
      <p:sp>
        <p:nvSpPr>
          <p:cNvPr id="4" name="S00_0079_text"/>
          <p:cNvSpPr/>
          <p:nvPr/>
        </p:nvSpPr>
        <p:spPr>
          <a:xfrm>
            <a:off x="530352" y="2560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70" dirty="0">
                <a:solidFill>
                  <a:srgbClr val="E654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一句话怎样变成结果</a:t>
            </a:r>
            <a:endParaRPr lang="en-US" sz="1000" dirty="0"/>
          </a:p>
        </p:txBody>
      </p:sp>
      <p:sp>
        <p:nvSpPr>
          <p:cNvPr id="5" name="S00_0080_text"/>
          <p:cNvSpPr/>
          <p:nvPr/>
        </p:nvSpPr>
        <p:spPr>
          <a:xfrm>
            <a:off x="512064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11E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用户只管把问题说出来</a:t>
            </a:r>
            <a:endParaRPr lang="en-US" sz="2700" dirty="0"/>
          </a:p>
        </p:txBody>
      </p:sp>
      <p:sp>
        <p:nvSpPr>
          <p:cNvPr id="6" name="S00_0081_text"/>
          <p:cNvSpPr/>
          <p:nvPr/>
        </p:nvSpPr>
        <p:spPr>
          <a:xfrm>
            <a:off x="530352" y="1207008"/>
            <a:ext cx="10881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544B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理解、分工、计算、核验与继续追问，由系统接住。</a:t>
            </a:r>
            <a:endParaRPr lang="en-US" sz="1220" dirty="0"/>
          </a:p>
        </p:txBody>
      </p:sp>
      <p:sp>
        <p:nvSpPr>
          <p:cNvPr id="7" name="S00_0082_text"/>
          <p:cNvSpPr/>
          <p:nvPr/>
        </p:nvSpPr>
        <p:spPr>
          <a:xfrm>
            <a:off x="512064" y="651052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887C7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校园智序·小序</a:t>
            </a:r>
            <a:endParaRPr lang="en-US" sz="850" dirty="0"/>
          </a:p>
        </p:txBody>
      </p:sp>
      <p:sp>
        <p:nvSpPr>
          <p:cNvPr id="8" name="S00_0083_text"/>
          <p:cNvSpPr/>
          <p:nvPr/>
        </p:nvSpPr>
        <p:spPr>
          <a:xfrm>
            <a:off x="10899648" y="6510528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887C7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 / 12</a:t>
            </a:r>
            <a:endParaRPr lang="en-US" sz="850" dirty="0"/>
          </a:p>
        </p:txBody>
      </p:sp>
      <p:sp>
        <p:nvSpPr>
          <p:cNvPr id="9" name="A01_0084_question"/>
          <p:cNvSpPr/>
          <p:nvPr/>
        </p:nvSpPr>
        <p:spPr>
          <a:xfrm>
            <a:off x="676656" y="1847088"/>
            <a:ext cx="3675888" cy="1097280"/>
          </a:xfrm>
          <a:prstGeom prst="roundRect">
            <a:avLst>
              <a:gd name="adj" fmla="val 15000"/>
            </a:avLst>
          </a:prstGeom>
          <a:solidFill>
            <a:srgbClr val="F6DED8">
              <a:alpha val="96000"/>
            </a:srgbClr>
          </a:solidFill>
          <a:ln w="15240">
            <a:solidFill>
              <a:srgbClr val="E65442"/>
            </a:solidFill>
            <a:prstDash val="solid"/>
          </a:ln>
        </p:spPr>
      </p:sp>
      <p:sp>
        <p:nvSpPr>
          <p:cNvPr id="10" name="A01_0085_text"/>
          <p:cNvSpPr/>
          <p:nvPr/>
        </p:nvSpPr>
        <p:spPr>
          <a:xfrm>
            <a:off x="950976" y="2039112"/>
            <a:ext cx="31363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11E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“帮三位老师找共同空闲，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211E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再推荐一间不少于 120 座的教室。”</a:t>
            </a:r>
            <a:endParaRPr lang="en-US" sz="1600" dirty="0"/>
          </a:p>
        </p:txBody>
      </p:sp>
      <p:sp>
        <p:nvSpPr>
          <p:cNvPr id="11" name="A02_0086_text"/>
          <p:cNvSpPr/>
          <p:nvPr/>
        </p:nvSpPr>
        <p:spPr>
          <a:xfrm>
            <a:off x="722376" y="3172968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B83E3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一句人话</a:t>
            </a:r>
            <a:endParaRPr lang="en-US" sz="2000" dirty="0"/>
          </a:p>
        </p:txBody>
      </p:sp>
      <p:sp>
        <p:nvSpPr>
          <p:cNvPr id="12" name="A02_0087_text"/>
          <p:cNvSpPr/>
          <p:nvPr/>
        </p:nvSpPr>
        <p:spPr>
          <a:xfrm>
            <a:off x="731520" y="3639312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44B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不需要填写复杂表单，也不需要知道背后有哪些智能体和工具。</a:t>
            </a:r>
            <a:endParaRPr lang="en-US" sz="1300" dirty="0"/>
          </a:p>
        </p:txBody>
      </p:sp>
      <p:sp>
        <p:nvSpPr>
          <p:cNvPr id="13" name="A03_0088_text"/>
          <p:cNvSpPr/>
          <p:nvPr/>
        </p:nvSpPr>
        <p:spPr>
          <a:xfrm>
            <a:off x="4910328" y="1847088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654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A03_0089_line"/>
          <p:cNvSpPr/>
          <p:nvPr/>
        </p:nvSpPr>
        <p:spPr>
          <a:xfrm>
            <a:off x="4910328" y="2276856"/>
            <a:ext cx="1225296" cy="0"/>
          </a:xfrm>
          <a:prstGeom prst="line">
            <a:avLst/>
          </a:prstGeom>
          <a:noFill/>
          <a:ln w="35560">
            <a:solidFill>
              <a:srgbClr val="E65442"/>
            </a:solidFill>
            <a:prstDash val="solid"/>
          </a:ln>
        </p:spPr>
      </p:sp>
      <p:sp>
        <p:nvSpPr>
          <p:cNvPr id="15" name="A03_0090_text"/>
          <p:cNvSpPr/>
          <p:nvPr/>
        </p:nvSpPr>
        <p:spPr>
          <a:xfrm>
            <a:off x="4910328" y="2542032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6544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听懂问题</a:t>
            </a:r>
            <a:endParaRPr lang="en-US" sz="1700" dirty="0"/>
          </a:p>
        </p:txBody>
      </p:sp>
      <p:sp>
        <p:nvSpPr>
          <p:cNvPr id="16" name="A03_0091_text"/>
          <p:cNvSpPr/>
          <p:nvPr/>
        </p:nvSpPr>
        <p:spPr>
          <a:xfrm>
            <a:off x="4910328" y="3090672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544B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识别对象和目标</a:t>
            </a:r>
            <a:endParaRPr lang="en-US" sz="1120" dirty="0"/>
          </a:p>
        </p:txBody>
      </p:sp>
      <p:sp>
        <p:nvSpPr>
          <p:cNvPr id="17" name="A03_0092_arrow"/>
          <p:cNvSpPr/>
          <p:nvPr/>
        </p:nvSpPr>
        <p:spPr>
          <a:xfrm>
            <a:off x="6172200" y="2414016"/>
            <a:ext cx="237744" cy="0"/>
          </a:xfrm>
          <a:prstGeom prst="line">
            <a:avLst/>
          </a:prstGeom>
          <a:noFill/>
          <a:ln w="16510">
            <a:solidFill>
              <a:srgbClr val="DDD2CA"/>
            </a:solidFill>
            <a:prstDash val="solid"/>
            <a:headEnd type="none"/>
            <a:tailEnd type="triangle"/>
          </a:ln>
        </p:spPr>
      </p:sp>
      <p:sp>
        <p:nvSpPr>
          <p:cNvPr id="18" name="A04_0093_text"/>
          <p:cNvSpPr/>
          <p:nvPr/>
        </p:nvSpPr>
        <p:spPr>
          <a:xfrm>
            <a:off x="6492240" y="1847088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96B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A04_0094_line"/>
          <p:cNvSpPr/>
          <p:nvPr/>
        </p:nvSpPr>
        <p:spPr>
          <a:xfrm>
            <a:off x="6492240" y="2276856"/>
            <a:ext cx="1225296" cy="0"/>
          </a:xfrm>
          <a:prstGeom prst="line">
            <a:avLst/>
          </a:prstGeom>
          <a:noFill/>
          <a:ln w="35560">
            <a:solidFill>
              <a:srgbClr val="B96B2E"/>
            </a:solidFill>
            <a:prstDash val="solid"/>
          </a:ln>
        </p:spPr>
      </p:sp>
      <p:sp>
        <p:nvSpPr>
          <p:cNvPr id="20" name="A04_0095_text"/>
          <p:cNvSpPr/>
          <p:nvPr/>
        </p:nvSpPr>
        <p:spPr>
          <a:xfrm>
            <a:off x="6492240" y="2542032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B96B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分给专家</a:t>
            </a:r>
            <a:endParaRPr lang="en-US" sz="1700" dirty="0"/>
          </a:p>
        </p:txBody>
      </p:sp>
      <p:sp>
        <p:nvSpPr>
          <p:cNvPr id="21" name="A04_0096_text"/>
          <p:cNvSpPr/>
          <p:nvPr/>
        </p:nvSpPr>
        <p:spPr>
          <a:xfrm>
            <a:off x="6492240" y="3090672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544B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不同角色接力</a:t>
            </a:r>
            <a:endParaRPr lang="en-US" sz="1120" dirty="0"/>
          </a:p>
        </p:txBody>
      </p:sp>
      <p:sp>
        <p:nvSpPr>
          <p:cNvPr id="22" name="A04_0097_arrow"/>
          <p:cNvSpPr/>
          <p:nvPr/>
        </p:nvSpPr>
        <p:spPr>
          <a:xfrm>
            <a:off x="7754112" y="2414016"/>
            <a:ext cx="237744" cy="0"/>
          </a:xfrm>
          <a:prstGeom prst="line">
            <a:avLst/>
          </a:prstGeom>
          <a:noFill/>
          <a:ln w="16510">
            <a:solidFill>
              <a:srgbClr val="DDD2CA"/>
            </a:solidFill>
            <a:prstDash val="solid"/>
            <a:headEnd type="none"/>
            <a:tailEnd type="triangle"/>
          </a:ln>
        </p:spPr>
      </p:sp>
      <p:sp>
        <p:nvSpPr>
          <p:cNvPr id="23" name="A05_0098_text"/>
          <p:cNvSpPr/>
          <p:nvPr/>
        </p:nvSpPr>
        <p:spPr>
          <a:xfrm>
            <a:off x="8074152" y="1847088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37F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A05_0099_line"/>
          <p:cNvSpPr/>
          <p:nvPr/>
        </p:nvSpPr>
        <p:spPr>
          <a:xfrm>
            <a:off x="8074152" y="2276856"/>
            <a:ext cx="1225296" cy="0"/>
          </a:xfrm>
          <a:prstGeom prst="line">
            <a:avLst/>
          </a:prstGeom>
          <a:noFill/>
          <a:ln w="35560">
            <a:solidFill>
              <a:srgbClr val="237F69"/>
            </a:solidFill>
            <a:prstDash val="solid"/>
          </a:ln>
        </p:spPr>
      </p:sp>
      <p:sp>
        <p:nvSpPr>
          <p:cNvPr id="25" name="A05_0100_text"/>
          <p:cNvSpPr/>
          <p:nvPr/>
        </p:nvSpPr>
        <p:spPr>
          <a:xfrm>
            <a:off x="8074152" y="2542032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37F69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算清事实</a:t>
            </a:r>
            <a:endParaRPr lang="en-US" sz="1700" dirty="0"/>
          </a:p>
        </p:txBody>
      </p:sp>
      <p:sp>
        <p:nvSpPr>
          <p:cNvPr id="26" name="A05_0101_text"/>
          <p:cNvSpPr/>
          <p:nvPr/>
        </p:nvSpPr>
        <p:spPr>
          <a:xfrm>
            <a:off x="8074152" y="3090672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544B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工具查询与计算</a:t>
            </a:r>
            <a:endParaRPr lang="en-US" sz="1120" dirty="0"/>
          </a:p>
        </p:txBody>
      </p:sp>
      <p:sp>
        <p:nvSpPr>
          <p:cNvPr id="27" name="A05_0102_arrow"/>
          <p:cNvSpPr/>
          <p:nvPr/>
        </p:nvSpPr>
        <p:spPr>
          <a:xfrm>
            <a:off x="9336024" y="2414016"/>
            <a:ext cx="237744" cy="0"/>
          </a:xfrm>
          <a:prstGeom prst="line">
            <a:avLst/>
          </a:prstGeom>
          <a:noFill/>
          <a:ln w="16510">
            <a:solidFill>
              <a:srgbClr val="DDD2CA"/>
            </a:solidFill>
            <a:prstDash val="solid"/>
            <a:headEnd type="none"/>
            <a:tailEnd type="triangle"/>
          </a:ln>
        </p:spPr>
      </p:sp>
      <p:sp>
        <p:nvSpPr>
          <p:cNvPr id="28" name="A06_0103_text"/>
          <p:cNvSpPr/>
          <p:nvPr/>
        </p:nvSpPr>
        <p:spPr>
          <a:xfrm>
            <a:off x="9656064" y="1847088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07BA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A06_0104_line"/>
          <p:cNvSpPr/>
          <p:nvPr/>
        </p:nvSpPr>
        <p:spPr>
          <a:xfrm>
            <a:off x="9656064" y="2276856"/>
            <a:ext cx="1225296" cy="0"/>
          </a:xfrm>
          <a:prstGeom prst="line">
            <a:avLst/>
          </a:prstGeom>
          <a:noFill/>
          <a:ln w="35560">
            <a:solidFill>
              <a:srgbClr val="507BA0"/>
            </a:solidFill>
            <a:prstDash val="solid"/>
          </a:ln>
        </p:spPr>
      </p:sp>
      <p:sp>
        <p:nvSpPr>
          <p:cNvPr id="30" name="A06_0105_text"/>
          <p:cNvSpPr/>
          <p:nvPr/>
        </p:nvSpPr>
        <p:spPr>
          <a:xfrm>
            <a:off x="9656064" y="2542032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507BA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核验结论</a:t>
            </a:r>
            <a:endParaRPr lang="en-US" sz="1700" dirty="0"/>
          </a:p>
        </p:txBody>
      </p:sp>
      <p:sp>
        <p:nvSpPr>
          <p:cNvPr id="31" name="A06_0106_text"/>
          <p:cNvSpPr/>
          <p:nvPr/>
        </p:nvSpPr>
        <p:spPr>
          <a:xfrm>
            <a:off x="9656064" y="3090672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544B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结果可追溯</a:t>
            </a:r>
            <a:endParaRPr lang="en-US" sz="1120" dirty="0"/>
          </a:p>
        </p:txBody>
      </p:sp>
      <p:sp>
        <p:nvSpPr>
          <p:cNvPr id="32" name="A07_0107_line"/>
          <p:cNvSpPr/>
          <p:nvPr/>
        </p:nvSpPr>
        <p:spPr>
          <a:xfrm>
            <a:off x="4882896" y="4224528"/>
            <a:ext cx="6080760" cy="0"/>
          </a:xfrm>
          <a:prstGeom prst="line">
            <a:avLst/>
          </a:prstGeom>
          <a:noFill/>
          <a:ln w="12700">
            <a:solidFill>
              <a:srgbClr val="DDD2CA"/>
            </a:solidFill>
            <a:prstDash val="solid"/>
          </a:ln>
        </p:spPr>
      </p:sp>
      <p:sp>
        <p:nvSpPr>
          <p:cNvPr id="33" name="A07_0108_text"/>
          <p:cNvSpPr/>
          <p:nvPr/>
        </p:nvSpPr>
        <p:spPr>
          <a:xfrm>
            <a:off x="4901184" y="4453128"/>
            <a:ext cx="6108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11E1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模型负责听懂人话和组织协作；CampusTools 负责把动态校园事实算清楚。</a:t>
            </a:r>
            <a:endParaRPr lang="en-US" sz="1400" dirty="0"/>
          </a:p>
        </p:txBody>
      </p:sp>
      <p:sp>
        <p:nvSpPr>
          <p:cNvPr id="34" name="A08_0109_text"/>
          <p:cNvSpPr/>
          <p:nvPr/>
        </p:nvSpPr>
        <p:spPr>
          <a:xfrm>
            <a:off x="4901184" y="5029200"/>
            <a:ext cx="6080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44B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结果进入统一结果卡，可以继续追问“那看看他的课表”“再查一下风险”。</a:t>
            </a:r>
            <a:endParaRPr lang="en-US" sz="1300" dirty="0"/>
          </a:p>
        </p:txBody>
      </p:sp>
      <p:sp>
        <p:nvSpPr>
          <p:cNvPr id="35" name="A08_0110_text"/>
          <p:cNvSpPr/>
          <p:nvPr/>
        </p:nvSpPr>
        <p:spPr>
          <a:xfrm>
            <a:off x="4901184" y="565099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544B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 个智能体 · 13 项工具 · 14 组协作绑定</a:t>
            </a:r>
            <a:endParaRPr lang="en-US" sz="1020" dirty="0"/>
          </a:p>
        </p:txBody>
      </p:sp>
      <p:sp>
        <p:nvSpPr>
          <p:cNvPr id="36" name="A08_0111_label-bg"/>
          <p:cNvSpPr/>
          <p:nvPr/>
        </p:nvSpPr>
        <p:spPr>
          <a:xfrm>
            <a:off x="7735824" y="5632704"/>
            <a:ext cx="2798064" cy="283464"/>
          </a:xfrm>
          <a:prstGeom prst="rect">
            <a:avLst/>
          </a:prstGeom>
          <a:solidFill>
            <a:srgbClr val="E654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A08_0112_text"/>
          <p:cNvSpPr/>
          <p:nvPr/>
        </p:nvSpPr>
        <p:spPr>
          <a:xfrm>
            <a:off x="7808976" y="565099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查得清 · 算得出 · 验得过 · 接得住</a:t>
            </a:r>
            <a:endParaRPr lang="en-US" sz="92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8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8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38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8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38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8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20" grpId="0" animBg="1"/>
      <p:bldP spid="21" grpId="0" animBg="1"/>
      <p:bldP spid="23" grpId="0" animBg="1"/>
      <p:bldP spid="25" grpId="0" animBg="1"/>
      <p:bldP spid="26" grpId="0" animBg="1"/>
      <p:bldP spid="28" grpId="0" animBg="1"/>
      <p:bldP spid="30" grpId="0" animBg="1"/>
      <p:bldP spid="31" grpId="0" animBg="1"/>
      <p:bldP spid="33" grpId="0" animBg="1"/>
      <p:bldP spid="34" grpId="0" animBg="1"/>
      <p:bldP spid="35" grpId="0" animBg="1"/>
      <p:bldP spid="3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0_0113_background-field"/>
          <p:cNvSpPr/>
          <p:nvPr/>
        </p:nvSpPr>
        <p:spPr>
          <a:xfrm>
            <a:off x="8641080" y="-1554480"/>
            <a:ext cx="5303520" cy="3749040"/>
          </a:xfrm>
          <a:prstGeom prst="ellipse">
            <a:avLst/>
          </a:prstGeom>
          <a:solidFill>
            <a:srgbClr val="F6DED8">
              <a:alpha val="3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00_0114_background-arc"/>
          <p:cNvSpPr/>
          <p:nvPr/>
        </p:nvSpPr>
        <p:spPr>
          <a:xfrm rot="1080000">
            <a:off x="-640080" y="4389120"/>
            <a:ext cx="3291840" cy="2286000"/>
          </a:xfrm>
          <a:prstGeom prst="arc">
            <a:avLst/>
          </a:prstGeom>
          <a:solidFill>
            <a:srgbClr val="FFFFFF">
              <a:alpha val="0"/>
            </a:srgbClr>
          </a:solidFill>
          <a:ln w="13970">
            <a:solidFill>
              <a:srgbClr val="E65442">
                <a:alpha val="30000"/>
              </a:srgbClr>
            </a:solidFill>
            <a:prstDash val="solid"/>
          </a:ln>
        </p:spPr>
      </p:sp>
      <p:sp>
        <p:nvSpPr>
          <p:cNvPr id="4" name="S00_0115_text"/>
          <p:cNvSpPr/>
          <p:nvPr/>
        </p:nvSpPr>
        <p:spPr>
          <a:xfrm>
            <a:off x="530352" y="2560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70" dirty="0">
                <a:solidFill>
                  <a:srgbClr val="E654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学生场景｜从查课到找空间</a:t>
            </a:r>
            <a:endParaRPr lang="en-US" sz="1000" dirty="0"/>
          </a:p>
        </p:txBody>
      </p:sp>
      <p:sp>
        <p:nvSpPr>
          <p:cNvPr id="5" name="S00_0116_text"/>
          <p:cNvSpPr/>
          <p:nvPr/>
        </p:nvSpPr>
        <p:spPr>
          <a:xfrm>
            <a:off x="512064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11E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一句话查课，也能接着问</a:t>
            </a:r>
            <a:endParaRPr lang="en-US" sz="2700" dirty="0"/>
          </a:p>
        </p:txBody>
      </p:sp>
      <p:sp>
        <p:nvSpPr>
          <p:cNvPr id="6" name="S00_0117_text"/>
          <p:cNvSpPr/>
          <p:nvPr/>
        </p:nvSpPr>
        <p:spPr>
          <a:xfrm>
            <a:off x="530352" y="1207008"/>
            <a:ext cx="10881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544B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学生不用反复选择查询入口；系统记住对象和时间，把下一句话接下去。</a:t>
            </a:r>
            <a:endParaRPr lang="en-US" sz="1220" dirty="0"/>
          </a:p>
        </p:txBody>
      </p:sp>
      <p:sp>
        <p:nvSpPr>
          <p:cNvPr id="7" name="S00_0118_text"/>
          <p:cNvSpPr/>
          <p:nvPr/>
        </p:nvSpPr>
        <p:spPr>
          <a:xfrm>
            <a:off x="512064" y="651052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887C7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校园智序·小序</a:t>
            </a:r>
            <a:endParaRPr lang="en-US" sz="850" dirty="0"/>
          </a:p>
        </p:txBody>
      </p:sp>
      <p:sp>
        <p:nvSpPr>
          <p:cNvPr id="8" name="S00_0119_text"/>
          <p:cNvSpPr/>
          <p:nvPr/>
        </p:nvSpPr>
        <p:spPr>
          <a:xfrm>
            <a:off x="10899648" y="6510528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887C7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 / 12</a:t>
            </a:r>
            <a:endParaRPr lang="en-US" sz="850" dirty="0"/>
          </a:p>
        </p:txBody>
      </p:sp>
      <p:sp>
        <p:nvSpPr>
          <p:cNvPr id="9" name="A01_0120_text"/>
          <p:cNvSpPr/>
          <p:nvPr/>
        </p:nvSpPr>
        <p:spPr>
          <a:xfrm>
            <a:off x="749808" y="177393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654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A01_0121_text"/>
          <p:cNvSpPr/>
          <p:nvPr/>
        </p:nvSpPr>
        <p:spPr>
          <a:xfrm>
            <a:off x="1298448" y="1755648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211E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“查看 01 班第 1 周课表。”</a:t>
            </a:r>
            <a:endParaRPr lang="en-US" sz="1750" dirty="0"/>
          </a:p>
        </p:txBody>
      </p:sp>
      <p:sp>
        <p:nvSpPr>
          <p:cNvPr id="11" name="A01_0122_text"/>
          <p:cNvSpPr/>
          <p:nvPr/>
        </p:nvSpPr>
        <p:spPr>
          <a:xfrm>
            <a:off x="1298448" y="22768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E654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先查清课程安排</a:t>
            </a:r>
            <a:endParaRPr lang="en-US" sz="1120" dirty="0"/>
          </a:p>
        </p:txBody>
      </p:sp>
      <p:sp>
        <p:nvSpPr>
          <p:cNvPr id="12" name="A01_0123_arrow"/>
          <p:cNvSpPr/>
          <p:nvPr/>
        </p:nvSpPr>
        <p:spPr>
          <a:xfrm>
            <a:off x="950976" y="2432304"/>
            <a:ext cx="0" cy="457200"/>
          </a:xfrm>
          <a:prstGeom prst="line">
            <a:avLst/>
          </a:prstGeom>
          <a:noFill/>
          <a:ln w="15240">
            <a:solidFill>
              <a:srgbClr val="DDD2CA"/>
            </a:solidFill>
            <a:prstDash val="solid"/>
            <a:headEnd type="none"/>
            <a:tailEnd type="triangle"/>
          </a:ln>
        </p:spPr>
      </p:sp>
      <p:sp>
        <p:nvSpPr>
          <p:cNvPr id="13" name="A02_0124_text"/>
          <p:cNvSpPr/>
          <p:nvPr/>
        </p:nvSpPr>
        <p:spPr>
          <a:xfrm>
            <a:off x="749808" y="294436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96B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A02_0125_text"/>
          <p:cNvSpPr/>
          <p:nvPr/>
        </p:nvSpPr>
        <p:spPr>
          <a:xfrm>
            <a:off x="1298448" y="2926080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211E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“只看周三。”</a:t>
            </a:r>
            <a:endParaRPr lang="en-US" sz="1750" dirty="0"/>
          </a:p>
        </p:txBody>
      </p:sp>
      <p:sp>
        <p:nvSpPr>
          <p:cNvPr id="15" name="A02_0126_text"/>
          <p:cNvSpPr/>
          <p:nvPr/>
        </p:nvSpPr>
        <p:spPr>
          <a:xfrm>
            <a:off x="1298448" y="34472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B96B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沿用班级与周次</a:t>
            </a:r>
            <a:endParaRPr lang="en-US" sz="1120" dirty="0"/>
          </a:p>
        </p:txBody>
      </p:sp>
      <p:sp>
        <p:nvSpPr>
          <p:cNvPr id="16" name="A02_0127_arrow"/>
          <p:cNvSpPr/>
          <p:nvPr/>
        </p:nvSpPr>
        <p:spPr>
          <a:xfrm>
            <a:off x="950976" y="3602736"/>
            <a:ext cx="0" cy="457200"/>
          </a:xfrm>
          <a:prstGeom prst="line">
            <a:avLst/>
          </a:prstGeom>
          <a:noFill/>
          <a:ln w="15240">
            <a:solidFill>
              <a:srgbClr val="DDD2CA"/>
            </a:solidFill>
            <a:prstDash val="solid"/>
            <a:headEnd type="none"/>
            <a:tailEnd type="triangle"/>
          </a:ln>
        </p:spPr>
      </p:sp>
      <p:sp>
        <p:nvSpPr>
          <p:cNvPr id="17" name="A03_0128_text"/>
          <p:cNvSpPr/>
          <p:nvPr/>
        </p:nvSpPr>
        <p:spPr>
          <a:xfrm>
            <a:off x="749808" y="411480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37F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A03_0129_text"/>
          <p:cNvSpPr/>
          <p:nvPr/>
        </p:nvSpPr>
        <p:spPr>
          <a:xfrm>
            <a:off x="1298448" y="4096512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211E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“继续看周三下午，哪里有空教室？”</a:t>
            </a:r>
            <a:endParaRPr lang="en-US" sz="1750" dirty="0"/>
          </a:p>
        </p:txBody>
      </p:sp>
      <p:sp>
        <p:nvSpPr>
          <p:cNvPr id="19" name="A03_0130_text"/>
          <p:cNvSpPr/>
          <p:nvPr/>
        </p:nvSpPr>
        <p:spPr>
          <a:xfrm>
            <a:off x="1298448" y="4617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237F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沿用对象与周次，继续找空间</a:t>
            </a:r>
            <a:endParaRPr lang="en-US" sz="1120" dirty="0"/>
          </a:p>
        </p:txBody>
      </p:sp>
      <p:sp>
        <p:nvSpPr>
          <p:cNvPr id="20" name="A04_0131_line"/>
          <p:cNvSpPr/>
          <p:nvPr/>
        </p:nvSpPr>
        <p:spPr>
          <a:xfrm>
            <a:off x="749808" y="5358384"/>
            <a:ext cx="3639312" cy="0"/>
          </a:xfrm>
          <a:prstGeom prst="line">
            <a:avLst/>
          </a:prstGeom>
          <a:noFill/>
          <a:ln w="12700">
            <a:solidFill>
              <a:srgbClr val="DDD2CA"/>
            </a:solidFill>
            <a:prstDash val="solid"/>
          </a:ln>
        </p:spPr>
      </p:sp>
      <p:sp>
        <p:nvSpPr>
          <p:cNvPr id="21" name="A04_0132_text"/>
          <p:cNvSpPr/>
          <p:nvPr/>
        </p:nvSpPr>
        <p:spPr>
          <a:xfrm>
            <a:off x="749808" y="5532120"/>
            <a:ext cx="3675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b="1" dirty="0">
                <a:solidFill>
                  <a:srgbClr val="B83E3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不用重填班级，不用重选时间，</a:t>
            </a:r>
            <a:endParaRPr lang="en-US" sz="1340" dirty="0"/>
          </a:p>
          <a:p>
            <a:pPr marL="0" indent="0" algn="l">
              <a:buNone/>
            </a:pPr>
            <a:r>
              <a:rPr lang="en-US" sz="1340" b="1" dirty="0">
                <a:solidFill>
                  <a:srgbClr val="B83E3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也不用学习教务系统的复杂入口。</a:t>
            </a:r>
            <a:endParaRPr lang="en-US" sz="1340" dirty="0"/>
          </a:p>
        </p:txBody>
      </p:sp>
      <p:sp>
        <p:nvSpPr>
          <p:cNvPr id="22" name="A05_0133_screen-base"/>
          <p:cNvSpPr/>
          <p:nvPr/>
        </p:nvSpPr>
        <p:spPr>
          <a:xfrm>
            <a:off x="4754880" y="1700784"/>
            <a:ext cx="6858000" cy="4114800"/>
          </a:xfrm>
          <a:prstGeom prst="rect">
            <a:avLst/>
          </a:prstGeom>
          <a:solidFill>
            <a:srgbClr val="FFFFFF"/>
          </a:solidFill>
          <a:ln w="11430">
            <a:solidFill>
              <a:srgbClr val="DDD2CA"/>
            </a:solidFill>
            <a:prstDash val="solid"/>
          </a:ln>
        </p:spPr>
      </p:sp>
      <p:pic>
        <p:nvPicPr>
          <p:cNvPr id="23" name="A05_0134_screen-image" descr="competition-project\qa\live-final\screenshots\04-student-live-1920x1080-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456" y="1849945"/>
            <a:ext cx="6784848" cy="3816477"/>
          </a:xfrm>
          <a:prstGeom prst="rect">
            <a:avLst/>
          </a:prstGeom>
        </p:spPr>
      </p:pic>
      <p:sp>
        <p:nvSpPr>
          <p:cNvPr id="24" name="A05_0135_text"/>
          <p:cNvSpPr/>
          <p:nvPr/>
        </p:nvSpPr>
        <p:spPr>
          <a:xfrm>
            <a:off x="7808976" y="5888736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B83E3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真实 ADP 三轮连续追问 · 同一会话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1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0_0136_background-field"/>
          <p:cNvSpPr/>
          <p:nvPr/>
        </p:nvSpPr>
        <p:spPr>
          <a:xfrm>
            <a:off x="-1600200" y="4434840"/>
            <a:ext cx="5303520" cy="3749040"/>
          </a:xfrm>
          <a:prstGeom prst="ellipse">
            <a:avLst/>
          </a:prstGeom>
          <a:solidFill>
            <a:srgbClr val="F6E8D8">
              <a:alpha val="3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00_0137_background-arc"/>
          <p:cNvSpPr/>
          <p:nvPr/>
        </p:nvSpPr>
        <p:spPr>
          <a:xfrm rot="11880000">
            <a:off x="9326880" y="-548640"/>
            <a:ext cx="3291840" cy="2286000"/>
          </a:xfrm>
          <a:prstGeom prst="arc">
            <a:avLst/>
          </a:prstGeom>
          <a:solidFill>
            <a:srgbClr val="FFFFFF">
              <a:alpha val="0"/>
            </a:srgbClr>
          </a:solidFill>
          <a:ln w="13970">
            <a:solidFill>
              <a:srgbClr val="E65442">
                <a:alpha val="30000"/>
              </a:srgbClr>
            </a:solidFill>
            <a:prstDash val="solid"/>
          </a:ln>
        </p:spPr>
      </p:sp>
      <p:sp>
        <p:nvSpPr>
          <p:cNvPr id="4" name="S00_0138_text"/>
          <p:cNvSpPr/>
          <p:nvPr/>
        </p:nvSpPr>
        <p:spPr>
          <a:xfrm>
            <a:off x="530352" y="2560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70" dirty="0">
                <a:solidFill>
                  <a:srgbClr val="E654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教师案例｜多人协同</a:t>
            </a:r>
            <a:endParaRPr lang="en-US" sz="1000" dirty="0"/>
          </a:p>
        </p:txBody>
      </p:sp>
      <p:sp>
        <p:nvSpPr>
          <p:cNvPr id="5" name="S00_0139_text"/>
          <p:cNvSpPr/>
          <p:nvPr/>
        </p:nvSpPr>
        <p:spPr>
          <a:xfrm>
            <a:off x="512064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11E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三位教师的一次共同空闲，最后落到一间教室</a:t>
            </a:r>
            <a:endParaRPr lang="en-US" sz="2700" dirty="0"/>
          </a:p>
        </p:txBody>
      </p:sp>
      <p:sp>
        <p:nvSpPr>
          <p:cNvPr id="6" name="S00_0140_text"/>
          <p:cNvSpPr/>
          <p:nvPr/>
        </p:nvSpPr>
        <p:spPr>
          <a:xfrm>
            <a:off x="530352" y="1207008"/>
            <a:ext cx="10881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544B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第1周周四1—4节；先找人都空的时间，再按容量筛选教室。</a:t>
            </a:r>
            <a:endParaRPr lang="en-US" sz="1220" dirty="0"/>
          </a:p>
        </p:txBody>
      </p:sp>
      <p:sp>
        <p:nvSpPr>
          <p:cNvPr id="7" name="S00_0141_text"/>
          <p:cNvSpPr/>
          <p:nvPr/>
        </p:nvSpPr>
        <p:spPr>
          <a:xfrm>
            <a:off x="512064" y="651052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887C7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校园智序·小序</a:t>
            </a:r>
            <a:endParaRPr lang="en-US" sz="850" dirty="0"/>
          </a:p>
        </p:txBody>
      </p:sp>
      <p:sp>
        <p:nvSpPr>
          <p:cNvPr id="8" name="S00_0142_text"/>
          <p:cNvSpPr/>
          <p:nvPr/>
        </p:nvSpPr>
        <p:spPr>
          <a:xfrm>
            <a:off x="10899648" y="6510528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887C7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 / 12</a:t>
            </a:r>
            <a:endParaRPr lang="en-US" sz="850" dirty="0"/>
          </a:p>
        </p:txBody>
      </p:sp>
      <p:sp>
        <p:nvSpPr>
          <p:cNvPr id="9" name="A01_0143_text"/>
          <p:cNvSpPr/>
          <p:nvPr/>
        </p:nvSpPr>
        <p:spPr>
          <a:xfrm>
            <a:off x="658368" y="1700784"/>
            <a:ext cx="14813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E654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4800" dirty="0"/>
          </a:p>
        </p:txBody>
      </p:sp>
      <p:sp>
        <p:nvSpPr>
          <p:cNvPr id="10" name="A01_0144_text"/>
          <p:cNvSpPr/>
          <p:nvPr/>
        </p:nvSpPr>
        <p:spPr>
          <a:xfrm>
            <a:off x="658368" y="2505456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44B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位教师</a:t>
            </a:r>
            <a:endParaRPr lang="en-US" sz="1200" dirty="0"/>
          </a:p>
        </p:txBody>
      </p:sp>
      <p:sp>
        <p:nvSpPr>
          <p:cNvPr id="11" name="A01_0145_arrow"/>
          <p:cNvSpPr/>
          <p:nvPr/>
        </p:nvSpPr>
        <p:spPr>
          <a:xfrm>
            <a:off x="2322576" y="2221992"/>
            <a:ext cx="402336" cy="0"/>
          </a:xfrm>
          <a:prstGeom prst="line">
            <a:avLst/>
          </a:prstGeom>
          <a:noFill/>
          <a:ln w="20320">
            <a:solidFill>
              <a:srgbClr val="E65442"/>
            </a:solidFill>
            <a:prstDash val="solid"/>
            <a:headEnd type="none"/>
            <a:tailEnd type="triangle"/>
          </a:ln>
        </p:spPr>
      </p:sp>
      <p:sp>
        <p:nvSpPr>
          <p:cNvPr id="12" name="A02_0146_text"/>
          <p:cNvSpPr/>
          <p:nvPr/>
        </p:nvSpPr>
        <p:spPr>
          <a:xfrm>
            <a:off x="3072384" y="1700784"/>
            <a:ext cx="14813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237F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63</a:t>
            </a:r>
            <a:endParaRPr lang="en-US" sz="4800" dirty="0"/>
          </a:p>
        </p:txBody>
      </p:sp>
      <p:sp>
        <p:nvSpPr>
          <p:cNvPr id="13" name="A02_0147_text"/>
          <p:cNvSpPr/>
          <p:nvPr/>
        </p:nvSpPr>
        <p:spPr>
          <a:xfrm>
            <a:off x="3072384" y="2505456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44B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间可用教室</a:t>
            </a:r>
            <a:endParaRPr lang="en-US" sz="1200" dirty="0"/>
          </a:p>
        </p:txBody>
      </p:sp>
      <p:sp>
        <p:nvSpPr>
          <p:cNvPr id="14" name="A02_0148_arrow"/>
          <p:cNvSpPr/>
          <p:nvPr/>
        </p:nvSpPr>
        <p:spPr>
          <a:xfrm>
            <a:off x="5065776" y="2221992"/>
            <a:ext cx="402336" cy="0"/>
          </a:xfrm>
          <a:prstGeom prst="line">
            <a:avLst/>
          </a:prstGeom>
          <a:noFill/>
          <a:ln w="20320">
            <a:solidFill>
              <a:srgbClr val="E65442"/>
            </a:solidFill>
            <a:prstDash val="solid"/>
            <a:headEnd type="none"/>
            <a:tailEnd type="triangle"/>
          </a:ln>
        </p:spPr>
      </p:sp>
      <p:sp>
        <p:nvSpPr>
          <p:cNvPr id="15" name="A03_0149_text"/>
          <p:cNvSpPr/>
          <p:nvPr/>
        </p:nvSpPr>
        <p:spPr>
          <a:xfrm>
            <a:off x="5769864" y="1700784"/>
            <a:ext cx="14813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B96B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</a:t>
            </a:r>
            <a:endParaRPr lang="en-US" sz="4800" dirty="0"/>
          </a:p>
        </p:txBody>
      </p:sp>
      <p:sp>
        <p:nvSpPr>
          <p:cNvPr id="16" name="A03_0150_text"/>
          <p:cNvSpPr/>
          <p:nvPr/>
        </p:nvSpPr>
        <p:spPr>
          <a:xfrm>
            <a:off x="5769864" y="2505456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44B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间不少于120座</a:t>
            </a:r>
            <a:endParaRPr lang="en-US" sz="1200" dirty="0"/>
          </a:p>
        </p:txBody>
      </p:sp>
      <p:sp>
        <p:nvSpPr>
          <p:cNvPr id="17" name="A03_0151_arrow"/>
          <p:cNvSpPr/>
          <p:nvPr/>
        </p:nvSpPr>
        <p:spPr>
          <a:xfrm>
            <a:off x="7763256" y="2221992"/>
            <a:ext cx="402336" cy="0"/>
          </a:xfrm>
          <a:prstGeom prst="line">
            <a:avLst/>
          </a:prstGeom>
          <a:noFill/>
          <a:ln w="20320">
            <a:solidFill>
              <a:srgbClr val="E65442"/>
            </a:solidFill>
            <a:prstDash val="solid"/>
            <a:headEnd type="none"/>
            <a:tailEnd type="triangle"/>
          </a:ln>
        </p:spPr>
      </p:sp>
      <p:sp>
        <p:nvSpPr>
          <p:cNvPr id="18" name="A04_0152_text"/>
          <p:cNvSpPr/>
          <p:nvPr/>
        </p:nvSpPr>
        <p:spPr>
          <a:xfrm>
            <a:off x="8540496" y="1700784"/>
            <a:ext cx="2240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507BA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A1-201</a:t>
            </a:r>
            <a:endParaRPr lang="en-US" sz="3600" dirty="0"/>
          </a:p>
        </p:txBody>
      </p:sp>
      <p:sp>
        <p:nvSpPr>
          <p:cNvPr id="19" name="A04_0153_text"/>
          <p:cNvSpPr/>
          <p:nvPr/>
        </p:nvSpPr>
        <p:spPr>
          <a:xfrm>
            <a:off x="8540496" y="250545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44B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推荐教室 · 120座</a:t>
            </a:r>
            <a:endParaRPr lang="en-US" sz="1200" dirty="0"/>
          </a:p>
        </p:txBody>
      </p:sp>
      <p:sp>
        <p:nvSpPr>
          <p:cNvPr id="20" name="A05_0154_line"/>
          <p:cNvSpPr/>
          <p:nvPr/>
        </p:nvSpPr>
        <p:spPr>
          <a:xfrm>
            <a:off x="658368" y="2971800"/>
            <a:ext cx="10844784" cy="0"/>
          </a:xfrm>
          <a:prstGeom prst="line">
            <a:avLst/>
          </a:prstGeom>
          <a:noFill/>
          <a:ln w="12700">
            <a:solidFill>
              <a:srgbClr val="DDD2CA"/>
            </a:solidFill>
            <a:prstDash val="solid"/>
          </a:ln>
        </p:spPr>
      </p:sp>
      <p:sp>
        <p:nvSpPr>
          <p:cNvPr id="21" name="A05_0155_screen-base"/>
          <p:cNvSpPr/>
          <p:nvPr/>
        </p:nvSpPr>
        <p:spPr>
          <a:xfrm>
            <a:off x="960120" y="3218688"/>
            <a:ext cx="10277856" cy="2615184"/>
          </a:xfrm>
          <a:prstGeom prst="rect">
            <a:avLst/>
          </a:prstGeom>
          <a:solidFill>
            <a:srgbClr val="FFFFFF"/>
          </a:solidFill>
          <a:ln w="11430">
            <a:solidFill>
              <a:srgbClr val="DDD2CA"/>
            </a:solidFill>
            <a:prstDash val="solid"/>
          </a:ln>
        </p:spPr>
      </p:sp>
      <p:pic>
        <p:nvPicPr>
          <p:cNvPr id="22" name="A05_0156_screen-image" descr="competition-project\qa\final-cut\4173-collaboration-1920x10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3255264"/>
            <a:ext cx="10204704" cy="2542032"/>
          </a:xfrm>
          <a:prstGeom prst="rect">
            <a:avLst/>
          </a:prstGeom>
        </p:spPr>
      </p:pic>
      <p:sp>
        <p:nvSpPr>
          <p:cNvPr id="23" name="A06_0157_text"/>
          <p:cNvSpPr/>
          <p:nvPr/>
        </p:nvSpPr>
        <p:spPr>
          <a:xfrm>
            <a:off x="3081528" y="5943600"/>
            <a:ext cx="6053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3E3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共同空闲 → 空间可用 → 容量过滤 → 给出推荐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0_0158_background-field"/>
          <p:cNvSpPr/>
          <p:nvPr/>
        </p:nvSpPr>
        <p:spPr>
          <a:xfrm>
            <a:off x="8641080" y="-1554480"/>
            <a:ext cx="5303520" cy="3749040"/>
          </a:xfrm>
          <a:prstGeom prst="ellipse">
            <a:avLst/>
          </a:prstGeom>
          <a:solidFill>
            <a:srgbClr val="F6DED8">
              <a:alpha val="3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00_0159_background-arc"/>
          <p:cNvSpPr/>
          <p:nvPr/>
        </p:nvSpPr>
        <p:spPr>
          <a:xfrm rot="1080000">
            <a:off x="-640080" y="4389120"/>
            <a:ext cx="3291840" cy="2286000"/>
          </a:xfrm>
          <a:prstGeom prst="arc">
            <a:avLst/>
          </a:prstGeom>
          <a:solidFill>
            <a:srgbClr val="FFFFFF">
              <a:alpha val="0"/>
            </a:srgbClr>
          </a:solidFill>
          <a:ln w="13970">
            <a:solidFill>
              <a:srgbClr val="E65442">
                <a:alpha val="30000"/>
              </a:srgbClr>
            </a:solidFill>
            <a:prstDash val="solid"/>
          </a:ln>
        </p:spPr>
      </p:sp>
      <p:sp>
        <p:nvSpPr>
          <p:cNvPr id="4" name="S00_0160_text"/>
          <p:cNvSpPr/>
          <p:nvPr/>
        </p:nvSpPr>
        <p:spPr>
          <a:xfrm>
            <a:off x="530352" y="2560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70" dirty="0">
                <a:solidFill>
                  <a:srgbClr val="E654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教师案例｜风险与模拟调课</a:t>
            </a:r>
            <a:endParaRPr lang="en-US" sz="1000" dirty="0"/>
          </a:p>
        </p:txBody>
      </p:sp>
      <p:sp>
        <p:nvSpPr>
          <p:cNvPr id="5" name="S00_0161_text"/>
          <p:cNvSpPr/>
          <p:nvPr/>
        </p:nvSpPr>
        <p:spPr>
          <a:xfrm>
            <a:off x="512064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11E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没有冲突，不等于来得及；可以调，也不等于没有提醒</a:t>
            </a:r>
            <a:endParaRPr lang="en-US" sz="2700" dirty="0"/>
          </a:p>
        </p:txBody>
      </p:sp>
      <p:sp>
        <p:nvSpPr>
          <p:cNvPr id="6" name="S00_0162_text"/>
          <p:cNvSpPr/>
          <p:nvPr/>
        </p:nvSpPr>
        <p:spPr>
          <a:xfrm>
            <a:off x="530352" y="1207008"/>
            <a:ext cx="10881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544B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教师025 · 第1—4周；系统先算清空间转场风险，再模拟调整方案——真实课表不会被改动。</a:t>
            </a:r>
            <a:endParaRPr lang="en-US" sz="1220" dirty="0"/>
          </a:p>
        </p:txBody>
      </p:sp>
      <p:sp>
        <p:nvSpPr>
          <p:cNvPr id="7" name="S00_0163_text"/>
          <p:cNvSpPr/>
          <p:nvPr/>
        </p:nvSpPr>
        <p:spPr>
          <a:xfrm>
            <a:off x="512064" y="651052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887C7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校园智序·小序</a:t>
            </a:r>
            <a:endParaRPr lang="en-US" sz="850" dirty="0"/>
          </a:p>
        </p:txBody>
      </p:sp>
      <p:sp>
        <p:nvSpPr>
          <p:cNvPr id="8" name="S00_0164_text"/>
          <p:cNvSpPr/>
          <p:nvPr/>
        </p:nvSpPr>
        <p:spPr>
          <a:xfrm>
            <a:off x="10899648" y="6510528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887C7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07 / 12</a:t>
            </a:r>
            <a:endParaRPr lang="en-US" sz="850" dirty="0"/>
          </a:p>
        </p:txBody>
      </p:sp>
      <p:sp>
        <p:nvSpPr>
          <p:cNvPr id="9" name="A01_0165_text"/>
          <p:cNvSpPr/>
          <p:nvPr/>
        </p:nvSpPr>
        <p:spPr>
          <a:xfrm>
            <a:off x="713232" y="1664208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800" b="1" dirty="0">
                <a:solidFill>
                  <a:srgbClr val="237F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endParaRPr lang="en-US" sz="5800" dirty="0"/>
          </a:p>
        </p:txBody>
      </p:sp>
      <p:sp>
        <p:nvSpPr>
          <p:cNvPr id="10" name="A01_0166_text"/>
          <p:cNvSpPr/>
          <p:nvPr/>
        </p:nvSpPr>
        <p:spPr>
          <a:xfrm>
            <a:off x="1975104" y="19751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37F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硬冲突</a:t>
            </a:r>
            <a:endParaRPr lang="en-US" sz="1700" dirty="0"/>
          </a:p>
        </p:txBody>
      </p:sp>
      <p:sp>
        <p:nvSpPr>
          <p:cNvPr id="11" name="A02_0167_text"/>
          <p:cNvSpPr/>
          <p:nvPr/>
        </p:nvSpPr>
        <p:spPr>
          <a:xfrm>
            <a:off x="713232" y="2962656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B96B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 次</a:t>
            </a:r>
            <a:endParaRPr lang="en-US" sz="5000" dirty="0"/>
          </a:p>
        </p:txBody>
      </p:sp>
      <p:sp>
        <p:nvSpPr>
          <p:cNvPr id="12" name="A02_0168_text"/>
          <p:cNvSpPr/>
          <p:nvPr/>
        </p:nvSpPr>
        <p:spPr>
          <a:xfrm>
            <a:off x="2231136" y="322783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96B2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转场 / 周</a:t>
            </a:r>
            <a:endParaRPr lang="en-US" sz="1600" dirty="0"/>
          </a:p>
        </p:txBody>
      </p:sp>
      <p:sp>
        <p:nvSpPr>
          <p:cNvPr id="13" name="A02_0169_text"/>
          <p:cNvSpPr/>
          <p:nvPr/>
        </p:nvSpPr>
        <p:spPr>
          <a:xfrm>
            <a:off x="749808" y="385876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44B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最短间隔 20 分钟</a:t>
            </a:r>
            <a:endParaRPr lang="en-US" sz="1300" dirty="0"/>
          </a:p>
        </p:txBody>
      </p:sp>
      <p:sp>
        <p:nvSpPr>
          <p:cNvPr id="14" name="A03_0170_reschedule-band"/>
          <p:cNvSpPr/>
          <p:nvPr/>
        </p:nvSpPr>
        <p:spPr>
          <a:xfrm>
            <a:off x="676656" y="4599432"/>
            <a:ext cx="3694176" cy="1417320"/>
          </a:xfrm>
          <a:prstGeom prst="rect">
            <a:avLst/>
          </a:prstGeom>
          <a:solidFill>
            <a:srgbClr val="DDECE6">
              <a:alpha val="8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A03_0171_text"/>
          <p:cNvSpPr/>
          <p:nvPr/>
        </p:nvSpPr>
        <p:spPr>
          <a:xfrm>
            <a:off x="859536" y="4846320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37F69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可行 · 有提醒 · 未写入</a:t>
            </a:r>
            <a:endParaRPr lang="en-US" sz="1700" dirty="0"/>
          </a:p>
        </p:txBody>
      </p:sp>
      <p:sp>
        <p:nvSpPr>
          <p:cNvPr id="16" name="A03_0172_text"/>
          <p:cNvSpPr/>
          <p:nvPr/>
        </p:nvSpPr>
        <p:spPr>
          <a:xfrm>
            <a:off x="859536" y="5404104"/>
            <a:ext cx="3364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44B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模拟核验不修改真实课表</a:t>
            </a:r>
            <a:endParaRPr lang="en-US" sz="1150" dirty="0"/>
          </a:p>
        </p:txBody>
      </p:sp>
      <p:sp>
        <p:nvSpPr>
          <p:cNvPr id="17" name="A04_0173_screen-base"/>
          <p:cNvSpPr/>
          <p:nvPr/>
        </p:nvSpPr>
        <p:spPr>
          <a:xfrm>
            <a:off x="4608576" y="1645920"/>
            <a:ext cx="7004304" cy="2286000"/>
          </a:xfrm>
          <a:prstGeom prst="rect">
            <a:avLst/>
          </a:prstGeom>
          <a:solidFill>
            <a:srgbClr val="FFFFFF"/>
          </a:solidFill>
          <a:ln w="11430">
            <a:solidFill>
              <a:srgbClr val="DDD2CA"/>
            </a:solidFill>
            <a:prstDash val="solid"/>
          </a:ln>
        </p:spPr>
      </p:sp>
      <p:pic>
        <p:nvPicPr>
          <p:cNvPr id="18" name="A04_0174_screen-image" descr="competition-project\qa\final-cut\4173-risk-1920x10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1682496"/>
            <a:ext cx="6931152" cy="2212848"/>
          </a:xfrm>
          <a:prstGeom prst="rect">
            <a:avLst/>
          </a:prstGeom>
        </p:spPr>
      </p:pic>
      <p:sp>
        <p:nvSpPr>
          <p:cNvPr id="19" name="A05_0175_screen-base"/>
          <p:cNvSpPr/>
          <p:nvPr/>
        </p:nvSpPr>
        <p:spPr>
          <a:xfrm>
            <a:off x="4608576" y="4023360"/>
            <a:ext cx="7004304" cy="2286000"/>
          </a:xfrm>
          <a:prstGeom prst="rect">
            <a:avLst/>
          </a:prstGeom>
          <a:solidFill>
            <a:srgbClr val="FFFFFF"/>
          </a:solidFill>
          <a:ln w="11430">
            <a:solidFill>
              <a:srgbClr val="DDD2CA"/>
            </a:solidFill>
            <a:prstDash val="solid"/>
          </a:ln>
        </p:spPr>
      </p:sp>
      <p:pic>
        <p:nvPicPr>
          <p:cNvPr id="20" name="A05_0176_screen-image" descr="competition-project\qa\final-cut\4173-reschedule-1920x10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4059936"/>
            <a:ext cx="6931152" cy="22128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0_0177_background-field"/>
          <p:cNvSpPr/>
          <p:nvPr/>
        </p:nvSpPr>
        <p:spPr>
          <a:xfrm>
            <a:off x="-1600200" y="4434840"/>
            <a:ext cx="5303520" cy="3749040"/>
          </a:xfrm>
          <a:prstGeom prst="ellipse">
            <a:avLst/>
          </a:prstGeom>
          <a:solidFill>
            <a:srgbClr val="F6DED8">
              <a:alpha val="3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00_0178_background-arc"/>
          <p:cNvSpPr/>
          <p:nvPr/>
        </p:nvSpPr>
        <p:spPr>
          <a:xfrm rot="11880000">
            <a:off x="9326880" y="-548640"/>
            <a:ext cx="3291840" cy="2286000"/>
          </a:xfrm>
          <a:prstGeom prst="arc">
            <a:avLst/>
          </a:prstGeom>
          <a:solidFill>
            <a:srgbClr val="FFFFFF">
              <a:alpha val="0"/>
            </a:srgbClr>
          </a:solidFill>
          <a:ln w="13970">
            <a:solidFill>
              <a:srgbClr val="E65442">
                <a:alpha val="30000"/>
              </a:srgbClr>
            </a:solidFill>
            <a:prstDash val="solid"/>
          </a:ln>
        </p:spPr>
      </p:sp>
      <p:sp>
        <p:nvSpPr>
          <p:cNvPr id="4" name="S00_0179_text"/>
          <p:cNvSpPr/>
          <p:nvPr/>
        </p:nvSpPr>
        <p:spPr>
          <a:xfrm>
            <a:off x="530352" y="2560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70" dirty="0">
                <a:solidFill>
                  <a:srgbClr val="E654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教学管理案例｜全局到个体</a:t>
            </a:r>
            <a:endParaRPr lang="en-US" sz="1000" dirty="0"/>
          </a:p>
        </p:txBody>
      </p:sp>
      <p:sp>
        <p:nvSpPr>
          <p:cNvPr id="5" name="S00_0180_text"/>
          <p:cNvSpPr/>
          <p:nvPr/>
        </p:nvSpPr>
        <p:spPr>
          <a:xfrm>
            <a:off x="512064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11E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排名不是结论，而是发现问题的入口</a:t>
            </a:r>
            <a:endParaRPr lang="en-US" sz="2700" dirty="0"/>
          </a:p>
        </p:txBody>
      </p:sp>
      <p:sp>
        <p:nvSpPr>
          <p:cNvPr id="6" name="S00_0181_text"/>
          <p:cNvSpPr/>
          <p:nvPr/>
        </p:nvSpPr>
        <p:spPr>
          <a:xfrm>
            <a:off x="530352" y="1207008"/>
            <a:ext cx="10881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544B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未来四周谁的负载最高？他的课表和真实风险是什么？一层一层往下看。</a:t>
            </a:r>
            <a:endParaRPr lang="en-US" sz="1220" dirty="0"/>
          </a:p>
        </p:txBody>
      </p:sp>
      <p:sp>
        <p:nvSpPr>
          <p:cNvPr id="7" name="S00_0182_text"/>
          <p:cNvSpPr/>
          <p:nvPr/>
        </p:nvSpPr>
        <p:spPr>
          <a:xfrm>
            <a:off x="512064" y="651052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887C7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校园智序·小序</a:t>
            </a:r>
            <a:endParaRPr lang="en-US" sz="850" dirty="0"/>
          </a:p>
        </p:txBody>
      </p:sp>
      <p:sp>
        <p:nvSpPr>
          <p:cNvPr id="8" name="S00_0183_text"/>
          <p:cNvSpPr/>
          <p:nvPr/>
        </p:nvSpPr>
        <p:spPr>
          <a:xfrm>
            <a:off x="10899648" y="6510528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887C7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08 / 12</a:t>
            </a:r>
            <a:endParaRPr lang="en-US" sz="850" dirty="0"/>
          </a:p>
        </p:txBody>
      </p:sp>
      <p:sp>
        <p:nvSpPr>
          <p:cNvPr id="9" name="A01_0184_stage-dot"/>
          <p:cNvSpPr/>
          <p:nvPr/>
        </p:nvSpPr>
        <p:spPr>
          <a:xfrm>
            <a:off x="749808" y="1783080"/>
            <a:ext cx="493776" cy="493776"/>
          </a:xfrm>
          <a:prstGeom prst="ellipse">
            <a:avLst/>
          </a:prstGeom>
          <a:solidFill>
            <a:srgbClr val="507BA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A01_0185_text"/>
          <p:cNvSpPr/>
          <p:nvPr/>
        </p:nvSpPr>
        <p:spPr>
          <a:xfrm>
            <a:off x="813816" y="18928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850" dirty="0"/>
          </a:p>
        </p:txBody>
      </p:sp>
      <p:sp>
        <p:nvSpPr>
          <p:cNvPr id="11" name="A01_0186_text"/>
          <p:cNvSpPr/>
          <p:nvPr/>
        </p:nvSpPr>
        <p:spPr>
          <a:xfrm>
            <a:off x="1481328" y="177393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07BA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先找出最忙的人</a:t>
            </a:r>
            <a:endParaRPr lang="en-US" sz="1800" dirty="0"/>
          </a:p>
        </p:txBody>
      </p:sp>
      <p:sp>
        <p:nvSpPr>
          <p:cNvPr id="12" name="A01_0187_text"/>
          <p:cNvSpPr/>
          <p:nvPr/>
        </p:nvSpPr>
        <p:spPr>
          <a:xfrm>
            <a:off x="1481328" y="2286000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544B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教师025 · 56课次 / 112课时</a:t>
            </a:r>
            <a:endParaRPr lang="en-US" sz="1220" dirty="0"/>
          </a:p>
        </p:txBody>
      </p:sp>
      <p:sp>
        <p:nvSpPr>
          <p:cNvPr id="13" name="A01_0188_stage-line"/>
          <p:cNvSpPr/>
          <p:nvPr/>
        </p:nvSpPr>
        <p:spPr>
          <a:xfrm>
            <a:off x="996696" y="2304288"/>
            <a:ext cx="0" cy="859536"/>
          </a:xfrm>
          <a:prstGeom prst="line">
            <a:avLst/>
          </a:prstGeom>
          <a:noFill/>
          <a:ln w="17780">
            <a:solidFill>
              <a:srgbClr val="DDD2CA"/>
            </a:solidFill>
            <a:prstDash val="solid"/>
          </a:ln>
        </p:spPr>
      </p:sp>
      <p:sp>
        <p:nvSpPr>
          <p:cNvPr id="14" name="A02_0189_stage-dot"/>
          <p:cNvSpPr/>
          <p:nvPr/>
        </p:nvSpPr>
        <p:spPr>
          <a:xfrm>
            <a:off x="749808" y="3172968"/>
            <a:ext cx="493776" cy="493776"/>
          </a:xfrm>
          <a:prstGeom prst="ellipse">
            <a:avLst/>
          </a:prstGeom>
          <a:solidFill>
            <a:srgbClr val="E654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A02_0190_text"/>
          <p:cNvSpPr/>
          <p:nvPr/>
        </p:nvSpPr>
        <p:spPr>
          <a:xfrm>
            <a:off x="813816" y="328269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850" dirty="0"/>
          </a:p>
        </p:txBody>
      </p:sp>
      <p:sp>
        <p:nvSpPr>
          <p:cNvPr id="16" name="A02_0191_text"/>
          <p:cNvSpPr/>
          <p:nvPr/>
        </p:nvSpPr>
        <p:spPr>
          <a:xfrm>
            <a:off x="1481328" y="316382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6544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再看他的课表</a:t>
            </a:r>
            <a:endParaRPr lang="en-US" sz="1800" dirty="0"/>
          </a:p>
        </p:txBody>
      </p:sp>
      <p:sp>
        <p:nvSpPr>
          <p:cNvPr id="17" name="A02_0192_text"/>
          <p:cNvSpPr/>
          <p:nvPr/>
        </p:nvSpPr>
        <p:spPr>
          <a:xfrm>
            <a:off x="1481328" y="3675888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544B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沿用同一教师对象，不用重新输入</a:t>
            </a:r>
            <a:endParaRPr lang="en-US" sz="1220" dirty="0"/>
          </a:p>
        </p:txBody>
      </p:sp>
      <p:sp>
        <p:nvSpPr>
          <p:cNvPr id="18" name="A02_0193_stage-line"/>
          <p:cNvSpPr/>
          <p:nvPr/>
        </p:nvSpPr>
        <p:spPr>
          <a:xfrm>
            <a:off x="996696" y="3694176"/>
            <a:ext cx="0" cy="859536"/>
          </a:xfrm>
          <a:prstGeom prst="line">
            <a:avLst/>
          </a:prstGeom>
          <a:noFill/>
          <a:ln w="17780">
            <a:solidFill>
              <a:srgbClr val="DDD2CA"/>
            </a:solidFill>
            <a:prstDash val="solid"/>
          </a:ln>
        </p:spPr>
      </p:sp>
      <p:sp>
        <p:nvSpPr>
          <p:cNvPr id="19" name="A03_0194_stage-dot"/>
          <p:cNvSpPr/>
          <p:nvPr/>
        </p:nvSpPr>
        <p:spPr>
          <a:xfrm>
            <a:off x="749808" y="4562856"/>
            <a:ext cx="493776" cy="493776"/>
          </a:xfrm>
          <a:prstGeom prst="ellipse">
            <a:avLst/>
          </a:prstGeom>
          <a:solidFill>
            <a:srgbClr val="237F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A03_0195_text"/>
          <p:cNvSpPr/>
          <p:nvPr/>
        </p:nvSpPr>
        <p:spPr>
          <a:xfrm>
            <a:off x="813816" y="467258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850" dirty="0"/>
          </a:p>
        </p:txBody>
      </p:sp>
      <p:sp>
        <p:nvSpPr>
          <p:cNvPr id="21" name="A03_0196_text"/>
          <p:cNvSpPr/>
          <p:nvPr/>
        </p:nvSpPr>
        <p:spPr>
          <a:xfrm>
            <a:off x="1481328" y="455371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37F69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最后检查他的风险</a:t>
            </a:r>
            <a:endParaRPr lang="en-US" sz="1800" dirty="0"/>
          </a:p>
        </p:txBody>
      </p:sp>
      <p:sp>
        <p:nvSpPr>
          <p:cNvPr id="22" name="A03_0197_text"/>
          <p:cNvSpPr/>
          <p:nvPr/>
        </p:nvSpPr>
        <p:spPr>
          <a:xfrm>
            <a:off x="1481328" y="5065776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544B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0硬冲突 / 每周4次转场风险</a:t>
            </a:r>
            <a:endParaRPr lang="en-US" sz="1220" dirty="0"/>
          </a:p>
        </p:txBody>
      </p:sp>
      <p:sp>
        <p:nvSpPr>
          <p:cNvPr id="23" name="A04_0198_text"/>
          <p:cNvSpPr/>
          <p:nvPr/>
        </p:nvSpPr>
        <p:spPr>
          <a:xfrm>
            <a:off x="758952" y="5806440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B83E3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答案层层接力，“他”始终是同一个人。</a:t>
            </a:r>
            <a:endParaRPr lang="en-US" sz="1700" dirty="0"/>
          </a:p>
        </p:txBody>
      </p:sp>
      <p:sp>
        <p:nvSpPr>
          <p:cNvPr id="24" name="A04_0199_screen-base"/>
          <p:cNvSpPr/>
          <p:nvPr/>
        </p:nvSpPr>
        <p:spPr>
          <a:xfrm>
            <a:off x="5102352" y="1682496"/>
            <a:ext cx="6510528" cy="4498848"/>
          </a:xfrm>
          <a:prstGeom prst="rect">
            <a:avLst/>
          </a:prstGeom>
          <a:solidFill>
            <a:srgbClr val="FFFFFF"/>
          </a:solidFill>
          <a:ln w="11430">
            <a:solidFill>
              <a:srgbClr val="DDD2CA"/>
            </a:solidFill>
            <a:prstDash val="solid"/>
          </a:ln>
        </p:spPr>
      </p:sp>
      <p:pic>
        <p:nvPicPr>
          <p:cNvPr id="25" name="A04_0200_screen-image" descr="competition-project\qa\final-cut\4173-insight-1920x10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8" y="1719072"/>
            <a:ext cx="6437376" cy="44256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5" grpId="0" animBg="1"/>
      <p:bldP spid="16" grpId="0" animBg="1"/>
      <p:bldP spid="17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0_0201_background-field"/>
          <p:cNvSpPr/>
          <p:nvPr/>
        </p:nvSpPr>
        <p:spPr>
          <a:xfrm>
            <a:off x="8641080" y="-1554480"/>
            <a:ext cx="5303520" cy="3749040"/>
          </a:xfrm>
          <a:prstGeom prst="ellipse">
            <a:avLst/>
          </a:prstGeom>
          <a:solidFill>
            <a:srgbClr val="F6E8D8">
              <a:alpha val="3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00_0202_background-arc"/>
          <p:cNvSpPr/>
          <p:nvPr/>
        </p:nvSpPr>
        <p:spPr>
          <a:xfrm rot="1080000">
            <a:off x="-640080" y="4389120"/>
            <a:ext cx="3291840" cy="2286000"/>
          </a:xfrm>
          <a:prstGeom prst="arc">
            <a:avLst/>
          </a:prstGeom>
          <a:solidFill>
            <a:srgbClr val="FFFFFF">
              <a:alpha val="0"/>
            </a:srgbClr>
          </a:solidFill>
          <a:ln w="13970">
            <a:solidFill>
              <a:srgbClr val="E65442">
                <a:alpha val="30000"/>
              </a:srgbClr>
            </a:solidFill>
            <a:prstDash val="solid"/>
          </a:ln>
        </p:spPr>
      </p:sp>
      <p:sp>
        <p:nvSpPr>
          <p:cNvPr id="4" name="S00_0203_text"/>
          <p:cNvSpPr/>
          <p:nvPr/>
        </p:nvSpPr>
        <p:spPr>
          <a:xfrm>
            <a:off x="530352" y="2560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70" dirty="0">
                <a:solidFill>
                  <a:srgbClr val="E654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背后怎么做到</a:t>
            </a:r>
            <a:endParaRPr lang="en-US" sz="1000" dirty="0"/>
          </a:p>
        </p:txBody>
      </p:sp>
      <p:sp>
        <p:nvSpPr>
          <p:cNvPr id="5" name="S00_0204_text"/>
          <p:cNvSpPr/>
          <p:nvPr/>
        </p:nvSpPr>
        <p:spPr>
          <a:xfrm>
            <a:off x="512064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11E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主协调听懂任务，专业角色把事情办完</a:t>
            </a:r>
            <a:endParaRPr lang="en-US" sz="2700" dirty="0"/>
          </a:p>
        </p:txBody>
      </p:sp>
      <p:sp>
        <p:nvSpPr>
          <p:cNvPr id="6" name="S00_0205_text"/>
          <p:cNvSpPr/>
          <p:nvPr/>
        </p:nvSpPr>
        <p:spPr>
          <a:xfrm>
            <a:off x="530352" y="1207008"/>
            <a:ext cx="10881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544B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四个智能体各有边界；主协调不直接调用 CampusTools，所有结果都回到主协调统一解释。</a:t>
            </a:r>
            <a:endParaRPr lang="en-US" sz="1220" dirty="0"/>
          </a:p>
        </p:txBody>
      </p:sp>
      <p:sp>
        <p:nvSpPr>
          <p:cNvPr id="7" name="S00_0206_text"/>
          <p:cNvSpPr/>
          <p:nvPr/>
        </p:nvSpPr>
        <p:spPr>
          <a:xfrm>
            <a:off x="512064" y="651052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887C7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校园智序·小序</a:t>
            </a:r>
            <a:endParaRPr lang="en-US" sz="850" dirty="0"/>
          </a:p>
        </p:txBody>
      </p:sp>
      <p:sp>
        <p:nvSpPr>
          <p:cNvPr id="8" name="S00_0207_text"/>
          <p:cNvSpPr/>
          <p:nvPr/>
        </p:nvSpPr>
        <p:spPr>
          <a:xfrm>
            <a:off x="10899648" y="6510528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887C7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09 / 12</a:t>
            </a:r>
            <a:endParaRPr lang="en-US" sz="850" dirty="0"/>
          </a:p>
        </p:txBody>
      </p:sp>
      <p:sp>
        <p:nvSpPr>
          <p:cNvPr id="9" name="A01_0208_main"/>
          <p:cNvSpPr/>
          <p:nvPr/>
        </p:nvSpPr>
        <p:spPr>
          <a:xfrm>
            <a:off x="4160520" y="1865376"/>
            <a:ext cx="1947672" cy="1325880"/>
          </a:xfrm>
          <a:prstGeom prst="ellipse">
            <a:avLst/>
          </a:prstGeom>
          <a:solidFill>
            <a:srgbClr val="E654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A01_0209_text"/>
          <p:cNvSpPr/>
          <p:nvPr/>
        </p:nvSpPr>
        <p:spPr>
          <a:xfrm>
            <a:off x="4261104" y="21305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小序·主协调</a:t>
            </a:r>
            <a:endParaRPr lang="en-US" sz="1700" dirty="0"/>
          </a:p>
        </p:txBody>
      </p:sp>
      <p:sp>
        <p:nvSpPr>
          <p:cNvPr id="11" name="A01_0210_text"/>
          <p:cNvSpPr/>
          <p:nvPr/>
        </p:nvSpPr>
        <p:spPr>
          <a:xfrm>
            <a:off x="4334256" y="2578608"/>
            <a:ext cx="1581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FE5D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理解 · 分工 · 汇总</a:t>
            </a:r>
            <a:endParaRPr lang="en-US" sz="1000" dirty="0"/>
          </a:p>
        </p:txBody>
      </p:sp>
      <p:sp>
        <p:nvSpPr>
          <p:cNvPr id="12" name="A02_0211_text"/>
          <p:cNvSpPr/>
          <p:nvPr/>
        </p:nvSpPr>
        <p:spPr>
          <a:xfrm>
            <a:off x="713232" y="1874520"/>
            <a:ext cx="2615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B83E3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课程空间</a:t>
            </a:r>
            <a:endParaRPr lang="en-US" sz="2000" dirty="0"/>
          </a:p>
        </p:txBody>
      </p:sp>
      <p:sp>
        <p:nvSpPr>
          <p:cNvPr id="13" name="A02_0212_line"/>
          <p:cNvSpPr/>
          <p:nvPr/>
        </p:nvSpPr>
        <p:spPr>
          <a:xfrm>
            <a:off x="713232" y="2432304"/>
            <a:ext cx="2468880" cy="0"/>
          </a:xfrm>
          <a:prstGeom prst="line">
            <a:avLst/>
          </a:prstGeom>
          <a:noFill/>
          <a:ln w="29210">
            <a:solidFill>
              <a:srgbClr val="B83E32"/>
            </a:solidFill>
            <a:prstDash val="solid"/>
          </a:ln>
        </p:spPr>
      </p:sp>
      <p:sp>
        <p:nvSpPr>
          <p:cNvPr id="14" name="A02_0213_text"/>
          <p:cNvSpPr/>
          <p:nvPr/>
        </p:nvSpPr>
        <p:spPr>
          <a:xfrm>
            <a:off x="713232" y="2615184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44B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查课表、找教室、算共同空闲</a:t>
            </a:r>
            <a:endParaRPr lang="en-US" sz="1200" dirty="0"/>
          </a:p>
        </p:txBody>
      </p:sp>
      <p:sp>
        <p:nvSpPr>
          <p:cNvPr id="15" name="A02_0214_double-arrow"/>
          <p:cNvSpPr/>
          <p:nvPr/>
        </p:nvSpPr>
        <p:spPr>
          <a:xfrm>
            <a:off x="3310128" y="2404872"/>
            <a:ext cx="850392" cy="118872"/>
          </a:xfrm>
          <a:prstGeom prst="line">
            <a:avLst/>
          </a:prstGeom>
          <a:noFill/>
          <a:ln w="18415">
            <a:solidFill>
              <a:srgbClr val="E65442"/>
            </a:solidFill>
            <a:prstDash val="solid"/>
            <a:headEnd type="triangle"/>
            <a:tailEnd type="triangle"/>
          </a:ln>
        </p:spPr>
      </p:sp>
      <p:sp>
        <p:nvSpPr>
          <p:cNvPr id="16" name="A03_0215_text"/>
          <p:cNvSpPr/>
          <p:nvPr/>
        </p:nvSpPr>
        <p:spPr>
          <a:xfrm>
            <a:off x="713232" y="3986784"/>
            <a:ext cx="2615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B96B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风险规划</a:t>
            </a:r>
            <a:endParaRPr lang="en-US" sz="2000" dirty="0"/>
          </a:p>
        </p:txBody>
      </p:sp>
      <p:sp>
        <p:nvSpPr>
          <p:cNvPr id="17" name="A03_0216_line"/>
          <p:cNvSpPr/>
          <p:nvPr/>
        </p:nvSpPr>
        <p:spPr>
          <a:xfrm>
            <a:off x="713232" y="4544568"/>
            <a:ext cx="2468880" cy="0"/>
          </a:xfrm>
          <a:prstGeom prst="line">
            <a:avLst/>
          </a:prstGeom>
          <a:noFill/>
          <a:ln w="29210">
            <a:solidFill>
              <a:srgbClr val="B96B2E"/>
            </a:solidFill>
            <a:prstDash val="solid"/>
          </a:ln>
        </p:spPr>
      </p:sp>
      <p:sp>
        <p:nvSpPr>
          <p:cNvPr id="18" name="A03_0217_text"/>
          <p:cNvSpPr/>
          <p:nvPr/>
        </p:nvSpPr>
        <p:spPr>
          <a:xfrm>
            <a:off x="713232" y="4727448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44B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查冲突、识别赶场、模拟调课</a:t>
            </a:r>
            <a:endParaRPr lang="en-US" sz="1200" dirty="0"/>
          </a:p>
        </p:txBody>
      </p:sp>
      <p:sp>
        <p:nvSpPr>
          <p:cNvPr id="19" name="A03_0218_double-arrow"/>
          <p:cNvSpPr/>
          <p:nvPr/>
        </p:nvSpPr>
        <p:spPr>
          <a:xfrm flipV="1">
            <a:off x="3310128" y="2523744"/>
            <a:ext cx="850392" cy="1993392"/>
          </a:xfrm>
          <a:prstGeom prst="line">
            <a:avLst/>
          </a:prstGeom>
          <a:noFill/>
          <a:ln w="18415">
            <a:solidFill>
              <a:srgbClr val="E65442"/>
            </a:solidFill>
            <a:prstDash val="solid"/>
            <a:headEnd type="triangle"/>
            <a:tailEnd type="triangle"/>
          </a:ln>
        </p:spPr>
      </p:sp>
      <p:sp>
        <p:nvSpPr>
          <p:cNvPr id="20" name="A04_0219_text"/>
          <p:cNvSpPr/>
          <p:nvPr/>
        </p:nvSpPr>
        <p:spPr>
          <a:xfrm>
            <a:off x="4096512" y="4224528"/>
            <a:ext cx="2615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507BA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校园洞察</a:t>
            </a:r>
            <a:endParaRPr lang="en-US" sz="2000" dirty="0"/>
          </a:p>
        </p:txBody>
      </p:sp>
      <p:sp>
        <p:nvSpPr>
          <p:cNvPr id="21" name="A04_0220_line"/>
          <p:cNvSpPr/>
          <p:nvPr/>
        </p:nvSpPr>
        <p:spPr>
          <a:xfrm>
            <a:off x="4096512" y="4782312"/>
            <a:ext cx="2468880" cy="0"/>
          </a:xfrm>
          <a:prstGeom prst="line">
            <a:avLst/>
          </a:prstGeom>
          <a:noFill/>
          <a:ln w="29210">
            <a:solidFill>
              <a:srgbClr val="507BA0"/>
            </a:solidFill>
            <a:prstDash val="solid"/>
          </a:ln>
        </p:spPr>
      </p:sp>
      <p:sp>
        <p:nvSpPr>
          <p:cNvPr id="22" name="A04_0221_text"/>
          <p:cNvSpPr/>
          <p:nvPr/>
        </p:nvSpPr>
        <p:spPr>
          <a:xfrm>
            <a:off x="4096512" y="4965192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44B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看负载、找第一名、继续下钻</a:t>
            </a:r>
            <a:endParaRPr lang="en-US" sz="1200" dirty="0"/>
          </a:p>
        </p:txBody>
      </p:sp>
      <p:sp>
        <p:nvSpPr>
          <p:cNvPr id="23" name="A04_0222_double-arrow"/>
          <p:cNvSpPr/>
          <p:nvPr/>
        </p:nvSpPr>
        <p:spPr>
          <a:xfrm flipH="1" flipV="1">
            <a:off x="5129784" y="2523744"/>
            <a:ext cx="274320" cy="2231136"/>
          </a:xfrm>
          <a:prstGeom prst="line">
            <a:avLst/>
          </a:prstGeom>
          <a:noFill/>
          <a:ln w="18415">
            <a:solidFill>
              <a:srgbClr val="E65442"/>
            </a:solidFill>
            <a:prstDash val="solid"/>
            <a:headEnd type="triangle"/>
            <a:tailEnd type="triangle"/>
          </a:ln>
        </p:spPr>
      </p:sp>
      <p:sp>
        <p:nvSpPr>
          <p:cNvPr id="24" name="A05_0223_tools-band"/>
          <p:cNvSpPr/>
          <p:nvPr/>
        </p:nvSpPr>
        <p:spPr>
          <a:xfrm>
            <a:off x="6830568" y="1755648"/>
            <a:ext cx="4745736" cy="4389120"/>
          </a:xfrm>
          <a:prstGeom prst="rect">
            <a:avLst/>
          </a:prstGeom>
          <a:solidFill>
            <a:srgbClr val="DDECE6">
              <a:alpha val="7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A05_0224_text"/>
          <p:cNvSpPr/>
          <p:nvPr/>
        </p:nvSpPr>
        <p:spPr>
          <a:xfrm>
            <a:off x="7159752" y="198424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37F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CampusTools</a:t>
            </a:r>
            <a:endParaRPr lang="en-US" sz="2300" dirty="0"/>
          </a:p>
        </p:txBody>
      </p:sp>
      <p:sp>
        <p:nvSpPr>
          <p:cNvPr id="26" name="A05_0225_text"/>
          <p:cNvSpPr/>
          <p:nvPr/>
        </p:nvSpPr>
        <p:spPr>
          <a:xfrm>
            <a:off x="7178040" y="2459736"/>
            <a:ext cx="33284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44B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13 个面向智能体的确定性工具</a:t>
            </a:r>
            <a:endParaRPr lang="en-US" sz="1150" dirty="0"/>
          </a:p>
        </p:txBody>
      </p:sp>
      <p:sp>
        <p:nvSpPr>
          <p:cNvPr id="27" name="A05_0226_line"/>
          <p:cNvSpPr/>
          <p:nvPr/>
        </p:nvSpPr>
        <p:spPr>
          <a:xfrm>
            <a:off x="7168896" y="3529584"/>
            <a:ext cx="3977640" cy="0"/>
          </a:xfrm>
          <a:prstGeom prst="line">
            <a:avLst/>
          </a:prstGeom>
          <a:noFill/>
          <a:ln w="10160">
            <a:solidFill>
              <a:srgbClr val="BFD8CE"/>
            </a:solidFill>
            <a:prstDash val="solid"/>
          </a:ln>
        </p:spPr>
      </p:sp>
      <p:sp>
        <p:nvSpPr>
          <p:cNvPr id="28" name="A05_0227_text"/>
          <p:cNvSpPr/>
          <p:nvPr/>
        </p:nvSpPr>
        <p:spPr>
          <a:xfrm>
            <a:off x="7187184" y="2999232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237F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课表与对象</a:t>
            </a:r>
            <a:endParaRPr lang="en-US" sz="1220" dirty="0"/>
          </a:p>
        </p:txBody>
      </p:sp>
      <p:sp>
        <p:nvSpPr>
          <p:cNvPr id="29" name="A05_0228_text"/>
          <p:cNvSpPr/>
          <p:nvPr/>
        </p:nvSpPr>
        <p:spPr>
          <a:xfrm>
            <a:off x="8540496" y="299923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544B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查课表 · 找对象 · 衔接上下文</a:t>
            </a:r>
            <a:endParaRPr lang="en-US" sz="1070" dirty="0"/>
          </a:p>
        </p:txBody>
      </p:sp>
      <p:sp>
        <p:nvSpPr>
          <p:cNvPr id="30" name="A05_0229_line"/>
          <p:cNvSpPr/>
          <p:nvPr/>
        </p:nvSpPr>
        <p:spPr>
          <a:xfrm>
            <a:off x="7168896" y="4206240"/>
            <a:ext cx="3977640" cy="0"/>
          </a:xfrm>
          <a:prstGeom prst="line">
            <a:avLst/>
          </a:prstGeom>
          <a:noFill/>
          <a:ln w="10160">
            <a:solidFill>
              <a:srgbClr val="BFD8CE"/>
            </a:solidFill>
            <a:prstDash val="solid"/>
          </a:ln>
        </p:spPr>
      </p:sp>
      <p:sp>
        <p:nvSpPr>
          <p:cNvPr id="31" name="A05_0230_text"/>
          <p:cNvSpPr/>
          <p:nvPr/>
        </p:nvSpPr>
        <p:spPr>
          <a:xfrm>
            <a:off x="7187184" y="3675888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237F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空间与协同</a:t>
            </a:r>
            <a:endParaRPr lang="en-US" sz="1220" dirty="0"/>
          </a:p>
        </p:txBody>
      </p:sp>
      <p:sp>
        <p:nvSpPr>
          <p:cNvPr id="32" name="A05_0231_text"/>
          <p:cNvSpPr/>
          <p:nvPr/>
        </p:nvSpPr>
        <p:spPr>
          <a:xfrm>
            <a:off x="8540496" y="367588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544B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找空教室 · 求共同空闲 · 生成方案</a:t>
            </a:r>
            <a:endParaRPr lang="en-US" sz="1070" dirty="0"/>
          </a:p>
        </p:txBody>
      </p:sp>
      <p:sp>
        <p:nvSpPr>
          <p:cNvPr id="33" name="A05_0232_line"/>
          <p:cNvSpPr/>
          <p:nvPr/>
        </p:nvSpPr>
        <p:spPr>
          <a:xfrm>
            <a:off x="7168896" y="4882896"/>
            <a:ext cx="3977640" cy="0"/>
          </a:xfrm>
          <a:prstGeom prst="line">
            <a:avLst/>
          </a:prstGeom>
          <a:noFill/>
          <a:ln w="10160">
            <a:solidFill>
              <a:srgbClr val="BFD8CE"/>
            </a:solidFill>
            <a:prstDash val="solid"/>
          </a:ln>
        </p:spPr>
      </p:sp>
      <p:sp>
        <p:nvSpPr>
          <p:cNvPr id="34" name="A05_0233_text"/>
          <p:cNvSpPr/>
          <p:nvPr/>
        </p:nvSpPr>
        <p:spPr>
          <a:xfrm>
            <a:off x="7187184" y="4352544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237F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风险与调课</a:t>
            </a:r>
            <a:endParaRPr lang="en-US" sz="1220" dirty="0"/>
          </a:p>
        </p:txBody>
      </p:sp>
      <p:sp>
        <p:nvSpPr>
          <p:cNvPr id="35" name="A05_0234_text"/>
          <p:cNvSpPr/>
          <p:nvPr/>
        </p:nvSpPr>
        <p:spPr>
          <a:xfrm>
            <a:off x="8540496" y="4352544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544B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查冲突 · 识别赶场 · 模拟可行性</a:t>
            </a:r>
            <a:endParaRPr lang="en-US" sz="1070" dirty="0"/>
          </a:p>
        </p:txBody>
      </p:sp>
      <p:sp>
        <p:nvSpPr>
          <p:cNvPr id="36" name="A05_0235_line"/>
          <p:cNvSpPr/>
          <p:nvPr/>
        </p:nvSpPr>
        <p:spPr>
          <a:xfrm>
            <a:off x="7168896" y="5559552"/>
            <a:ext cx="3977640" cy="0"/>
          </a:xfrm>
          <a:prstGeom prst="line">
            <a:avLst/>
          </a:prstGeom>
          <a:noFill/>
          <a:ln w="27940">
            <a:solidFill>
              <a:srgbClr val="237F69"/>
            </a:solidFill>
            <a:prstDash val="solid"/>
          </a:ln>
        </p:spPr>
      </p:sp>
      <p:sp>
        <p:nvSpPr>
          <p:cNvPr id="37" name="A05_0236_text"/>
          <p:cNvSpPr/>
          <p:nvPr/>
        </p:nvSpPr>
        <p:spPr>
          <a:xfrm>
            <a:off x="7187184" y="5029200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237F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校园洞察</a:t>
            </a:r>
            <a:endParaRPr lang="en-US" sz="1220" dirty="0"/>
          </a:p>
        </p:txBody>
      </p:sp>
      <p:sp>
        <p:nvSpPr>
          <p:cNvPr id="38" name="A05_0237_text"/>
          <p:cNvSpPr/>
          <p:nvPr/>
        </p:nvSpPr>
        <p:spPr>
          <a:xfrm>
            <a:off x="8540496" y="502920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544B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看总览 · 算负载 · 分析空间利用</a:t>
            </a:r>
            <a:endParaRPr lang="en-US" sz="1070" dirty="0"/>
          </a:p>
        </p:txBody>
      </p:sp>
      <p:sp>
        <p:nvSpPr>
          <p:cNvPr id="39" name="A06_0238_text"/>
          <p:cNvSpPr/>
          <p:nvPr/>
        </p:nvSpPr>
        <p:spPr>
          <a:xfrm>
            <a:off x="7351776" y="5504688"/>
            <a:ext cx="512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83E3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2600" dirty="0"/>
          </a:p>
        </p:txBody>
      </p:sp>
      <p:sp>
        <p:nvSpPr>
          <p:cNvPr id="40" name="A06_0239_text"/>
          <p:cNvSpPr/>
          <p:nvPr/>
        </p:nvSpPr>
        <p:spPr>
          <a:xfrm>
            <a:off x="7818120" y="5568696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11E1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个智能体</a:t>
            </a:r>
            <a:endParaRPr lang="en-US" sz="1050" dirty="0"/>
          </a:p>
        </p:txBody>
      </p:sp>
      <p:sp>
        <p:nvSpPr>
          <p:cNvPr id="41" name="A06_0240_text"/>
          <p:cNvSpPr/>
          <p:nvPr/>
        </p:nvSpPr>
        <p:spPr>
          <a:xfrm>
            <a:off x="8796528" y="5504688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37F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13</a:t>
            </a:r>
            <a:endParaRPr lang="en-US" sz="2600" dirty="0"/>
          </a:p>
        </p:txBody>
      </p:sp>
      <p:sp>
        <p:nvSpPr>
          <p:cNvPr id="42" name="A06_0241_text"/>
          <p:cNvSpPr/>
          <p:nvPr/>
        </p:nvSpPr>
        <p:spPr>
          <a:xfrm>
            <a:off x="9418320" y="556869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11E1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项工具</a:t>
            </a:r>
            <a:endParaRPr lang="en-US" sz="1050" dirty="0"/>
          </a:p>
        </p:txBody>
      </p:sp>
      <p:sp>
        <p:nvSpPr>
          <p:cNvPr id="43" name="A06_0242_text"/>
          <p:cNvSpPr/>
          <p:nvPr/>
        </p:nvSpPr>
        <p:spPr>
          <a:xfrm>
            <a:off x="10241280" y="5504688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07BA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14</a:t>
            </a:r>
            <a:endParaRPr lang="en-US" sz="2600" dirty="0"/>
          </a:p>
        </p:txBody>
      </p:sp>
      <p:sp>
        <p:nvSpPr>
          <p:cNvPr id="44" name="A06_0243_text"/>
          <p:cNvSpPr/>
          <p:nvPr/>
        </p:nvSpPr>
        <p:spPr>
          <a:xfrm>
            <a:off x="10844784" y="55686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11E1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绑定关系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3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38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8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8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8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38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8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38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38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38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38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38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38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38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4" grpId="0" animBg="1"/>
      <p:bldP spid="16" grpId="0" animBg="1"/>
      <p:bldP spid="18" grpId="0" animBg="1"/>
      <p:bldP spid="20" grpId="0" animBg="1"/>
      <p:bldP spid="22" grpId="0" animBg="1"/>
      <p:bldP spid="25" grpId="0" animBg="1"/>
      <p:bldP spid="26" grpId="0" animBg="1"/>
      <p:bldP spid="28" grpId="0" animBg="1"/>
      <p:bldP spid="29" grpId="0" animBg="1"/>
      <p:bldP spid="31" grpId="0" animBg="1"/>
      <p:bldP spid="32" grpId="0" animBg="1"/>
      <p:bldP spid="34" grpId="0" animBg="1"/>
      <p:bldP spid="35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0_0244_background-field"/>
          <p:cNvSpPr/>
          <p:nvPr/>
        </p:nvSpPr>
        <p:spPr>
          <a:xfrm>
            <a:off x="-1600200" y="4434840"/>
            <a:ext cx="5303520" cy="3749040"/>
          </a:xfrm>
          <a:prstGeom prst="ellipse">
            <a:avLst/>
          </a:prstGeom>
          <a:solidFill>
            <a:srgbClr val="F6DED8">
              <a:alpha val="3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00_0245_background-arc"/>
          <p:cNvSpPr/>
          <p:nvPr/>
        </p:nvSpPr>
        <p:spPr>
          <a:xfrm rot="11880000">
            <a:off x="9326880" y="-548640"/>
            <a:ext cx="3291840" cy="2286000"/>
          </a:xfrm>
          <a:prstGeom prst="arc">
            <a:avLst/>
          </a:prstGeom>
          <a:solidFill>
            <a:srgbClr val="FFFFFF">
              <a:alpha val="0"/>
            </a:srgbClr>
          </a:solidFill>
          <a:ln w="13970">
            <a:solidFill>
              <a:srgbClr val="E65442">
                <a:alpha val="30000"/>
              </a:srgbClr>
            </a:solidFill>
            <a:prstDash val="solid"/>
          </a:ln>
        </p:spPr>
      </p:sp>
      <p:sp>
        <p:nvSpPr>
          <p:cNvPr id="4" name="S00_0246_text"/>
          <p:cNvSpPr/>
          <p:nvPr/>
        </p:nvSpPr>
        <p:spPr>
          <a:xfrm>
            <a:off x="530352" y="2560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70" dirty="0">
                <a:solidFill>
                  <a:srgbClr val="E654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技术创新</a:t>
            </a:r>
            <a:endParaRPr lang="en-US" sz="1000" dirty="0"/>
          </a:p>
        </p:txBody>
      </p:sp>
      <p:sp>
        <p:nvSpPr>
          <p:cNvPr id="5" name="S00_0247_text"/>
          <p:cNvSpPr/>
          <p:nvPr/>
        </p:nvSpPr>
        <p:spPr>
          <a:xfrm>
            <a:off x="512064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11E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技术创新：让任务接得住，让结果核得清</a:t>
            </a:r>
            <a:endParaRPr lang="en-US" sz="2700" dirty="0"/>
          </a:p>
        </p:txBody>
      </p:sp>
      <p:sp>
        <p:nvSpPr>
          <p:cNvPr id="6" name="S00_0248_text"/>
          <p:cNvSpPr/>
          <p:nvPr/>
        </p:nvSpPr>
        <p:spPr>
          <a:xfrm>
            <a:off x="530352" y="1207008"/>
            <a:ext cx="10881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544B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把多人协作、确定性事实与跨轮次上下文，组织成同一条可复核的任务链。</a:t>
            </a:r>
            <a:endParaRPr lang="en-US" sz="1220" dirty="0"/>
          </a:p>
        </p:txBody>
      </p:sp>
      <p:sp>
        <p:nvSpPr>
          <p:cNvPr id="7" name="S00_0249_text"/>
          <p:cNvSpPr/>
          <p:nvPr/>
        </p:nvSpPr>
        <p:spPr>
          <a:xfrm>
            <a:off x="512064" y="651052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887C7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校园智序·小序</a:t>
            </a:r>
            <a:endParaRPr lang="en-US" sz="850" dirty="0"/>
          </a:p>
        </p:txBody>
      </p:sp>
      <p:sp>
        <p:nvSpPr>
          <p:cNvPr id="8" name="S00_0250_text"/>
          <p:cNvSpPr/>
          <p:nvPr/>
        </p:nvSpPr>
        <p:spPr>
          <a:xfrm>
            <a:off x="10899648" y="6510528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887C7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 / 12</a:t>
            </a:r>
            <a:endParaRPr lang="en-US" sz="850" dirty="0"/>
          </a:p>
        </p:txBody>
      </p:sp>
      <p:sp>
        <p:nvSpPr>
          <p:cNvPr id="9" name="A01_0251_layer"/>
          <p:cNvSpPr/>
          <p:nvPr/>
        </p:nvSpPr>
        <p:spPr>
          <a:xfrm>
            <a:off x="658368" y="1746504"/>
            <a:ext cx="10881360" cy="1225296"/>
          </a:xfrm>
          <a:prstGeom prst="rect">
            <a:avLst/>
          </a:prstGeom>
          <a:solidFill>
            <a:srgbClr val="F6DED8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A01_0252_text"/>
          <p:cNvSpPr/>
          <p:nvPr/>
        </p:nvSpPr>
        <p:spPr>
          <a:xfrm>
            <a:off x="932688" y="1929384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83E3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A01_0253_text"/>
          <p:cNvSpPr/>
          <p:nvPr/>
        </p:nvSpPr>
        <p:spPr>
          <a:xfrm>
            <a:off x="1481328" y="1947672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B83E3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多角色接力</a:t>
            </a:r>
            <a:endParaRPr lang="en-US" sz="2100" dirty="0"/>
          </a:p>
        </p:txBody>
      </p:sp>
      <p:sp>
        <p:nvSpPr>
          <p:cNvPr id="12" name="A01_0254_text"/>
          <p:cNvSpPr/>
          <p:nvPr/>
        </p:nvSpPr>
        <p:spPr>
          <a:xfrm>
            <a:off x="4645152" y="1929384"/>
            <a:ext cx="508406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544B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主协调听懂目标，专业智能体各自处理课表、风险与全局洞察。</a:t>
            </a:r>
            <a:endParaRPr lang="en-US" sz="1240" dirty="0"/>
          </a:p>
        </p:txBody>
      </p:sp>
      <p:sp>
        <p:nvSpPr>
          <p:cNvPr id="13" name="A01_0255_text"/>
          <p:cNvSpPr/>
          <p:nvPr/>
        </p:nvSpPr>
        <p:spPr>
          <a:xfrm>
            <a:off x="9985248" y="1947672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B83E3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分工有边界</a:t>
            </a:r>
            <a:endParaRPr lang="en-US" sz="1050" dirty="0"/>
          </a:p>
        </p:txBody>
      </p:sp>
      <p:sp>
        <p:nvSpPr>
          <p:cNvPr id="14" name="A02_0256_layer"/>
          <p:cNvSpPr/>
          <p:nvPr/>
        </p:nvSpPr>
        <p:spPr>
          <a:xfrm>
            <a:off x="658368" y="3099816"/>
            <a:ext cx="10881360" cy="1426464"/>
          </a:xfrm>
          <a:prstGeom prst="rect">
            <a:avLst/>
          </a:prstGeom>
          <a:solidFill>
            <a:srgbClr val="DDECE6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A02_0257_text"/>
          <p:cNvSpPr/>
          <p:nvPr/>
        </p:nvSpPr>
        <p:spPr>
          <a:xfrm>
            <a:off x="932688" y="3282696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37F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A02_0258_text"/>
          <p:cNvSpPr/>
          <p:nvPr/>
        </p:nvSpPr>
        <p:spPr>
          <a:xfrm>
            <a:off x="1481328" y="3300984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37F69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事实单独核验</a:t>
            </a:r>
            <a:endParaRPr lang="en-US" sz="2100" dirty="0"/>
          </a:p>
        </p:txBody>
      </p:sp>
      <p:sp>
        <p:nvSpPr>
          <p:cNvPr id="17" name="A02_0259_text"/>
          <p:cNvSpPr/>
          <p:nvPr/>
        </p:nvSpPr>
        <p:spPr>
          <a:xfrm>
            <a:off x="4645152" y="3282696"/>
            <a:ext cx="508406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544B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课表、教室、容量与风险由 CampusTools 计算；模型不能自行补写动态事实。</a:t>
            </a:r>
            <a:endParaRPr lang="en-US" sz="1240" dirty="0"/>
          </a:p>
        </p:txBody>
      </p:sp>
      <p:sp>
        <p:nvSpPr>
          <p:cNvPr id="18" name="A02_0260_text"/>
          <p:cNvSpPr/>
          <p:nvPr/>
        </p:nvSpPr>
        <p:spPr>
          <a:xfrm>
            <a:off x="9985248" y="3300984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37F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结果可复核</a:t>
            </a:r>
            <a:endParaRPr lang="en-US" sz="1050" dirty="0"/>
          </a:p>
        </p:txBody>
      </p:sp>
      <p:sp>
        <p:nvSpPr>
          <p:cNvPr id="19" name="A03_0261_layer"/>
          <p:cNvSpPr/>
          <p:nvPr/>
        </p:nvSpPr>
        <p:spPr>
          <a:xfrm>
            <a:off x="658368" y="4654296"/>
            <a:ext cx="10881360" cy="1225296"/>
          </a:xfrm>
          <a:prstGeom prst="rect">
            <a:avLst/>
          </a:prstGeom>
          <a:solidFill>
            <a:srgbClr val="DFE8F0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A03_0262_text"/>
          <p:cNvSpPr/>
          <p:nvPr/>
        </p:nvSpPr>
        <p:spPr>
          <a:xfrm>
            <a:off x="932688" y="4837176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07BA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A03_0263_text"/>
          <p:cNvSpPr/>
          <p:nvPr/>
        </p:nvSpPr>
        <p:spPr>
          <a:xfrm>
            <a:off x="1481328" y="4855464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507BA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追问不用重来</a:t>
            </a:r>
            <a:endParaRPr lang="en-US" sz="2100" dirty="0"/>
          </a:p>
        </p:txBody>
      </p:sp>
      <p:sp>
        <p:nvSpPr>
          <p:cNvPr id="22" name="A03_0264_text"/>
          <p:cNvSpPr/>
          <p:nvPr/>
        </p:nvSpPr>
        <p:spPr>
          <a:xfrm>
            <a:off x="4645152" y="4837176"/>
            <a:ext cx="508406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544B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从“谁最忙”到“看他的课表”再到“查他的风险”，同一对象持续传递。</a:t>
            </a:r>
            <a:endParaRPr lang="en-US" sz="1240" dirty="0"/>
          </a:p>
        </p:txBody>
      </p:sp>
      <p:sp>
        <p:nvSpPr>
          <p:cNvPr id="23" name="A03_0265_text"/>
          <p:cNvSpPr/>
          <p:nvPr/>
        </p:nvSpPr>
        <p:spPr>
          <a:xfrm>
            <a:off x="9985248" y="4855464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507BA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上下文连续</a:t>
            </a:r>
            <a:endParaRPr lang="en-US" sz="1050" dirty="0"/>
          </a:p>
        </p:txBody>
      </p:sp>
      <p:sp>
        <p:nvSpPr>
          <p:cNvPr id="24" name="A04_0266_text"/>
          <p:cNvSpPr/>
          <p:nvPr/>
        </p:nvSpPr>
        <p:spPr>
          <a:xfrm>
            <a:off x="3557016" y="6007608"/>
            <a:ext cx="5047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B83E3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“模型可以理解，但不能自行编造校园事实。”</a:t>
            </a:r>
            <a:endParaRPr lang="en-US" sz="1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0_0267_background-field"/>
          <p:cNvSpPr/>
          <p:nvPr/>
        </p:nvSpPr>
        <p:spPr>
          <a:xfrm>
            <a:off x="8641080" y="-1554480"/>
            <a:ext cx="5303520" cy="3749040"/>
          </a:xfrm>
          <a:prstGeom prst="ellipse">
            <a:avLst/>
          </a:prstGeom>
          <a:solidFill>
            <a:srgbClr val="F6DED8">
              <a:alpha val="3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00_0268_background-arc"/>
          <p:cNvSpPr/>
          <p:nvPr/>
        </p:nvSpPr>
        <p:spPr>
          <a:xfrm rot="1080000">
            <a:off x="-640080" y="4389120"/>
            <a:ext cx="3291840" cy="2286000"/>
          </a:xfrm>
          <a:prstGeom prst="arc">
            <a:avLst/>
          </a:prstGeom>
          <a:solidFill>
            <a:srgbClr val="FFFFFF">
              <a:alpha val="0"/>
            </a:srgbClr>
          </a:solidFill>
          <a:ln w="13970">
            <a:solidFill>
              <a:srgbClr val="E65442">
                <a:alpha val="30000"/>
              </a:srgbClr>
            </a:solidFill>
            <a:prstDash val="solid"/>
          </a:ln>
        </p:spPr>
      </p:sp>
      <p:sp>
        <p:nvSpPr>
          <p:cNvPr id="4" name="S00_0269_text"/>
          <p:cNvSpPr/>
          <p:nvPr/>
        </p:nvSpPr>
        <p:spPr>
          <a:xfrm>
            <a:off x="530352" y="2560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70" dirty="0">
                <a:solidFill>
                  <a:srgbClr val="E654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真实落地与下一步</a:t>
            </a:r>
            <a:endParaRPr lang="en-US" sz="1000" dirty="0"/>
          </a:p>
        </p:txBody>
      </p:sp>
      <p:sp>
        <p:nvSpPr>
          <p:cNvPr id="5" name="S00_0270_text"/>
          <p:cNvSpPr/>
          <p:nvPr/>
        </p:nvSpPr>
        <p:spPr>
          <a:xfrm>
            <a:off x="512064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11E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从真实服务长出来，也朝着真实需求走下去</a:t>
            </a:r>
            <a:endParaRPr lang="en-US" sz="2700" dirty="0"/>
          </a:p>
        </p:txBody>
      </p:sp>
      <p:sp>
        <p:nvSpPr>
          <p:cNvPr id="6" name="S00_0271_text"/>
          <p:cNvSpPr/>
          <p:nvPr/>
        </p:nvSpPr>
        <p:spPr>
          <a:xfrm>
            <a:off x="530352" y="1207008"/>
            <a:ext cx="10881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544B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项目源于已经真实投入使用的校园课表服务；只呈现已发生的真实使用，不虚构活跃度、满意度或增长率。</a:t>
            </a:r>
            <a:endParaRPr lang="en-US" sz="1220" dirty="0"/>
          </a:p>
        </p:txBody>
      </p:sp>
      <p:sp>
        <p:nvSpPr>
          <p:cNvPr id="7" name="S00_0272_text"/>
          <p:cNvSpPr/>
          <p:nvPr/>
        </p:nvSpPr>
        <p:spPr>
          <a:xfrm>
            <a:off x="512064" y="651052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887C7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校园智序·小序</a:t>
            </a:r>
            <a:endParaRPr lang="en-US" sz="850" dirty="0"/>
          </a:p>
        </p:txBody>
      </p:sp>
      <p:sp>
        <p:nvSpPr>
          <p:cNvPr id="8" name="S00_0273_text"/>
          <p:cNvSpPr/>
          <p:nvPr/>
        </p:nvSpPr>
        <p:spPr>
          <a:xfrm>
            <a:off x="10899648" y="6510528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887C7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11 / 12</a:t>
            </a:r>
            <a:endParaRPr lang="en-US" sz="850" dirty="0"/>
          </a:p>
        </p:txBody>
      </p:sp>
      <p:sp>
        <p:nvSpPr>
          <p:cNvPr id="9" name="A01_0274_text"/>
          <p:cNvSpPr/>
          <p:nvPr/>
        </p:nvSpPr>
        <p:spPr>
          <a:xfrm>
            <a:off x="640080" y="1700784"/>
            <a:ext cx="3200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B83E3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1500+</a:t>
            </a:r>
            <a:endParaRPr lang="en-US" sz="6000" dirty="0"/>
          </a:p>
        </p:txBody>
      </p:sp>
      <p:sp>
        <p:nvSpPr>
          <p:cNvPr id="10" name="A01_0275_text"/>
          <p:cNvSpPr/>
          <p:nvPr/>
        </p:nvSpPr>
        <p:spPr>
          <a:xfrm>
            <a:off x="694944" y="26151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11E1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底层课表服务累计用户</a:t>
            </a:r>
            <a:endParaRPr lang="en-US" sz="1600" dirty="0"/>
          </a:p>
        </p:txBody>
      </p:sp>
      <p:sp>
        <p:nvSpPr>
          <p:cNvPr id="11" name="A02_0276_text"/>
          <p:cNvSpPr/>
          <p:nvPr/>
        </p:nvSpPr>
        <p:spPr>
          <a:xfrm>
            <a:off x="713232" y="3072384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44B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本次参赛作品在这些真实需求基础上，从课表查询升级为校园教学时空资源智能体。</a:t>
            </a:r>
            <a:endParaRPr lang="en-US" sz="1250" dirty="0"/>
          </a:p>
        </p:txBody>
      </p:sp>
      <p:sp>
        <p:nvSpPr>
          <p:cNvPr id="12" name="A02_0277_line"/>
          <p:cNvSpPr/>
          <p:nvPr/>
        </p:nvSpPr>
        <p:spPr>
          <a:xfrm>
            <a:off x="713232" y="3950208"/>
            <a:ext cx="3081528" cy="0"/>
          </a:xfrm>
          <a:prstGeom prst="line">
            <a:avLst/>
          </a:prstGeom>
          <a:noFill/>
          <a:ln w="12700">
            <a:solidFill>
              <a:srgbClr val="DDD2CA"/>
            </a:solidFill>
            <a:prstDash val="solid"/>
          </a:ln>
        </p:spPr>
      </p:sp>
      <p:sp>
        <p:nvSpPr>
          <p:cNvPr id="13" name="A03_0278_text"/>
          <p:cNvSpPr/>
          <p:nvPr/>
        </p:nvSpPr>
        <p:spPr>
          <a:xfrm>
            <a:off x="731520" y="411480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654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900" dirty="0"/>
          </a:p>
        </p:txBody>
      </p:sp>
      <p:sp>
        <p:nvSpPr>
          <p:cNvPr id="14" name="A03_0279_text"/>
          <p:cNvSpPr/>
          <p:nvPr/>
        </p:nvSpPr>
        <p:spPr>
          <a:xfrm>
            <a:off x="1207008" y="4114800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211E1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减少信息差</a:t>
            </a:r>
            <a:endParaRPr lang="en-US" sz="1220" dirty="0"/>
          </a:p>
        </p:txBody>
      </p:sp>
      <p:sp>
        <p:nvSpPr>
          <p:cNvPr id="15" name="A03_0280_text"/>
          <p:cNvSpPr/>
          <p:nvPr/>
        </p:nvSpPr>
        <p:spPr>
          <a:xfrm>
            <a:off x="731520" y="451713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37F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A03_0281_text"/>
          <p:cNvSpPr/>
          <p:nvPr/>
        </p:nvSpPr>
        <p:spPr>
          <a:xfrm>
            <a:off x="1207008" y="4517136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211E1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减少重复核对</a:t>
            </a:r>
            <a:endParaRPr lang="en-US" sz="1220" dirty="0"/>
          </a:p>
        </p:txBody>
      </p:sp>
      <p:sp>
        <p:nvSpPr>
          <p:cNvPr id="17" name="A03_0282_text"/>
          <p:cNvSpPr/>
          <p:nvPr/>
        </p:nvSpPr>
        <p:spPr>
          <a:xfrm>
            <a:off x="731520" y="491947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654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A03_0283_text"/>
          <p:cNvSpPr/>
          <p:nvPr/>
        </p:nvSpPr>
        <p:spPr>
          <a:xfrm>
            <a:off x="1207008" y="4919472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211E1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降低协调成本</a:t>
            </a:r>
            <a:endParaRPr lang="en-US" sz="1220" dirty="0"/>
          </a:p>
        </p:txBody>
      </p:sp>
      <p:sp>
        <p:nvSpPr>
          <p:cNvPr id="19" name="A03_0284_text"/>
          <p:cNvSpPr/>
          <p:nvPr/>
        </p:nvSpPr>
        <p:spPr>
          <a:xfrm>
            <a:off x="731520" y="532180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37F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900" dirty="0"/>
          </a:p>
        </p:txBody>
      </p:sp>
      <p:sp>
        <p:nvSpPr>
          <p:cNvPr id="20" name="A03_0285_text"/>
          <p:cNvSpPr/>
          <p:nvPr/>
        </p:nvSpPr>
        <p:spPr>
          <a:xfrm>
            <a:off x="1207008" y="5321808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211E1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提前发现风险</a:t>
            </a:r>
            <a:endParaRPr lang="en-US" sz="1220" dirty="0"/>
          </a:p>
        </p:txBody>
      </p:sp>
      <p:sp>
        <p:nvSpPr>
          <p:cNvPr id="21" name="A03_0286_text"/>
          <p:cNvSpPr/>
          <p:nvPr/>
        </p:nvSpPr>
        <p:spPr>
          <a:xfrm>
            <a:off x="731520" y="572414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654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900" dirty="0"/>
          </a:p>
        </p:txBody>
      </p:sp>
      <p:sp>
        <p:nvSpPr>
          <p:cNvPr id="22" name="A03_0287_text"/>
          <p:cNvSpPr/>
          <p:nvPr/>
        </p:nvSpPr>
        <p:spPr>
          <a:xfrm>
            <a:off x="1207008" y="5724144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211E1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让安排更可解释</a:t>
            </a:r>
            <a:endParaRPr lang="en-US" sz="1220" dirty="0"/>
          </a:p>
        </p:txBody>
      </p:sp>
      <p:sp>
        <p:nvSpPr>
          <p:cNvPr id="23" name="A04_0288_screen-base"/>
          <p:cNvSpPr/>
          <p:nvPr/>
        </p:nvSpPr>
        <p:spPr>
          <a:xfrm>
            <a:off x="4261104" y="1664208"/>
            <a:ext cx="7351776" cy="3163824"/>
          </a:xfrm>
          <a:prstGeom prst="rect">
            <a:avLst/>
          </a:prstGeom>
          <a:solidFill>
            <a:srgbClr val="FFFFFF"/>
          </a:solidFill>
          <a:ln w="11430">
            <a:solidFill>
              <a:srgbClr val="DDD2CA"/>
            </a:solidFill>
            <a:prstDash val="solid"/>
          </a:ln>
        </p:spPr>
      </p:sp>
      <p:pic>
        <p:nvPicPr>
          <p:cNvPr id="24" name="A04_0289_screen-image" descr="competition-project\assets\portal-home-1920x1080-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700784"/>
            <a:ext cx="7278624" cy="3090672"/>
          </a:xfrm>
          <a:prstGeom prst="rect">
            <a:avLst/>
          </a:prstGeom>
        </p:spPr>
      </p:pic>
      <p:sp>
        <p:nvSpPr>
          <p:cNvPr id="25" name="A02_0290_text"/>
          <p:cNvSpPr/>
          <p:nvPr/>
        </p:nvSpPr>
        <p:spPr>
          <a:xfrm>
            <a:off x="4315968" y="5074920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E654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850" dirty="0"/>
          </a:p>
        </p:txBody>
      </p:sp>
      <p:sp>
        <p:nvSpPr>
          <p:cNvPr id="26" name="A02_0291_line"/>
          <p:cNvSpPr/>
          <p:nvPr/>
        </p:nvSpPr>
        <p:spPr>
          <a:xfrm>
            <a:off x="4315968" y="5404104"/>
            <a:ext cx="1481328" cy="0"/>
          </a:xfrm>
          <a:prstGeom prst="line">
            <a:avLst/>
          </a:prstGeom>
          <a:noFill/>
          <a:ln w="26670">
            <a:solidFill>
              <a:srgbClr val="E65442"/>
            </a:solidFill>
            <a:prstDash val="solid"/>
          </a:ln>
        </p:spPr>
      </p:sp>
      <p:sp>
        <p:nvSpPr>
          <p:cNvPr id="27" name="A02_0292_text"/>
          <p:cNvSpPr/>
          <p:nvPr/>
        </p:nvSpPr>
        <p:spPr>
          <a:xfrm>
            <a:off x="4315968" y="5559552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544B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学生高频课表服务</a:t>
            </a:r>
            <a:endParaRPr lang="en-US" sz="1020" dirty="0"/>
          </a:p>
        </p:txBody>
      </p:sp>
      <p:sp>
        <p:nvSpPr>
          <p:cNvPr id="28" name="A03_0293_text"/>
          <p:cNvSpPr/>
          <p:nvPr/>
        </p:nvSpPr>
        <p:spPr>
          <a:xfrm>
            <a:off x="6126480" y="5074920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E654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850" dirty="0"/>
          </a:p>
        </p:txBody>
      </p:sp>
      <p:sp>
        <p:nvSpPr>
          <p:cNvPr id="29" name="A03_0294_line"/>
          <p:cNvSpPr/>
          <p:nvPr/>
        </p:nvSpPr>
        <p:spPr>
          <a:xfrm>
            <a:off x="6126480" y="5404104"/>
            <a:ext cx="1481328" cy="0"/>
          </a:xfrm>
          <a:prstGeom prst="line">
            <a:avLst/>
          </a:prstGeom>
          <a:noFill/>
          <a:ln w="26670">
            <a:solidFill>
              <a:srgbClr val="E65442"/>
            </a:solidFill>
            <a:prstDash val="solid"/>
          </a:ln>
        </p:spPr>
      </p:sp>
      <p:sp>
        <p:nvSpPr>
          <p:cNvPr id="30" name="A03_0295_text"/>
          <p:cNvSpPr/>
          <p:nvPr/>
        </p:nvSpPr>
        <p:spPr>
          <a:xfrm>
            <a:off x="6126480" y="5559552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544B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教师协同与资源推荐</a:t>
            </a:r>
            <a:endParaRPr lang="en-US" sz="1020" dirty="0"/>
          </a:p>
        </p:txBody>
      </p:sp>
      <p:sp>
        <p:nvSpPr>
          <p:cNvPr id="31" name="A04_0296_text"/>
          <p:cNvSpPr/>
          <p:nvPr/>
        </p:nvSpPr>
        <p:spPr>
          <a:xfrm>
            <a:off x="7936992" y="5074920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37F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850" dirty="0"/>
          </a:p>
        </p:txBody>
      </p:sp>
      <p:sp>
        <p:nvSpPr>
          <p:cNvPr id="32" name="A04_0297_line"/>
          <p:cNvSpPr/>
          <p:nvPr/>
        </p:nvSpPr>
        <p:spPr>
          <a:xfrm>
            <a:off x="7936992" y="5404104"/>
            <a:ext cx="1481328" cy="0"/>
          </a:xfrm>
          <a:prstGeom prst="line">
            <a:avLst/>
          </a:prstGeom>
          <a:noFill/>
          <a:ln w="26670">
            <a:solidFill>
              <a:srgbClr val="237F69"/>
            </a:solidFill>
            <a:prstDash val="solid"/>
          </a:ln>
        </p:spPr>
      </p:sp>
      <p:sp>
        <p:nvSpPr>
          <p:cNvPr id="33" name="A04_0298_text"/>
          <p:cNvSpPr/>
          <p:nvPr/>
        </p:nvSpPr>
        <p:spPr>
          <a:xfrm>
            <a:off x="7936992" y="5559552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544B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教学管理风险预警</a:t>
            </a:r>
            <a:endParaRPr lang="en-US" sz="1020" dirty="0"/>
          </a:p>
        </p:txBody>
      </p:sp>
      <p:sp>
        <p:nvSpPr>
          <p:cNvPr id="34" name="A05_0299_text"/>
          <p:cNvSpPr/>
          <p:nvPr/>
        </p:nvSpPr>
        <p:spPr>
          <a:xfrm>
            <a:off x="9747504" y="5074920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37F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850" dirty="0"/>
          </a:p>
        </p:txBody>
      </p:sp>
      <p:sp>
        <p:nvSpPr>
          <p:cNvPr id="35" name="A05_0300_line"/>
          <p:cNvSpPr/>
          <p:nvPr/>
        </p:nvSpPr>
        <p:spPr>
          <a:xfrm>
            <a:off x="9747504" y="5404104"/>
            <a:ext cx="1481328" cy="0"/>
          </a:xfrm>
          <a:prstGeom prst="line">
            <a:avLst/>
          </a:prstGeom>
          <a:noFill/>
          <a:ln w="26670">
            <a:solidFill>
              <a:srgbClr val="237F69"/>
            </a:solidFill>
            <a:prstDash val="solid"/>
          </a:ln>
        </p:spPr>
      </p:sp>
      <p:sp>
        <p:nvSpPr>
          <p:cNvPr id="36" name="A05_0301_text"/>
          <p:cNvSpPr/>
          <p:nvPr/>
        </p:nvSpPr>
        <p:spPr>
          <a:xfrm>
            <a:off x="9747504" y="5559552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544B4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教学时空数字化治理</a:t>
            </a:r>
            <a:endParaRPr lang="en-US" sz="102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8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8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8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8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38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5" grpId="0" animBg="1"/>
      <p:bldP spid="27" grpId="0" animBg="1"/>
      <p:bldP spid="28" grpId="0" animBg="1"/>
      <p:bldP spid="30" grpId="0" animBg="1"/>
      <p:bldP spid="31" grpId="0" animBg="1"/>
      <p:bldP spid="33" grpId="0" animBg="1"/>
      <p:bldP spid="34" grpId="0" animBg="1"/>
      <p:bldP spid="3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1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0_0302_background-field"/>
          <p:cNvSpPr/>
          <p:nvPr/>
        </p:nvSpPr>
        <p:spPr>
          <a:xfrm>
            <a:off x="7315200" y="-1005840"/>
            <a:ext cx="6217920" cy="6217920"/>
          </a:xfrm>
          <a:prstGeom prst="ellipse">
            <a:avLst/>
          </a:prstGeom>
          <a:solidFill>
            <a:srgbClr val="E65442">
              <a:alpha val="5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00_0303_background-field"/>
          <p:cNvSpPr/>
          <p:nvPr/>
        </p:nvSpPr>
        <p:spPr>
          <a:xfrm>
            <a:off x="8229600" y="0"/>
            <a:ext cx="4480560" cy="4480560"/>
          </a:xfrm>
          <a:prstGeom prst="ellipse">
            <a:avLst/>
          </a:prstGeom>
          <a:solidFill>
            <a:srgbClr val="B96B2E">
              <a:alpha val="2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00_0304_text"/>
          <p:cNvSpPr/>
          <p:nvPr/>
        </p:nvSpPr>
        <p:spPr>
          <a:xfrm>
            <a:off x="566928" y="28346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B7A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在线体验</a:t>
            </a:r>
            <a:endParaRPr lang="en-US" sz="1000" dirty="0"/>
          </a:p>
        </p:txBody>
      </p:sp>
      <p:sp>
        <p:nvSpPr>
          <p:cNvPr id="5" name="A01_0305_text"/>
          <p:cNvSpPr/>
          <p:nvPr/>
        </p:nvSpPr>
        <p:spPr>
          <a:xfrm>
            <a:off x="566928" y="704088"/>
            <a:ext cx="48920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评委可以直接问，</a:t>
            </a:r>
            <a:endParaRPr lang="en-US" sz="2900" dirty="0"/>
          </a:p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不需要先懂配置。</a:t>
            </a:r>
            <a:endParaRPr lang="en-US" sz="2900" dirty="0"/>
          </a:p>
        </p:txBody>
      </p:sp>
      <p:sp>
        <p:nvSpPr>
          <p:cNvPr id="6" name="A01_0306_text"/>
          <p:cNvSpPr/>
          <p:nvPr/>
        </p:nvSpPr>
        <p:spPr>
          <a:xfrm>
            <a:off x="603504" y="2002536"/>
            <a:ext cx="4809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E9DDD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匿名访问，无需测试账号；三类角色的问题都可以直接试。</a:t>
            </a:r>
            <a:endParaRPr lang="en-US" sz="1300" dirty="0"/>
          </a:p>
        </p:txBody>
      </p:sp>
      <p:sp>
        <p:nvSpPr>
          <p:cNvPr id="7" name="A02_0307_screen-base"/>
          <p:cNvSpPr/>
          <p:nvPr/>
        </p:nvSpPr>
        <p:spPr>
          <a:xfrm>
            <a:off x="566928" y="2395728"/>
            <a:ext cx="3383280" cy="1938528"/>
          </a:xfrm>
          <a:prstGeom prst="rect">
            <a:avLst/>
          </a:prstGeom>
          <a:solidFill>
            <a:srgbClr val="FFFFFF"/>
          </a:solidFill>
          <a:ln w="11430">
            <a:solidFill>
              <a:srgbClr val="DDD2CA"/>
            </a:solidFill>
            <a:prstDash val="solid"/>
          </a:ln>
        </p:spPr>
      </p:sp>
      <p:pic>
        <p:nvPicPr>
          <p:cNvPr id="8" name="A02_0308_screen-image" descr="competition-project\assets\portal-home-1920x1080-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2432304"/>
            <a:ext cx="3310128" cy="1865376"/>
          </a:xfrm>
          <a:prstGeom prst="rect">
            <a:avLst/>
          </a:prstGeom>
        </p:spPr>
      </p:pic>
      <p:sp>
        <p:nvSpPr>
          <p:cNvPr id="9" name="A03_0309_screen-base"/>
          <p:cNvSpPr/>
          <p:nvPr/>
        </p:nvSpPr>
        <p:spPr>
          <a:xfrm>
            <a:off x="4078224" y="2395728"/>
            <a:ext cx="3383280" cy="1938528"/>
          </a:xfrm>
          <a:prstGeom prst="rect">
            <a:avLst/>
          </a:prstGeom>
          <a:solidFill>
            <a:srgbClr val="FFFFFF"/>
          </a:solidFill>
          <a:ln w="11430">
            <a:solidFill>
              <a:srgbClr val="DDD2CA"/>
            </a:solidFill>
            <a:prstDash val="solid"/>
          </a:ln>
        </p:spPr>
      </p:sp>
      <p:pic>
        <p:nvPicPr>
          <p:cNvPr id="10" name="A03_0310_screen-image" descr="competition-project\assets\portal-capability-1920x1080-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2432304"/>
            <a:ext cx="3310128" cy="1865376"/>
          </a:xfrm>
          <a:prstGeom prst="rect">
            <a:avLst/>
          </a:prstGeom>
        </p:spPr>
      </p:pic>
      <p:sp>
        <p:nvSpPr>
          <p:cNvPr id="11" name="A03_0311_screen-base"/>
          <p:cNvSpPr/>
          <p:nvPr/>
        </p:nvSpPr>
        <p:spPr>
          <a:xfrm>
            <a:off x="7589520" y="2395728"/>
            <a:ext cx="3383280" cy="1938528"/>
          </a:xfrm>
          <a:prstGeom prst="rect">
            <a:avLst/>
          </a:prstGeom>
          <a:solidFill>
            <a:srgbClr val="FFFFFF"/>
          </a:solidFill>
          <a:ln w="11430">
            <a:solidFill>
              <a:srgbClr val="DDD2CA"/>
            </a:solidFill>
            <a:prstDash val="solid"/>
          </a:ln>
        </p:spPr>
      </p:sp>
      <p:pic>
        <p:nvPicPr>
          <p:cNvPr id="12" name="A03_0312_screen-image" descr="competition-project\assets\portal-verified-widget-1920x1080-f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6096" y="2432304"/>
            <a:ext cx="3310128" cy="1865376"/>
          </a:xfrm>
          <a:prstGeom prst="rect">
            <a:avLst/>
          </a:prstGeom>
        </p:spPr>
      </p:pic>
      <p:sp>
        <p:nvSpPr>
          <p:cNvPr id="13" name="A05_0313_text"/>
          <p:cNvSpPr/>
          <p:nvPr/>
        </p:nvSpPr>
        <p:spPr>
          <a:xfrm>
            <a:off x="658368" y="44439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B7A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学生</a:t>
            </a:r>
            <a:endParaRPr lang="en-US" sz="1200" dirty="0"/>
          </a:p>
        </p:txBody>
      </p:sp>
      <p:sp>
        <p:nvSpPr>
          <p:cNvPr id="14" name="A05_0314_text"/>
          <p:cNvSpPr/>
          <p:nvPr/>
        </p:nvSpPr>
        <p:spPr>
          <a:xfrm>
            <a:off x="658368" y="471830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2E8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“查看2025级计算机类01班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2E8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第1周课表。”</a:t>
            </a:r>
            <a:endParaRPr lang="en-US" sz="1100" dirty="0"/>
          </a:p>
        </p:txBody>
      </p:sp>
      <p:sp>
        <p:nvSpPr>
          <p:cNvPr id="15" name="A06_0315_text"/>
          <p:cNvSpPr/>
          <p:nvPr/>
        </p:nvSpPr>
        <p:spPr>
          <a:xfrm>
            <a:off x="4169664" y="44439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B7A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教师</a:t>
            </a:r>
            <a:endParaRPr lang="en-US" sz="1200" dirty="0"/>
          </a:p>
        </p:txBody>
      </p:sp>
      <p:sp>
        <p:nvSpPr>
          <p:cNvPr id="16" name="A06_0316_text"/>
          <p:cNvSpPr/>
          <p:nvPr/>
        </p:nvSpPr>
        <p:spPr>
          <a:xfrm>
            <a:off x="4169664" y="471830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2E8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“帮三位老师找周四上午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2E8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的共同空闲。”</a:t>
            </a:r>
            <a:endParaRPr lang="en-US" sz="1100" dirty="0"/>
          </a:p>
        </p:txBody>
      </p:sp>
      <p:sp>
        <p:nvSpPr>
          <p:cNvPr id="17" name="A07_0317_text"/>
          <p:cNvSpPr/>
          <p:nvPr/>
        </p:nvSpPr>
        <p:spPr>
          <a:xfrm>
            <a:off x="7680960" y="44439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B7A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教学管理者</a:t>
            </a:r>
            <a:endParaRPr lang="en-US" sz="1200" dirty="0"/>
          </a:p>
        </p:txBody>
      </p:sp>
      <p:sp>
        <p:nvSpPr>
          <p:cNvPr id="18" name="A07_0318_text"/>
          <p:cNvSpPr/>
          <p:nvPr/>
        </p:nvSpPr>
        <p:spPr>
          <a:xfrm>
            <a:off x="7680960" y="471830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2E8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“未来四周谁的教学负载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2E8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最高？”</a:t>
            </a:r>
            <a:endParaRPr lang="en-US" sz="1100" dirty="0"/>
          </a:p>
        </p:txBody>
      </p:sp>
      <p:pic>
        <p:nvPicPr>
          <p:cNvPr id="19" name="A05_0319_qr" descr="competition-project\assets\在线演示二维码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3536" y="5468112"/>
            <a:ext cx="1188720" cy="1188720"/>
          </a:xfrm>
          <a:prstGeom prst="rect">
            <a:avLst/>
          </a:prstGeom>
        </p:spPr>
      </p:pic>
      <p:sp>
        <p:nvSpPr>
          <p:cNvPr id="20" name="A05_0320_text"/>
          <p:cNvSpPr/>
          <p:nvPr/>
        </p:nvSpPr>
        <p:spPr>
          <a:xfrm>
            <a:off x="8522208" y="554126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扫码体验</a:t>
            </a:r>
            <a:endParaRPr lang="en-US" sz="1300" dirty="0"/>
          </a:p>
        </p:txBody>
      </p:sp>
      <p:sp>
        <p:nvSpPr>
          <p:cNvPr id="21" name="A05_0321_text"/>
          <p:cNvSpPr/>
          <p:nvPr/>
        </p:nvSpPr>
        <p:spPr>
          <a:xfrm>
            <a:off x="8741664" y="5852160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FDBC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无需账号</a:t>
            </a:r>
            <a:endParaRPr lang="en-US" sz="1000" dirty="0"/>
          </a:p>
        </p:txBody>
      </p:sp>
      <p:sp>
        <p:nvSpPr>
          <p:cNvPr id="22" name="A06_0322_text"/>
          <p:cNvSpPr/>
          <p:nvPr/>
        </p:nvSpPr>
        <p:spPr>
          <a:xfrm>
            <a:off x="603504" y="5504688"/>
            <a:ext cx="6995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D3C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让教学时空，被理解、被安排。</a:t>
            </a:r>
            <a:endParaRPr lang="en-US" sz="2200" dirty="0"/>
          </a:p>
        </p:txBody>
      </p:sp>
      <p:sp>
        <p:nvSpPr>
          <p:cNvPr id="23" name="A06_0323_text"/>
          <p:cNvSpPr/>
          <p:nvPr/>
        </p:nvSpPr>
        <p:spPr>
          <a:xfrm>
            <a:off x="621792" y="60533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adp.katelya.top</a:t>
            </a:r>
            <a:endParaRPr lang="en-US" sz="1200" dirty="0"/>
          </a:p>
        </p:txBody>
      </p:sp>
      <p:sp>
        <p:nvSpPr>
          <p:cNvPr id="24" name="S00_0324_text"/>
          <p:cNvSpPr/>
          <p:nvPr/>
        </p:nvSpPr>
        <p:spPr>
          <a:xfrm>
            <a:off x="512064" y="651052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D8CDC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校园智序·小序</a:t>
            </a:r>
            <a:endParaRPr lang="en-US" sz="850" dirty="0"/>
          </a:p>
        </p:txBody>
      </p:sp>
      <p:sp>
        <p:nvSpPr>
          <p:cNvPr id="25" name="S00_0325_text"/>
          <p:cNvSpPr/>
          <p:nvPr/>
        </p:nvSpPr>
        <p:spPr>
          <a:xfrm>
            <a:off x="10899648" y="6510528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D8CDC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 / 12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637</Words>
  <Application>Microsoft Office PowerPoint</Application>
  <PresentationFormat>宽屏</PresentationFormat>
  <Paragraphs>242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MiSans</vt:lpstr>
      <vt:lpstr>Noto Serif SC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校园智序·小序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校园智序·小序—答辩</dc:title>
  <dc:subject>校园教学任务智能体比赛答辩</dc:subject>
  <dc:creator>校园智序·小序</dc:creator>
  <cp:lastModifiedBy>校园智序·小序</cp:lastModifiedBy>
  <cp:revision>2</cp:revision>
  <dcterms:created xsi:type="dcterms:W3CDTF">2026-08-31T22:22:42Z</dcterms:created>
  <dcterms:modified xsi:type="dcterms:W3CDTF">2026-08-31T22:22:51Z</dcterms:modified>
</cp:coreProperties>
</file>