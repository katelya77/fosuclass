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8b9f2796a4f0d" /><Relationship Type="http://schemas.openxmlformats.org/officeDocument/2006/relationships/extended-properties" Target="/docProps/app.xml" Id="Rb25c4e7c9af84a4c" /><Relationship Type="http://schemas.openxmlformats.org/officeDocument/2006/relationships/officeDocument" Target="/ppt/presentation.xml" Id="Rc95f90d895f34c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13443a683d40d4"/>
  </p:sldMasterIdLst>
  <p:notesMasterIdLst>
    <p:notesMasterId xmlns:r="http://schemas.openxmlformats.org/officeDocument/2006/relationships" r:id="R25461f92fd5a4091"/>
  </p:notesMasterIdLst>
  <p:sldIdLst>
    <p:sldId xmlns:r="http://schemas.openxmlformats.org/officeDocument/2006/relationships" id="256" r:id="Rcabf95743aec4077"/>
    <p:sldId xmlns:r="http://schemas.openxmlformats.org/officeDocument/2006/relationships" id="257" r:id="R52203e4428fc47ce"/>
    <p:sldId xmlns:r="http://schemas.openxmlformats.org/officeDocument/2006/relationships" id="258" r:id="Rdaf8a10534f344d7"/>
    <p:sldId xmlns:r="http://schemas.openxmlformats.org/officeDocument/2006/relationships" id="259" r:id="R1fc2f33f70374d09"/>
    <p:sldId xmlns:r="http://schemas.openxmlformats.org/officeDocument/2006/relationships" id="260" r:id="R29c5150662504c92"/>
    <p:sldId xmlns:r="http://schemas.openxmlformats.org/officeDocument/2006/relationships" id="261" r:id="Ref6720bfb75a47cb"/>
    <p:sldId xmlns:r="http://schemas.openxmlformats.org/officeDocument/2006/relationships" id="262" r:id="Re774ec95df3143c7"/>
    <p:sldId xmlns:r="http://schemas.openxmlformats.org/officeDocument/2006/relationships" id="263" r:id="R16b176b2f4ad458c"/>
    <p:sldId xmlns:r="http://schemas.openxmlformats.org/officeDocument/2006/relationships" id="264" r:id="R86d1be245c9141a8"/>
    <p:sldId xmlns:r="http://schemas.openxmlformats.org/officeDocument/2006/relationships" id="265" r:id="R6807512c34fd4c2e"/>
    <p:sldId xmlns:r="http://schemas.openxmlformats.org/officeDocument/2006/relationships" id="266" r:id="R4bc9ab99eaac4e4a"/>
    <p:sldId xmlns:r="http://schemas.openxmlformats.org/officeDocument/2006/relationships" id="267" r:id="Rd2f5467ea28046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ab758ffcf44888" /><Relationship Type="http://schemas.openxmlformats.org/officeDocument/2006/relationships/slideMaster" Target="/ppt/slideMasters/slideMaster1.xml" Id="Rc713443a683d40d4" /><Relationship Type="http://schemas.openxmlformats.org/officeDocument/2006/relationships/notesMaster" Target="/ppt/notesMasters/notesMaster1.xml" Id="R25461f92fd5a4091" /><Relationship Type="http://schemas.openxmlformats.org/officeDocument/2006/relationships/presProps" Target="/ppt/presProps.xml" Id="Rfe12be0a47304c94" /><Relationship Type="http://schemas.openxmlformats.org/officeDocument/2006/relationships/tableStyles" Target="/ppt/tableStyles.xml" Id="R2207b98949df492d" /><Relationship Type="http://schemas.openxmlformats.org/officeDocument/2006/relationships/slide" Target="/ppt/slides/slide1.xml" Id="Rcabf95743aec4077" /><Relationship Type="http://schemas.openxmlformats.org/officeDocument/2006/relationships/slide" Target="/ppt/slides/slide2.xml" Id="R52203e4428fc47ce" /><Relationship Type="http://schemas.openxmlformats.org/officeDocument/2006/relationships/slide" Target="/ppt/slides/slide3.xml" Id="Rdaf8a10534f344d7" /><Relationship Type="http://schemas.openxmlformats.org/officeDocument/2006/relationships/slide" Target="/ppt/slides/slide4.xml" Id="R1fc2f33f70374d09" /><Relationship Type="http://schemas.openxmlformats.org/officeDocument/2006/relationships/slide" Target="/ppt/slides/slide5.xml" Id="R29c5150662504c92" /><Relationship Type="http://schemas.openxmlformats.org/officeDocument/2006/relationships/slide" Target="/ppt/slides/slide6.xml" Id="Ref6720bfb75a47cb" /><Relationship Type="http://schemas.openxmlformats.org/officeDocument/2006/relationships/slide" Target="/ppt/slides/slide7.xml" Id="Re774ec95df3143c7" /><Relationship Type="http://schemas.openxmlformats.org/officeDocument/2006/relationships/slide" Target="/ppt/slides/slide8.xml" Id="R16b176b2f4ad458c" /><Relationship Type="http://schemas.openxmlformats.org/officeDocument/2006/relationships/slide" Target="/ppt/slides/slide9.xml" Id="R86d1be245c9141a8" /><Relationship Type="http://schemas.openxmlformats.org/officeDocument/2006/relationships/slide" Target="/ppt/slides/slide10.xml" Id="R6807512c34fd4c2e" /><Relationship Type="http://schemas.openxmlformats.org/officeDocument/2006/relationships/slide" Target="/ppt/slides/slide11.xml" Id="R4bc9ab99eaac4e4a" /><Relationship Type="http://schemas.openxmlformats.org/officeDocument/2006/relationships/slide" Target="/ppt/slides/slide12.xml" Id="Rd2f5467ea28046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7480f370f54b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42900" dist="138686" dir="4443276">
              <a:srgbClr val="6D3C35">
                <a:alpha val="14000"/>
              </a:srgbClr>
            </a:outerShdw>
          </a:effectLst>
        </a:effectStyle>
        <a:effectStyle>
          <a:effectLst>
            <a:outerShdw blurRad="266700" dist="99444" dir="4398045">
              <a:srgbClr val="6D3C35">
                <a:alpha val="12000"/>
              </a:srgbClr>
            </a:outerShdw>
          </a:effectLst>
        </a:effectStyle>
        <a:effectStyle>
          <a:effectLst>
            <a:outerShdw blurRad="285750" dist="117818" dir="4557825">
              <a:srgbClr val="6D3C35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682aa193164b3f" /><Relationship Type="http://schemas.openxmlformats.org/officeDocument/2006/relationships/notesMaster" Target="/ppt/notesMasters/notesMaster1.xml" Id="R6c5df8b63b374c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0a636585394283" /><Relationship Type="http://schemas.openxmlformats.org/officeDocument/2006/relationships/notesMaster" Target="/ppt/notesMasters/notesMaster1.xml" Id="R6c76d20dfc2a43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879fd3eba54079" /><Relationship Type="http://schemas.openxmlformats.org/officeDocument/2006/relationships/notesMaster" Target="/ppt/notesMasters/notesMaster1.xml" Id="R23a92474521b4f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9c1dd7621f402b" /><Relationship Type="http://schemas.openxmlformats.org/officeDocument/2006/relationships/notesMaster" Target="/ppt/notesMasters/notesMaster1.xml" Id="R4b32dfd1f35142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f8206bb52b4e01" /><Relationship Type="http://schemas.openxmlformats.org/officeDocument/2006/relationships/notesMaster" Target="/ppt/notesMasters/notesMaster1.xml" Id="R9c888ca0f75f4a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7ab2ee25b04ffc" /><Relationship Type="http://schemas.openxmlformats.org/officeDocument/2006/relationships/notesMaster" Target="/ppt/notesMasters/notesMaster1.xml" Id="R4c69bbe8e13e44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5ade7b83f542e8" /><Relationship Type="http://schemas.openxmlformats.org/officeDocument/2006/relationships/notesMaster" Target="/ppt/notesMasters/notesMaster1.xml" Id="R9dab706b94ed4a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a0b5e8ba6245cf" /><Relationship Type="http://schemas.openxmlformats.org/officeDocument/2006/relationships/notesMaster" Target="/ppt/notesMasters/notesMaster1.xml" Id="R02995e371dc846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125209d1c14381" /><Relationship Type="http://schemas.openxmlformats.org/officeDocument/2006/relationships/notesMaster" Target="/ppt/notesMasters/notesMaster1.xml" Id="Rce1f51fd551d41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c28a7bf19d4efc" /><Relationship Type="http://schemas.openxmlformats.org/officeDocument/2006/relationships/notesMaster" Target="/ppt/notesMasters/notesMaster1.xml" Id="Rde2157f8bd4048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cac9e93dff4bb2" /><Relationship Type="http://schemas.openxmlformats.org/officeDocument/2006/relationships/notesMaster" Target="/ppt/notesMasters/notesMaster1.xml" Id="Ra8aefa9989d54d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d5bdc08d054e61" /><Relationship Type="http://schemas.openxmlformats.org/officeDocument/2006/relationships/notesMaster" Target="/ppt/notesMasters/notesMaster1.xml" Id="R53463f1a9c1b45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开场只讲一句：复杂的教学时空，也可以从一句自然语言开始。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competition/final-delivery/FINAL-TRUTH.md</a:t>
            </a:r>
          </a:p>
          <a:p xmlns:a="http://schemas.openxmlformats.org/drawingml/2006/main">
            <a:r>
              <a:t>- Auroraqua-UI 视觉参考（匿名化审阅记录）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0 与 4 的反差建立问题张力：表格正确不等于安排合理。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competition/showcase/src/fixtures/heroes/risk.json</a:t>
            </a:r>
          </a:p>
          <a:p xmlns:a="http://schemas.openxmlformats.org/drawingml/2006/main">
            <a:r>
              <a:t>- competition/showcase/qa/phase2.8-final/showcase-risk-1440x900.png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1000+ 是匿名化的前期累计服务事实，不扩展为任何学校或地域身份信息。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competition/final-delivery/FINAL-TRUTH.md</a:t>
            </a:r>
          </a:p>
          <a:p xmlns:a="http://schemas.openxmlformats.org/drawingml/2006/main">
            <a:r>
              <a:t>- competition/demo-portal/qa/phase2.8-final/portal-home-1920x1080.png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这一页给评委一条不会迷路的主线，后续每个 Hero 都沿同一链路展开。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competition/final-delivery/FINAL-TRUTH.md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只协调，Child 调用各自白名单工具，再回到 Main 汇总结论。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competition/adp-kit/r50.1/agent-tool-bindings.json</a:t>
            </a:r>
          </a:p>
          <a:p xmlns:a="http://schemas.openxmlformats.org/drawingml/2006/main">
            <a:r>
              <a:t>- competition/showcase/qa/phase2.8-final/showcase-architecture-1920x1080.png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强调跨校区相邻课程的间隔，不把 0 冲突误读为 0 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competition/showcase/src/fixtures/heroes/risk.json</a:t>
            </a:r>
          </a:p>
          <a:p xmlns:a="http://schemas.openxmlformats.org/drawingml/2006/main">
            <a:r>
              <a:t>- competition/showcase/qa/phase2.8-final/showcase-risk-1440x900.png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数字漏斗是重点：先求共同空闲，再用容量和空间约束收敛。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competition/showcase/src/fixtures/heroes/collaboration.json</a:t>
            </a:r>
          </a:p>
          <a:p xmlns:a="http://schemas.openxmlformats.org/drawingml/2006/main">
            <a:r>
              <a:t>- competition/final-delivery/assets/showcase-collaboration-chrome.png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warning 与 failure 分开：约束全部通过，但连堂代价仍需给决策者看到。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competition/showcase/src/fixtures/heroes/reschedule.json</a:t>
            </a:r>
          </a:p>
          <a:p xmlns:a="http://schemas.openxmlformats.org/drawingml/2006/main">
            <a:r>
              <a:t>- competition/showcase/qa/phase2.8-final/showcase-reschedule-1920x1080.png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排名结果不能直接回答风险；先锁定对象，再发起新的风险任务。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competition/showcase/src/fixtures/heroes/insight.json</a:t>
            </a:r>
          </a:p>
          <a:p xmlns:a="http://schemas.openxmlformats.org/drawingml/2006/main">
            <a:r>
              <a:t>- competition/showcase/qa/phase2.8-final/showcase-insight-1366x768.png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可信不是一句口号：来源、算法、投影与失败边界必须同时成立。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competition/adp-kit/final/presentation/PRESENTATION-CONTRACT.md</a:t>
            </a:r>
          </a:p>
          <a:p xmlns:a="http://schemas.openxmlformats.org/drawingml/2006/main">
            <a:r>
              <a:t>- competition/adp-kit/final/acceptance/FINAL-ACCEPTANCE-MATRIX.md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逐项对齐评审权重，但可见内容只保留评委真正需要记住的价值。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competition/final-delivery/FINAL-TRUTH.md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品牌收束。二维码与最终公开体验地址须在提交前人工加入。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competition/final-delivery/FINAL-TRUTH.md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7d86c07fd84d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1ddda955aa4b92" /><Relationship Type="http://schemas.openxmlformats.org/officeDocument/2006/relationships/slideLayout" Target="/ppt/slideLayouts/slideLayout1.xml" Id="Raa46d6a62fac43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46d6a62fac43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42900" dist="138686" dir="4443276">
              <a:srgbClr val="6D3C35">
                <a:alpha val="14000"/>
              </a:srgbClr>
            </a:outerShdw>
          </a:effectLst>
        </a:effectStyle>
        <a:effectStyle>
          <a:effectLst>
            <a:outerShdw blurRad="266700" dist="99444" dir="4398045">
              <a:srgbClr val="6D3C35">
                <a:alpha val="12000"/>
              </a:srgbClr>
            </a:outerShdw>
          </a:effectLst>
        </a:effectStyle>
        <a:effectStyle>
          <a:effectLst>
            <a:outerShdw blurRad="285750" dist="117818" dir="4557825">
              <a:srgbClr val="6D3C35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caa71a22e4419" /><Relationship Type="http://schemas.openxmlformats.org/officeDocument/2006/relationships/image" Target="/ppt/media/image.png" Id="R95a944ebe7794d11" /><Relationship Type="http://schemas.openxmlformats.org/officeDocument/2006/relationships/notesSlide" Target="/ppt/notesSlides/notesSlide1.xml" Id="Rf527883abc4348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01af72a3643e8" /><Relationship Type="http://schemas.openxmlformats.org/officeDocument/2006/relationships/image" Target="/ppt/media/image2.png" Id="Rbf507ab9a12448f1" /><Relationship Type="http://schemas.openxmlformats.org/officeDocument/2006/relationships/notesSlide" Target="/ppt/notesSlides/notesSlide2.xml" Id="R9f09c105d59f4a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e36bd95204521" /><Relationship Type="http://schemas.openxmlformats.org/officeDocument/2006/relationships/image" Target="/ppt/media/image3.png" Id="R32c16f230a7848b4" /><Relationship Type="http://schemas.openxmlformats.org/officeDocument/2006/relationships/notesSlide" Target="/ppt/notesSlides/notesSlide3.xml" Id="R2741e520460345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6816cfa93489a" /><Relationship Type="http://schemas.openxmlformats.org/officeDocument/2006/relationships/notesSlide" Target="/ppt/notesSlides/notesSlide4.xml" Id="Rfb28ee0fc4d946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0fd78fbc74ffd" /><Relationship Type="http://schemas.openxmlformats.org/officeDocument/2006/relationships/image" Target="/ppt/media/image4.png" Id="R3c070147bbd34a96" /><Relationship Type="http://schemas.openxmlformats.org/officeDocument/2006/relationships/notesSlide" Target="/ppt/notesSlides/notesSlide5.xml" Id="Rbea0123266514d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93ef6f51746db" /><Relationship Type="http://schemas.openxmlformats.org/officeDocument/2006/relationships/image" Target="/ppt/media/image5.png" Id="R2e3f19d178694eb7" /><Relationship Type="http://schemas.openxmlformats.org/officeDocument/2006/relationships/notesSlide" Target="/ppt/notesSlides/notesSlide6.xml" Id="R27c0da54fa924a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13906fbec45cc" /><Relationship Type="http://schemas.openxmlformats.org/officeDocument/2006/relationships/image" Target="/ppt/media/image.jpeg" Id="Rd74b2d1227b747a5" /><Relationship Type="http://schemas.openxmlformats.org/officeDocument/2006/relationships/notesSlide" Target="/ppt/notesSlides/notesSlide7.xml" Id="R89510ce9890649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2bb2471f64929" /><Relationship Type="http://schemas.openxmlformats.org/officeDocument/2006/relationships/image" Target="/ppt/media/image6.png" Id="Rbc0883428b0e481b" /><Relationship Type="http://schemas.openxmlformats.org/officeDocument/2006/relationships/notesSlide" Target="/ppt/notesSlides/notesSlide8.xml" Id="Rc6b7a10955ad41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b563032e144ac" /><Relationship Type="http://schemas.openxmlformats.org/officeDocument/2006/relationships/image" Target="/ppt/media/image7.png" Id="R928f40d42e9444fc" /><Relationship Type="http://schemas.openxmlformats.org/officeDocument/2006/relationships/notesSlide" Target="/ppt/notesSlides/notesSlide9.xml" Id="R3551d37c36e849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f8b54d3b644b4" /><Relationship Type="http://schemas.openxmlformats.org/officeDocument/2006/relationships/image" Target="/ppt/media/image8.png" Id="R74ca0798de524d0d" /><Relationship Type="http://schemas.openxmlformats.org/officeDocument/2006/relationships/notesSlide" Target="/ppt/notesSlides/notesSlide10.xml" Id="R55b4c3fc65dc41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768c7ad7747b0" /><Relationship Type="http://schemas.openxmlformats.org/officeDocument/2006/relationships/notesSlide" Target="/ppt/notesSlides/notesSlide11.xml" Id="R39aa9a13bdd846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fcbc2930c4801" /><Relationship Type="http://schemas.openxmlformats.org/officeDocument/2006/relationships/image" Target="/ppt/media/image9.png" Id="Rfe98729a4cc0431e" /><Relationship Type="http://schemas.openxmlformats.org/officeDocument/2006/relationships/notesSlide" Target="/ppt/notesSlides/notesSlide12.xml" Id="Rb47d88a32f9b48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A69FF0-041F-455F-A3EA-66CC8B7D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B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9CBF2-54B4-448F-BAA6-B6A3A294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C9EE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17544-ED5D-4A2E-A6B4-61BAD1F6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0"/>
            <a:ext cx="2857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0B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D13E4-2EA8-4564-AACB-078E85AB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A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8E875-5187-4224-AF3E-B0B72C0D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944ebe7794d11"/>
          <a:stretch xmlns:a="http://schemas.openxmlformats.org/drawingml/2006/main"/>
        </p:blipFill>
        <p:spPr>
          <a:xfrm xmlns:a="http://schemas.openxmlformats.org/drawingml/2006/main">
            <a:off x="5305425" y="781050"/>
            <a:ext cx="1581150" cy="1581150"/>
          </a:xfrm>
          <a:prstGeom xmlns:a="http://schemas.openxmlformats.org/drawingml/2006/main" prst="roundRect">
            <a:avLst>
              <a:gd name="adj" fmla="val 2289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2BCC5-630D-46B3-B03C-CEBD6D33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90800"/>
            <a:ext cx="8858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52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2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校园智序·小序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9B9D7-1EAC-48BB-B588-5F6C0E7E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385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0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0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让复杂的校园教学安排，简单到一句话就能问。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CEC39-402F-43AC-A81F-B94F5431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43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Multi-Agent × Deterministic CampusTools × Verifiable Widget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7B2AD-98AF-44BD-A91E-92C427CD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95875"/>
            <a:ext cx="46863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B698F-8AD3-449F-9AD3-A0F5AE41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2006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比赛答辩 · FINAL TRUTH</a:t>
            </a:r>
          </a:p>
        </p:txBody>
      </p:sp>
    </p:spTree>
    <p:extLst>
      <p:ext uri="{BB962C8B-B14F-4D97-AF65-F5344CB8AC3E}">
        <p14:creationId xmlns:p14="http://schemas.microsoft.com/office/powerpoint/2010/main" val="1248575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DA9B2-816B-4CD2-B859-7AF6F4C7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B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9E9D0-41E3-4DC0-B1F9-AED249B2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C9EE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195A3-66FA-4918-93A9-CF31FA64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0"/>
            <a:ext cx="2857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0B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0C9FF-2292-4E56-8BB9-55AC6F5D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A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799B9-C143-4D1B-8E3B-24CC6DCB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F2DDB-A9E6-47EA-A66E-28640186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一个真实问题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2853A-5FE9-4CF0-9987-EE0EF1B7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课表没有冲突，不代表教学安排没有风险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FAB25-E149-421F-B850-CEE287B8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同一位教师，未来四周：课程冲突为 0，但每周存在 4 次跨校区赶场。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DBBD6-63AC-4C80-931E-F21B400E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2800350" cy="3924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7A05B-CBFF-4CF8-B10C-4FB2A145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33625"/>
            <a:ext cx="2095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8400" b="1" i="0">
                <a:solidFill>
                  <a:srgbClr val="277B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00" b="1" i="0">
                <a:solidFill>
                  <a:srgbClr val="277B62"/>
                </a:solidFill>
                <a:latin typeface="Microsoft YaHei UI"/>
                <a:ea typeface="Microsoft YaHei UI"/>
                <a:cs typeface="Microsoft YaHei UI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EC56A-F5F9-4ADA-8A5A-A6E34B99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课程冲突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65358-2C7C-4394-99F7-8C2F7163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3860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BCE96-3112-4FB0-8A4A-69DFBF97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010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9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5100" b="1" i="0">
                <a:solidFill>
                  <a:srgbClr val="B8653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100" b="1" i="0">
                <a:solidFill>
                  <a:srgbClr val="B86536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5E861-A0CF-49B1-B540-9554DB68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每周跨校区赶场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E5FC6-8B3F-4A67-BC18-82962426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43100"/>
            <a:ext cx="7829550" cy="3924300"/>
          </a:xfrm>
          <a:prstGeom xmlns:a="http://schemas.openxmlformats.org/drawingml/2006/main" prst="roundRect">
            <a:avLst>
              <a:gd name="adj" fmla="val 6796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507ab9a12448f1"/>
          <a:srcRect xmlns:a="http://schemas.openxmlformats.org/drawingml/2006/main" l="0" t="11310" r="0" b="11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8100" y="2076450"/>
            <a:ext cx="7562850" cy="3657600"/>
          </a:xfrm>
          <a:prstGeom xmlns:a="http://schemas.openxmlformats.org/drawingml/2006/main" prst="roundRect">
            <a:avLst>
              <a:gd name="adj" fmla="val 5729"/>
            </a:avLst>
          </a:prstGeom>
        </p:spPr>
      </p:pic>
    </p:spTree>
    <p:extLst>
      <p:ext uri="{BB962C8B-B14F-4D97-AF65-F5344CB8AC3E}">
        <p14:creationId xmlns:p14="http://schemas.microsoft.com/office/powerpoint/2010/main" val="1662580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C2BEE-6017-401A-B6B2-9443AA3B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B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EC38F-CC9D-4723-A933-1901B540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C9EE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9970A-50D4-48B0-BA4E-287ED92A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0"/>
            <a:ext cx="2857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0B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B1A18-EA3C-409F-A237-C43A75A6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A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A9217-C9E3-4445-9212-5DFF955A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3A4F6-ADCF-4E7A-A6CD-71FA5C6A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真实落地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0DECD-DEB6-4FC9-A0F7-EC8235BC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前期产品形态已累计服务用户 1000+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FCEF2-CCEE-4779-A278-C3D16BBA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比赛作品建立在真实校园使用反馈之上；对外仅保留完全匿名的落地事实。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E51C7-21E5-437F-8E05-6021B7CD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00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4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1000+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7CF0B-AB8E-45D5-97AC-ABA938A4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真实用户验证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C793B-FDFC-4209-AF34-693590C2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不是概念演示，而是从真实课表查询、空教室与教学周需求一路演进而来的校园任务助手。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EE760-647F-46BA-ADA6-1443E423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6572250" cy="39624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16f230a7848b4"/>
          <a:srcRect xmlns:a="http://schemas.openxmlformats.org/drawingml/2006/main" l="2014" t="0" r="20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2019300"/>
            <a:ext cx="6305550" cy="3695700"/>
          </a:xfrm>
          <a:prstGeom xmlns:a="http://schemas.openxmlformats.org/drawingml/2006/main" prst="roundRect">
            <a:avLst>
              <a:gd name="adj" fmla="val 5670"/>
            </a:avLst>
          </a:prstGeom>
        </p:spPr>
      </p:pic>
    </p:spTree>
    <p:extLst>
      <p:ext uri="{BB962C8B-B14F-4D97-AF65-F5344CB8AC3E}">
        <p14:creationId xmlns:p14="http://schemas.microsoft.com/office/powerpoint/2010/main" val="775846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CE49BC-399D-4363-A8D2-20A96BBE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B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77F60-2C62-4ACB-94CE-182840DC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C9EE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A4205-FCB7-4D5E-99C4-858D6CED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0"/>
            <a:ext cx="2857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0B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F51AE-66CA-4F8E-8098-025C5C65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A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86474-EB85-4983-A9CB-D9C15FED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F937F-2808-42FE-B1A7-2DC4B6AA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一句话理解产品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FC7F6-2AB7-4869-BC05-6F0AB5FC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自然语言负责发起，确定性事实负责落地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D6B6F-4B4F-4C1B-BF4A-93D1C693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生成模型不做课表事实源；它理解目标、组织协作，并把核验后的结果说清楚。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93775-099E-48F8-98AA-C13255B4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3C817-40C4-42F2-8868-270E37BB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FC229-F7FC-44BD-A40E-C7F5790E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真实问题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B1969-82F6-4713-B50F-666E290F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教学任务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31121-7CD5-4237-97F8-471AACF3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4802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B2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ECA48-5C2C-41CE-8A8A-1569CE52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6860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19A19-638E-4A09-9441-E644D401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05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8D8CF-0785-4339-954D-ABE8A1CB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943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自然语言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5EFE1-09F6-4FCF-8670-D1891FDD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862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一句话发起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A12B5-D4C5-4D08-B670-2FAF708A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4802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B2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D856A-80F0-4AC3-9CC0-FB113B8A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7EFDD-BD9F-4A72-8A0B-AD592DE4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05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162EC-34F3-48B2-9408-BD21F353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943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Multi-Agent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7B361-7810-4D0D-8F55-051100F3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2862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理解与分工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A0DD1-6DDD-4D74-A882-57BBB6E7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4802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B2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E08513-581C-4FB1-A0B3-6846D87E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42B"/>
          </a:solidFill>
          <a:ln xmlns:a="http://schemas.openxmlformats.org/drawingml/2006/main" w="11430">
            <a:solidFill>
              <a:srgbClr val="B934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D0168-5A9C-4C5B-A802-5984BA1D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05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 i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FAFEC1-4B94-41A7-B84E-BE923585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943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CampusTools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B5F79B-A5EB-44A4-A074-8C8D145D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862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确定性核验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731AB9-7DC6-45B1-9A3B-8368C64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24802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B2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E6412B-5A1E-464F-BDC5-0B9D171A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0DEE51-650F-43EE-9923-94D8C970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05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36752F-FB2E-4A61-88E7-7E18B772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43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可核查 Widget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0CC65E-2108-47B7-8EFD-C39FDC77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862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Verified +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B76BB6-3D37-4F57-9116-F7FC919D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4802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B2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B0DE86-0454-41E6-9FA0-B47F6C61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6860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443A6E-5CE0-4DAC-8C3A-1022A6BE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051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438EAC-B925-484C-A145-D54D34B9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43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辅助决策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F52708-7C6B-41DC-AB7F-B25B7774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8625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人作最终判断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679E02-CD0E-4A12-9F31-BEFE3E91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64770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43AB12-BDD4-4610-B020-45723E5D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00675"/>
            <a:ext cx="598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让复杂的校园教学安排，简单到一句话就能问。</a:t>
            </a:r>
          </a:p>
        </p:txBody>
      </p:sp>
    </p:spTree>
    <p:extLst>
      <p:ext uri="{BB962C8B-B14F-4D97-AF65-F5344CB8AC3E}">
        <p14:creationId xmlns:p14="http://schemas.microsoft.com/office/powerpoint/2010/main" val="1935991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2E203-8C9E-46DE-A267-7956F8CB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B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A1475-DA9D-45BA-B2CD-6AE16FE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C9EE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0BFA0-DFF6-4141-9DE9-7FBD3113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0"/>
            <a:ext cx="2857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0B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EE2B0-4AFD-4B09-9368-FF9ABEF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A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1FF36-BDD3-493D-9951-FC3FEA65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DFA2C-2110-40B3-9FE5-BEF8B2E6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系统架构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E61FB-5FD4-4A9F-96CA-BC646BF6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4 Agent × 13 CampusTools，主协调不直接碰动态事实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EA8A4-28E2-419E-B950-B6AA1F87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14 个 Child bindings；唯一共享工具形成跨域协作，但无 Child→Child 转移。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30AFD-2E0B-4E7D-A880-AB1A9CA4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6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BE52D-6E6E-4205-97A8-296BBF01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F1541-5247-45AB-8890-B835ED50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6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DDD7B-B192-42E3-A327-1E02F31A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CampusTools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04552-5D19-435B-B296-EF355694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14 bindings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48C90-80EF-460C-B3A2-D17D2AB9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66900"/>
            <a:ext cx="8801100" cy="4057650"/>
          </a:xfrm>
          <a:prstGeom xmlns:a="http://schemas.openxmlformats.org/drawingml/2006/main" prst="roundRect">
            <a:avLst>
              <a:gd name="adj" fmla="val 6573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70147bbd34a96"/>
          <a:srcRect xmlns:a="http://schemas.openxmlformats.org/drawingml/2006/main" l="0" t="10516" r="0" b="105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76550" y="2000250"/>
            <a:ext cx="8534400" cy="3790950"/>
          </a:xfrm>
          <a:prstGeom xmlns:a="http://schemas.openxmlformats.org/drawingml/2006/main" prst="roundRect">
            <a:avLst>
              <a:gd name="adj" fmla="val 5528"/>
            </a:avLst>
          </a:prstGeom>
        </p:spPr>
      </p:pic>
    </p:spTree>
    <p:extLst>
      <p:ext uri="{BB962C8B-B14F-4D97-AF65-F5344CB8AC3E}">
        <p14:creationId xmlns:p14="http://schemas.microsoft.com/office/powerpoint/2010/main" val="1622641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99423-36A1-4420-99AB-B80324E8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B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EAE2A-3877-496B-A7EB-3CAA5B0E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C9EE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DFE5A-F323-4CA1-9430-045E69B9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0"/>
            <a:ext cx="2857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0B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8F891-F096-457D-8C25-AD2DDF2E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A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395D2-0B93-4214-A25B-EB924618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A5A7C-04E7-4D46-A508-FF8D5CAE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Hero 1 · 教学风险发现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DC036-1648-4A73-9E84-8A3AF93A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没有冲突，不等于没有风险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77E07-24D3-46FD-8DCC-1E1294FE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教师025 · 第1–4周 · 每周14课次 · 每周4次20分钟跨校区赶场。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3EBD6-CB4D-4B52-96D1-067420C0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7962900" cy="4095750"/>
          </a:xfrm>
          <a:prstGeom xmlns:a="http://schemas.openxmlformats.org/drawingml/2006/main" prst="roundRect">
            <a:avLst>
              <a:gd name="adj" fmla="val 6512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f19d178694eb7"/>
          <a:srcRect xmlns:a="http://schemas.openxmlformats.org/drawingml/2006/main" l="0" t="10198" r="0" b="10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038350"/>
            <a:ext cx="7696200" cy="3829050"/>
          </a:xfrm>
          <a:prstGeom xmlns:a="http://schemas.openxmlformats.org/drawingml/2006/main" prst="roundRect">
            <a:avLst>
              <a:gd name="adj" fmla="val 547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33190-FE4A-4795-BFD0-A5B04538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57400"/>
            <a:ext cx="180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0" b="1" i="0">
                <a:solidFill>
                  <a:srgbClr val="277B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0" b="1" i="0">
                <a:solidFill>
                  <a:srgbClr val="277B62"/>
                </a:solidFill>
                <a:latin typeface="Microsoft YaHei UI"/>
                <a:ea typeface="Microsoft YaHei UI"/>
                <a:cs typeface="Microsoft YaHei UI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F31A3-7EC7-4B78-B5B0-D608EFC5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181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冲突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88B68-378E-412E-A684-A1BCD7F2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10000"/>
            <a:ext cx="180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7500" b="1" i="0">
                <a:solidFill>
                  <a:srgbClr val="B8653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0" b="1" i="0">
                <a:solidFill>
                  <a:srgbClr val="B86536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BC8F3-7837-461A-B755-2B441200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149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赶场 / 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1D628-9E09-46FC-A60C-0872C1F5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483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人眼容易漏掉的时空风险，系统逐周标注。</a:t>
            </a:r>
          </a:p>
        </p:txBody>
      </p:sp>
    </p:spTree>
    <p:extLst>
      <p:ext uri="{BB962C8B-B14F-4D97-AF65-F5344CB8AC3E}">
        <p14:creationId xmlns:p14="http://schemas.microsoft.com/office/powerpoint/2010/main" val="3652226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90316-C1BF-4934-9687-4384F59D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B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36187-2D8C-46C5-B5E7-45EEEC38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C9EE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4CE98-E763-444B-B580-50109B05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0"/>
            <a:ext cx="2857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0B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579CE-CA41-4F0D-BE36-EE2259B7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A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B73BE-247B-400D-BD69-7657A9FE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12641-484F-4921-AF74-C9DF440B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Hero 2 · 多人协同规划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93F81-B703-4AF7-927C-D62EEBB5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三张课表，算出一个共同时间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DA4AF-997D-4AF3-8148-89AE3045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教师005、006、014 → 周四上午共同空闲 → 容量约束筛选 → 推荐 A1-201。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EBCBF-83A4-47C6-B858-4E734909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771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63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5757E-D8DE-40AC-8090-EA1295D1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全校可用教室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83E67-0383-4AF3-BFCF-0BABFC06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7662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3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0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50" b="0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E1EE1-09D7-4FDB-B44A-C00204F7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771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6150" b="1" i="0">
                <a:solidFill>
                  <a:srgbClr val="DCD0E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150" b="1" i="0">
                <a:solidFill>
                  <a:srgbClr val="DCD0EC"/>
                </a:solidFill>
                <a:latin typeface="Microsoft YaHei UI"/>
                <a:ea typeface="Microsoft YaHei UI"/>
                <a:cs typeface="Microsoft YaHei UI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E7366-D543-48C8-97BC-EE71E4A5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容量 ≥ 120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339AB-7B68-4853-AEAB-E62B37AC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A1-201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C24A4-6DF8-425B-85FE-23A04F6A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85950"/>
            <a:ext cx="8801100" cy="41148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b2d1227b747a5"/>
          <a:srcRect xmlns:a="http://schemas.openxmlformats.org/drawingml/2006/main" l="0" t="9277" r="0" b="9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76550" y="2019300"/>
            <a:ext cx="8534400" cy="3848100"/>
          </a:xfrm>
          <a:prstGeom xmlns:a="http://schemas.openxmlformats.org/drawingml/2006/main" prst="roundRect">
            <a:avLst>
              <a:gd name="adj" fmla="val 5446"/>
            </a:avLst>
          </a:prstGeom>
        </p:spPr>
      </p:pic>
    </p:spTree>
    <p:extLst>
      <p:ext uri="{BB962C8B-B14F-4D97-AF65-F5344CB8AC3E}">
        <p14:creationId xmlns:p14="http://schemas.microsoft.com/office/powerpoint/2010/main" val="17338050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D7FB7-9617-4954-A877-56229335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B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9DD80-E30A-4E65-89D1-3431AECA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C9EE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7651F-1873-4C4E-9CFA-628DB039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0"/>
            <a:ext cx="2857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0B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B1FA9-D1A1-421E-BFC9-E12FB05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A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31622-486B-4A56-96CD-61F5F9AE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47253-BBA4-4867-A24F-3E97F075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Hero 3 · What-if 模拟调课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F8277-C614-415A-8E6E-5FA29B6C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模拟调整，逐项核验约束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2D1BE-644D-4F06-8AB9-5AD1AF91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周一5–6节 → 周四7–8节；可行与连续授课提醒同时成立。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8D0CF-28BC-4C6E-9143-AB4E84B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8191500" cy="41148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883428b0e481b"/>
          <a:srcRect xmlns:a="http://schemas.openxmlformats.org/drawingml/2006/main" l="0" t="6838" r="0" b="6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019300"/>
            <a:ext cx="7924800" cy="3848100"/>
          </a:xfrm>
          <a:prstGeom xmlns:a="http://schemas.openxmlformats.org/drawingml/2006/main" prst="roundRect">
            <a:avLst>
              <a:gd name="adj" fmla="val 544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694FD5-F114-46EF-8347-00BD79F5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feasible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11500-11D3-474F-934B-BD3C4A83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2343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1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5400" b="1" i="0">
                <a:solidFill>
                  <a:srgbClr val="277B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5400" b="1" i="0">
                <a:solidFill>
                  <a:srgbClr val="277B62"/>
                </a:solidFill>
                <a:latin typeface="Microsoft YaHei UI"/>
                <a:ea typeface="Microsoft YaHei UI"/>
                <a:cs typeface="Microsoft YaHei UI"/>
              </a:rPr>
              <a:t>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3E863-B6EB-42CE-9ACA-81582B5F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81375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6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150" b="0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0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A38F0-9E43-47DD-9F3B-D40DE076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4335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 i="0">
                <a:solidFill>
                  <a:srgbClr val="B8653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 i="0">
                <a:solidFill>
                  <a:srgbClr val="B86536"/>
                </a:solidFill>
                <a:latin typeface="Microsoft YaHei UI"/>
                <a:ea typeface="Microsoft YaHei UI"/>
                <a:cs typeface="Microsoft YaHei UI"/>
              </a:rPr>
              <a:t>warning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86024-E661-404E-90EF-4AF139B1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33950"/>
            <a:ext cx="2190750" cy="819150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785D4-9587-4048-A885-D1EE3AF5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673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mutatedData=false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只模拟 · 不写入</a:t>
            </a:r>
          </a:p>
        </p:txBody>
      </p:sp>
    </p:spTree>
    <p:extLst>
      <p:ext uri="{BB962C8B-B14F-4D97-AF65-F5344CB8AC3E}">
        <p14:creationId xmlns:p14="http://schemas.microsoft.com/office/powerpoint/2010/main" val="346820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66EB8-3C96-4761-AC6D-04D08BDE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B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04320-33B7-47AF-8BEC-FF3F756A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C9EE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EA766-C0C8-4CCF-931E-584D730D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0"/>
            <a:ext cx="2857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0B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E83BA-28FE-40B4-A7CE-6F1B21D0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A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EA4C0-DCE6-4FFA-8A27-B9ACDFD0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575A7-4344-4ABE-B90A-8DAED1CF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Hero 4 · 全局教学洞察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E7C0A-731E-4A6E-948C-72045C82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从全局排名，下钻到真实风险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86750-83E3-4238-B216-C892669D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未来四周 Top1 只负责定位对象；风险结论必须重新调用 CampusTools 核验。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013ED-CB17-4536-AD41-A2E4296C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8153400" cy="4114800"/>
          </a:xfrm>
          <a:prstGeom xmlns:a="http://schemas.openxmlformats.org/drawingml/2006/main" prst="roundRect">
            <a:avLst>
              <a:gd name="adj" fmla="val 6481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f40d42e9444fc"/>
          <a:srcRect xmlns:a="http://schemas.openxmlformats.org/drawingml/2006/main" l="0" t="6608" r="0" b="66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019300"/>
            <a:ext cx="7886700" cy="3848100"/>
          </a:xfrm>
          <a:prstGeom xmlns:a="http://schemas.openxmlformats.org/drawingml/2006/main" prst="roundRect">
            <a:avLst>
              <a:gd name="adj" fmla="val 544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B38C5-4A95-4472-A5CD-CCE8BDC3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8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9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47073-8033-4A4E-A08C-41AC90A4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90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课次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196F1-A2F0-445A-9CF0-DB520F9B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57625"/>
            <a:ext cx="2190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8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6900" b="1" i="0">
                <a:solidFill>
                  <a:srgbClr val="A58AC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900" b="1" i="0">
                <a:solidFill>
                  <a:srgbClr val="A58ACB"/>
                </a:solidFill>
                <a:latin typeface="Microsoft YaHei UI"/>
                <a:ea typeface="Microsoft YaHei UI"/>
                <a:cs typeface="Microsoft YaHei UI"/>
              </a:rPr>
              <a:t>112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00CD3-FD2D-4893-8AD7-6A38CE61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33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课时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228F3-7DEA-408A-A6E5-51C7807C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48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Top 1 · 教师025 · 第1–4周</a:t>
            </a:r>
          </a:p>
        </p:txBody>
      </p:sp>
    </p:spTree>
    <p:extLst>
      <p:ext uri="{BB962C8B-B14F-4D97-AF65-F5344CB8AC3E}">
        <p14:creationId xmlns:p14="http://schemas.microsoft.com/office/powerpoint/2010/main" val="1982603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FA6DD9-A3DD-4DDA-B640-D9F246C5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B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E5C53-775F-4A28-A766-284B03B9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C9EE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FE26B-7FC3-40B7-9A10-C518511C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0"/>
            <a:ext cx="2857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0B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FDBAA-BE26-4240-B191-155A7276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A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02B1D-B06B-4A8A-AB32-D1C233ED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C8239-E5B1-46EA-AD6C-7B777C55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为什么结果可信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F8B0F-132E-43A8-B95B-A9AAD6F6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Verified 不是装饰，而是一条可复现的证据链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3460D-3F43-407E-8BE5-4B3804BE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所有关键结论都能回到匿名数据版本、确定性工具调用与公开结果投影。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a0798de524d0d"/>
          <a:stretch xmlns:a="http://schemas.openxmlformats.org/drawingml/2006/main"/>
        </p:blipFill>
        <p:spPr>
          <a:xfrm xmlns:a="http://schemas.openxmlformats.org/drawingml/2006/main">
            <a:off x="800100" y="2095500"/>
            <a:ext cx="1809750" cy="1809750"/>
          </a:xfrm>
          <a:prstGeom xmlns:a="http://schemas.openxmlformats.org/drawingml/2006/main" prst="roundRect">
            <a:avLst>
              <a:gd name="adj" fmla="val 2210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E5E5F-CD09-46AA-8305-80739D43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 i="0">
                <a:solidFill>
                  <a:srgbClr val="277B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 i="0">
                <a:solidFill>
                  <a:srgbClr val="277B62"/>
                </a:solidFill>
                <a:latin typeface="Microsoft YaHei UI"/>
                <a:ea typeface="Microsoft YaHei UI"/>
                <a:cs typeface="Microsoft YaHei UI"/>
              </a:rPr>
              <a:t>VERIFIED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17DA6-88F6-40F7-BD39-5D5FF6AE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Evidence attached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84B90-4373-4DD9-8AD5-E5635FAD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81200"/>
            <a:ext cx="794385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205D7-0264-42F0-BF70-B976DF4C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BC7B5-22EA-43F9-95DA-4F4B7075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确定性计算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41ADB-A27E-4218-9BC1-0FB0E939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9077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动态事实只由 CampusTools 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FE9B1-04E6-4733-97EF-90115CAC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794385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CBB7B-34A5-4E69-933E-AF689E76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05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4761C-2575-465B-B97C-FE909A5D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7609F-3054-46EA-98C7-54B75701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6232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数据版本、摘要、时间与核验状态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C1545-F40D-4561-B5B5-BEB89690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794385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5D027-9612-412E-AAA9-238394E0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767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A89610-5134-4A8E-A5CD-41425B18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38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统一投影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30A727-B8AA-4440-B1C5-83EC92FA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3387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Widget 与文本共享同一事实来源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84F86F-2B23-4452-8CB5-B82DD3AD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5850"/>
            <a:ext cx="7943850" cy="781050"/>
          </a:xfrm>
          <a:prstGeom xmlns:a="http://schemas.openxmlformats.org/drawingml/2006/main" prst="roundRect">
            <a:avLst>
              <a:gd name="adj" fmla="val 29268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312B7-D8CD-4E37-99E0-6C21D5AB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482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4A6929-C9F0-4988-BFA7-27F5956F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fail-closed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D6725B-50F5-4FEC-BE83-D9305536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0542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无结果、歧义或损坏时不制造答案</a:t>
            </a:r>
          </a:p>
        </p:txBody>
      </p:sp>
    </p:spTree>
    <p:extLst>
      <p:ext uri="{BB962C8B-B14F-4D97-AF65-F5344CB8AC3E}">
        <p14:creationId xmlns:p14="http://schemas.microsoft.com/office/powerpoint/2010/main" val="18997112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07A994-4029-4ABA-810A-C6FEBE75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B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678C9-5D14-4846-A273-E058B6EE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C9EE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B8FC9-C12D-4AB5-A6A1-217C07F0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0"/>
            <a:ext cx="2857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0B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DFC59-7831-443C-9CC9-908D553B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A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3B0BC-85B0-4828-AFDD-40380BFD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FE10B-FB1D-44B4-B64C-78324217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创新、落地与推广价值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3E47B-C813-4274-BCB4-81A48186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一句话背后，是可复制的校园任务操作系统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D0E0F-D587-4E48-8A79-08A7EB1E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它既能回答事实，也能把跨域约束组织成可执行、可核验、可下钻的辅助决策。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9E8B2-325D-4E8E-B4A5-7289476E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705100" cy="3371850"/>
          </a:xfrm>
          <a:prstGeom xmlns:a="http://schemas.openxmlformats.org/drawingml/2006/main" prst="roundRect">
            <a:avLst>
              <a:gd name="adj" fmla="val 10563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1430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CA0A4-CFAC-44F4-9D8B-87C0C485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7051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342B"/>
          </a:solidFill>
          <a:ln xmlns:a="http://schemas.openxmlformats.org/drawingml/2006/main" w="0">
            <a:solidFill>
              <a:srgbClr val="B934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87159-2624-459E-8361-7D17D05B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05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05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EDB5E-AB61-43B2-8349-1F3937FC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真场景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D3EE7-1860-4FF9-ADA0-8B2B59BD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43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真实校园教学任务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1000+ 落地验证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BD30F-19BC-4225-A4ED-F276E129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38350"/>
            <a:ext cx="2705100" cy="3371850"/>
          </a:xfrm>
          <a:prstGeom xmlns:a="http://schemas.openxmlformats.org/drawingml/2006/main" prst="roundRect">
            <a:avLst>
              <a:gd name="adj" fmla="val 10563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1430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4850F-555B-4E89-B3BC-003B5577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38350"/>
            <a:ext cx="27051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5A47"/>
          </a:solidFill>
          <a:ln xmlns:a="http://schemas.openxmlformats.org/drawingml/2006/main" w="0">
            <a:solidFill>
              <a:srgbClr val="E95A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3C2C7-B32E-4AA1-918E-92C41B87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050" b="1" i="0">
                <a:solidFill>
                  <a:srgbClr val="E95A47"/>
                </a:solidFill>
                <a:latin typeface="Microsoft YaHei UI"/>
                <a:ea typeface="Microsoft YaHei UI"/>
                <a:cs typeface="Microsoft YaHei UI"/>
              </a:rPr>
              <a:t>25%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4A77F-FC4D-4F90-8E10-708D18EC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创新实用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6B3A3-7414-4BB4-ADD3-9A944686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00500"/>
            <a:ext cx="243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Multi-Agent + What-if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风险与洞察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5CFB6-6636-4E02-8A26-54F83ACD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2247900" cy="33718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1430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655AD-91F1-45A8-9C3D-FC490143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22479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8FC9"/>
          </a:solidFill>
          <a:ln xmlns:a="http://schemas.openxmlformats.org/drawingml/2006/main" w="0">
            <a:solidFill>
              <a:srgbClr val="B98F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1A982-0E19-4352-84C2-09C93AC7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4050" b="1" i="0">
                <a:solidFill>
                  <a:srgbClr val="B98FC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050" b="1" i="0">
                <a:solidFill>
                  <a:srgbClr val="B98FC9"/>
                </a:solidFill>
                <a:latin typeface="Microsoft YaHei UI"/>
                <a:ea typeface="Microsoft YaHei UI"/>
                <a:cs typeface="Microsoft YaHei UI"/>
              </a:rPr>
              <a:t>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FD26C5-7139-4D08-A932-B2241150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技术完整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621A3-335D-40B5-8840-80831070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00500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4 Agent / 13 Tools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Widget /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D6002C-EA8B-406E-9B77-C79561FA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1276350" cy="3371850"/>
          </a:xfrm>
          <a:prstGeom xmlns:a="http://schemas.openxmlformats.org/drawingml/2006/main" prst="roundRect">
            <a:avLst>
              <a:gd name="adj" fmla="val 22388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1430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A925B-FE66-4BB0-8E5E-AE8F99DC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12763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7B62"/>
          </a:solidFill>
          <a:ln xmlns:a="http://schemas.openxmlformats.org/drawingml/2006/main" w="0">
            <a:solidFill>
              <a:srgbClr val="277B6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D7DC2D-878D-4E6D-9D7B-5599D286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971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000" b="1" i="0">
                <a:solidFill>
                  <a:srgbClr val="277B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 i="0">
                <a:solidFill>
                  <a:srgbClr val="277B62"/>
                </a:solidFill>
                <a:latin typeface="Microsoft YaHei UI"/>
                <a:ea typeface="Microsoft YaHei UI"/>
                <a:cs typeface="Microsoft YaHei UI"/>
              </a:rPr>
              <a:t>15%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40F19A-97A0-4202-B1B3-69F33A48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290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数据算法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593DB1-9929-47CB-80AB-A87F0CF9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1009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Evidence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fail-closed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8E453C-18E3-49ED-A8AA-AC760904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38350"/>
            <a:ext cx="1276350" cy="3371850"/>
          </a:xfrm>
          <a:prstGeom xmlns:a="http://schemas.openxmlformats.org/drawingml/2006/main" prst="roundRect">
            <a:avLst>
              <a:gd name="adj" fmla="val 22388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1430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F362F0-D114-430D-A655-8EEEA33D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38350"/>
            <a:ext cx="12763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6536"/>
          </a:solidFill>
          <a:ln xmlns:a="http://schemas.openxmlformats.org/drawingml/2006/main" w="0">
            <a:solidFill>
              <a:srgbClr val="B8653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63A3E9-A78A-4006-AF12-7548FE15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971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000" b="1" i="0">
                <a:solidFill>
                  <a:srgbClr val="B86536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 i="0">
                <a:solidFill>
                  <a:srgbClr val="B86536"/>
                </a:solidFill>
                <a:latin typeface="Microsoft YaHei UI"/>
                <a:ea typeface="Microsoft YaHei UI"/>
                <a:cs typeface="Microsoft YaHei UI"/>
              </a:rPr>
              <a:t>15%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990C9-0118-4166-810B-3FD9ED6F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290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体验展示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4E3017-F277-4F08-8CAB-91EA30DB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00500"/>
            <a:ext cx="1009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一句话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电影化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B95DDF-57C9-465D-B4F0-813BFE58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912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可扩展到排课辅助、资源调度、教学运行治理与跨部门协同。</a:t>
            </a:r>
          </a:p>
        </p:txBody>
      </p:sp>
    </p:spTree>
    <p:extLst>
      <p:ext uri="{BB962C8B-B14F-4D97-AF65-F5344CB8AC3E}">
        <p14:creationId xmlns:p14="http://schemas.microsoft.com/office/powerpoint/2010/main" val="12263202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F0163-E56F-4FC2-AB05-A3BC35E0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8B0">
              <a:alpha val="3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A1E90-703C-490A-A922-BD3FFE7F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C9EE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F1E95-1E95-471B-ABAA-EC19F3AD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0"/>
            <a:ext cx="2857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D0B9">
              <a:alpha val="2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E86A7-91F1-45A4-8495-7656065F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5A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FD68F-543D-4334-9E60-ADEE2479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286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12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8729a4cc0431e"/>
          <a:stretch xmlns:a="http://schemas.openxmlformats.org/drawingml/2006/main"/>
        </p:blipFill>
        <p:spPr>
          <a:xfrm xmlns:a="http://schemas.openxmlformats.org/drawingml/2006/main">
            <a:off x="1143000" y="1047750"/>
            <a:ext cx="1714500" cy="1714500"/>
          </a:xfrm>
          <a:prstGeom xmlns:a="http://schemas.openxmlformats.org/drawingml/2006/main" prst="roundRect">
            <a:avLst>
              <a:gd name="adj" fmla="val 2333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C1427-77D5-478B-A323-CCDE01B3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650" b="1" i="0">
                <a:solidFill>
                  <a:srgbClr val="2C201E"/>
                </a:solidFill>
                <a:latin typeface="Microsoft YaHei UI"/>
                <a:ea typeface="Microsoft YaHei UI"/>
                <a:cs typeface="Microsoft YaHei UI"/>
              </a:rPr>
              <a:t>校园智序·小序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E2C96-D1B6-4355-9975-EA826A80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让教学时空，被理解、被核验、被安排。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03BC8-7CAE-4B8F-A7A1-C4F009ED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0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让复杂的校园教学安排，简单到一句话就能问。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4762D-40DB-47E7-890F-0D0C0F82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57300"/>
            <a:ext cx="2286000" cy="2286000"/>
          </a:xfrm>
          <a:prstGeom xmlns:a="http://schemas.openxmlformats.org/drawingml/2006/main" prst="roundRect">
            <a:avLst>
              <a:gd name="adj" fmla="val 14167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63989-5F50-4BBF-8269-0C9E0F82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62150"/>
            <a:ext cx="1371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在线体验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21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二维码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403EA-01BB-4002-BEBB-6D0440BD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提交时加入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EB70E-18BD-4A1B-81CE-5585C6D9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3181350" cy="9334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13335">
            <a:solidFill>
              <a:srgbClr val="FFFFFF">
                <a:alpha val="9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EA3E1-642F-46C0-94B3-9F8503DD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481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 i="0">
                <a:solidFill>
                  <a:srgbClr val="806E69"/>
                </a:solidFill>
                <a:latin typeface="Microsoft YaHei UI"/>
                <a:ea typeface="Microsoft YaHei UI"/>
                <a:cs typeface="Microsoft YaHei UI"/>
              </a:rPr>
              <a:t>最终在线体验地址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3AD9E-A2D0-4678-8D79-3E963EE1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 i="0">
                <a:solidFill>
                  <a:srgbClr val="B9342B"/>
                </a:solidFill>
                <a:latin typeface="Microsoft YaHei UI"/>
                <a:ea typeface="Microsoft YaHei UI"/>
                <a:cs typeface="Microsoft YaHei UI"/>
              </a:rPr>
              <a:t>由提交人加入</a:t>
            </a:r>
          </a:p>
        </p:txBody>
      </p:sp>
    </p:spTree>
    <p:extLst>
      <p:ext uri="{BB962C8B-B14F-4D97-AF65-F5344CB8AC3E}">
        <p14:creationId xmlns:p14="http://schemas.microsoft.com/office/powerpoint/2010/main" val="5793449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42900" dist="138686" dir="4443276">
              <a:srgbClr val="6D3C35">
                <a:alpha val="14000"/>
              </a:srgbClr>
            </a:outerShdw>
          </a:effectLst>
        </a:effectStyle>
        <a:effectStyle>
          <a:effectLst>
            <a:outerShdw blurRad="266700" dist="99444" dir="4398045">
              <a:srgbClr val="6D3C35">
                <a:alpha val="12000"/>
              </a:srgbClr>
            </a:outerShdw>
          </a:effectLst>
        </a:effectStyle>
        <a:effectStyle>
          <a:effectLst>
            <a:outerShdw blurRad="285750" dist="117818" dir="4557825">
              <a:srgbClr val="6D3C35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校园智序·小序｜答辩</dc:title>
  <ns2:created xsi:type="dcterms:W3CDTF">2026-08-24T11:42:31.2930000Z</ns2:created>
  <ns2:modified xsi:type="dcterms:W3CDTF">2026-08-24T11:42:31.2930000Z</ns2:modified>
</ns0:coreProperties>
</file>